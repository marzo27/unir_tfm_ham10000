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65" r:id="rId8"/>
    <p:sldId id="266" r:id="rId9"/>
    <p:sldId id="267" r:id="rId10"/>
    <p:sldId id="268" r:id="rId11"/>
    <p:sldId id="269" r:id="rId7"/>
    <p:sldId id="270" r:id="rId6"/>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64" r:id="rId12"/>
  </p:sldIdLst>
  <p:sldSz cx="18288000" cy="10288588"/>
  <p:notesSz cx="6796088" cy="992505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9.xml"/><Relationship Id="rId7" Type="http://schemas.openxmlformats.org/officeDocument/2006/relationships/slide" Target="slides/slide8.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3.xml"/><Relationship Id="rId13" Type="http://schemas.openxmlformats.org/officeDocument/2006/relationships/presProps" Target="presProps.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
          <p:cNvSpPr/>
          <p:nvPr/>
        </p:nvSpPr>
        <p:spPr>
          <a:xfrm>
            <a:off x="0" y="0"/>
            <a:ext cx="6796800" cy="9925200"/>
          </a:xfrm>
          <a:prstGeom prst="rect">
            <a:avLst/>
          </a:prstGeom>
          <a:solidFill>
            <a:srgbClr val="FFFFFF"/>
          </a:solidFill>
          <a:ln w="0">
            <a:noFill/>
          </a:ln>
        </p:spPr>
        <p:txBody>
          <a:bodyPr lIns="90000" tIns="45000" rIns="90000" bIns="45000" anchor="ctr" anchorCtr="1">
            <a:noAutofit/>
          </a:bodyPr>
          <a:p>
            <a:endParaRPr lang="en-US" sz="2700" b="0" u="none" strike="noStrike">
              <a:solidFill>
                <a:srgbClr val="0C0B0B"/>
              </a:solidFill>
              <a:effectLst/>
              <a:uFillTx/>
              <a:latin typeface="Franklin Gothic Book"/>
            </a:endParaRPr>
          </a:p>
        </p:txBody>
      </p:sp>
      <p:sp>
        <p:nvSpPr>
          <p:cNvPr id="7" name="PlaceHolder 1"/>
          <p:cNvSpPr>
            <a:spLocks noGrp="1"/>
          </p:cNvSpPr>
          <p:nvPr>
            <p:ph type="hdr"/>
          </p:nvPr>
        </p:nvSpPr>
        <p:spPr>
          <a:xfrm>
            <a:off x="0" y="-360"/>
            <a:ext cx="2946240" cy="498600"/>
          </a:xfrm>
          <a:prstGeom prst="rect">
            <a:avLst/>
          </a:prstGeom>
          <a:noFill/>
          <a:ln w="0">
            <a:noFill/>
          </a:ln>
        </p:spPr>
        <p:txBody>
          <a:bodyPr lIns="90000" tIns="46800" rIns="90000" bIns="46800" anchor="t">
            <a:noAutofit/>
          </a:bodyPr>
          <a:p>
            <a:pPr indent="0" algn="l">
              <a:buNone/>
            </a:pPr>
            <a:endParaRPr lang="en-US" sz="2400" b="0" u="none" strike="noStrike">
              <a:solidFill>
                <a:srgbClr val="000000"/>
              </a:solidFill>
              <a:effectLst/>
              <a:uFillTx/>
              <a:latin typeface="Times New Roman"/>
            </a:endParaRPr>
          </a:p>
        </p:txBody>
      </p:sp>
      <p:sp>
        <p:nvSpPr>
          <p:cNvPr id="8" name="PlaceHolder 2"/>
          <p:cNvSpPr>
            <a:spLocks noGrp="1"/>
          </p:cNvSpPr>
          <p:nvPr>
            <p:ph type="dt" idx="1"/>
          </p:nvPr>
        </p:nvSpPr>
        <p:spPr>
          <a:xfrm>
            <a:off x="3849840" y="-360"/>
            <a:ext cx="2946240" cy="498600"/>
          </a:xfrm>
          <a:prstGeom prst="rect">
            <a:avLst/>
          </a:prstGeom>
          <a:noFill/>
          <a:ln w="0">
            <a:noFill/>
          </a:ln>
        </p:spPr>
        <p:txBody>
          <a:bodyPr lIns="90000" tIns="46800" rIns="90000" bIns="46800" anchor="t">
            <a:noAutofit/>
          </a:bodyPr>
          <a:lstStyle>
            <a:lvl1pPr indent="0" algn="r">
              <a:lnSpc>
                <a:spcPct val="100000"/>
              </a:lnSpc>
              <a:buNone/>
              <a:tabLst>
                <a:tab pos="0" algn="l"/>
                <a:tab pos="1370160" algn="l"/>
                <a:tab pos="2739960" algn="l"/>
                <a:tab pos="4110120" algn="l"/>
                <a:tab pos="5479920" algn="l"/>
                <a:tab pos="6850080" algn="l"/>
                <a:tab pos="8220240" algn="l"/>
                <a:tab pos="9590040" algn="l"/>
                <a:tab pos="10960200" algn="l"/>
              </a:tabLst>
              <a:defRPr lang="uk-UA" sz="1200" b="0" u="none" strike="noStrike">
                <a:solidFill>
                  <a:srgbClr val="000000"/>
                </a:solidFill>
                <a:effectLst/>
                <a:uFillTx/>
                <a:latin typeface="Calibri"/>
              </a:defRPr>
            </a:lvl1pPr>
          </a:lstStyle>
          <a:p>
            <a:pPr indent="0" algn="r">
              <a:lnSpc>
                <a:spcPct val="100000"/>
              </a:lnSpc>
              <a:buNone/>
              <a:tabLst>
                <a:tab pos="0" algn="l"/>
                <a:tab pos="1370160" algn="l"/>
                <a:tab pos="2739960" algn="l"/>
                <a:tab pos="4110120" algn="l"/>
                <a:tab pos="5479920" algn="l"/>
                <a:tab pos="6850080" algn="l"/>
                <a:tab pos="8220240" algn="l"/>
                <a:tab pos="9590040" algn="l"/>
                <a:tab pos="10960200" algn="l"/>
              </a:tabLst>
            </a:pPr>
            <a:r>
              <a:rPr lang="uk-UA" sz="1200" b="0" u="none" strike="noStrike">
                <a:solidFill>
                  <a:srgbClr val="000000"/>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3"/>
          <p:cNvSpPr>
            <a:spLocks noGrp="1"/>
          </p:cNvSpPr>
          <p:nvPr>
            <p:ph type="sldImg"/>
          </p:nvPr>
        </p:nvSpPr>
        <p:spPr>
          <a:xfrm>
            <a:off x="422280" y="1240920"/>
            <a:ext cx="5952960" cy="3349800"/>
          </a:xfrm>
          <a:prstGeom prst="rect">
            <a:avLst/>
          </a:prstGeom>
          <a:noFill/>
          <a:ln w="12600">
            <a:solidFill>
              <a:srgbClr val="000000"/>
            </a:solidFill>
            <a:miter/>
          </a:ln>
        </p:spPr>
        <p:txBody>
          <a:bodyPr lIns="90000" tIns="46800" rIns="90000" bIns="46800" anchor="ctr">
            <a:noAutofit/>
          </a:bodyPr>
          <a:p>
            <a:pPr indent="0" algn="l">
              <a:lnSpc>
                <a:spcPct val="90000"/>
              </a:lnSpc>
              <a:buNone/>
              <a:tabLst>
                <a:tab pos="0" algn="l"/>
                <a:tab pos="1370160" algn="l"/>
                <a:tab pos="2739960" algn="l"/>
                <a:tab pos="4110120" algn="l"/>
                <a:tab pos="5479920" algn="l"/>
                <a:tab pos="6850080" algn="l"/>
                <a:tab pos="8220240" algn="l"/>
                <a:tab pos="9590040" algn="l"/>
                <a:tab pos="10960200" algn="l"/>
              </a:tabLst>
            </a:pPr>
            <a:r>
              <a:rPr lang="en-US" sz="6600" b="0" u="none" strike="noStrike">
                <a:solidFill>
                  <a:srgbClr val="0C0B0B"/>
                </a:solidFill>
                <a:effectLst/>
                <a:uFillTx/>
                <a:latin typeface="Franklin Gothic Medium"/>
              </a:rPr>
              <a:t>Click to move the slide</a:t>
            </a:r>
            <a:endParaRPr lang="en-US" sz="6600" b="0" u="none" strike="noStrike">
              <a:solidFill>
                <a:srgbClr val="0C0B0B"/>
              </a:solidFill>
              <a:effectLst/>
              <a:uFillTx/>
              <a:latin typeface="Franklin Gothic Medium"/>
            </a:endParaRPr>
          </a:p>
        </p:txBody>
      </p:sp>
      <p:sp>
        <p:nvSpPr>
          <p:cNvPr id="10" name="PlaceHolder 4"/>
          <p:cNvSpPr>
            <a:spLocks noGrp="1"/>
          </p:cNvSpPr>
          <p:nvPr>
            <p:ph type="body"/>
          </p:nvPr>
        </p:nvSpPr>
        <p:spPr>
          <a:xfrm>
            <a:off x="679320" y="4776480"/>
            <a:ext cx="5438880" cy="3908520"/>
          </a:xfrm>
          <a:prstGeom prst="rect">
            <a:avLst/>
          </a:prstGeom>
          <a:noFill/>
          <a:ln w="0">
            <a:noFill/>
          </a:ln>
        </p:spPr>
        <p:txBody>
          <a:bodyPr lIns="90000" tIns="46800" rIns="90000" bIns="46800" anchor="t">
            <a:noAutofit/>
          </a:bodyPr>
          <a:p>
            <a:pPr indent="0" algn="l">
              <a:spcBef>
                <a:spcPts val="451"/>
              </a:spcBef>
              <a:buNone/>
              <a:tabLst>
                <a:tab pos="0" algn="l"/>
                <a:tab pos="912960" algn="l"/>
                <a:tab pos="1825560" algn="l"/>
                <a:tab pos="2738520" algn="l"/>
                <a:tab pos="3651120" algn="l"/>
                <a:tab pos="4564080" algn="l"/>
                <a:tab pos="5477040" algn="l"/>
                <a:tab pos="6389640" algn="l"/>
                <a:tab pos="7302600" algn="l"/>
                <a:tab pos="8215200" algn="l"/>
                <a:tab pos="9128160" algn="l"/>
                <a:tab pos="10040760" algn="l"/>
                <a:tab pos="10953720" algn="l"/>
              </a:tabLst>
            </a:pPr>
            <a:r>
              <a:rPr lang="en-US" sz="1200" b="0" u="none" strike="noStrike">
                <a:solidFill>
                  <a:srgbClr val="000000"/>
                </a:solidFill>
                <a:effectLst/>
                <a:uFillTx/>
                <a:latin typeface="Calibri"/>
              </a:rPr>
              <a:t>Click to edit the notes format</a:t>
            </a:r>
            <a:endParaRPr lang="en-US" sz="1200" b="0" u="none" strike="noStrike">
              <a:solidFill>
                <a:srgbClr val="000000"/>
              </a:solidFill>
              <a:effectLst/>
              <a:uFillTx/>
              <a:latin typeface="Calibri"/>
            </a:endParaRPr>
          </a:p>
        </p:txBody>
      </p:sp>
      <p:sp>
        <p:nvSpPr>
          <p:cNvPr id="11" name="PlaceHolder 5"/>
          <p:cNvSpPr>
            <a:spLocks noGrp="1"/>
          </p:cNvSpPr>
          <p:nvPr>
            <p:ph type="ftr" idx="2"/>
          </p:nvPr>
        </p:nvSpPr>
        <p:spPr>
          <a:xfrm>
            <a:off x="0" y="9427680"/>
            <a:ext cx="2946240" cy="498600"/>
          </a:xfrm>
          <a:prstGeom prst="rect">
            <a:avLst/>
          </a:prstGeom>
          <a:noFill/>
          <a:ln w="0">
            <a:noFill/>
          </a:ln>
        </p:spPr>
        <p:txBody>
          <a:bodyPr lIns="90000" tIns="46800" rIns="90000" bIns="46800" anchor="b">
            <a:noAutofit/>
          </a:bodyPr>
          <a:p>
            <a:pPr indent="0" algn="l">
              <a:buNone/>
            </a:pPr>
            <a:endParaRPr lang="en-US" sz="2400" b="0" u="none" strike="noStrike">
              <a:solidFill>
                <a:srgbClr val="000000"/>
              </a:solidFill>
              <a:effectLst/>
              <a:uFillTx/>
              <a:latin typeface="Times New Roman"/>
            </a:endParaRPr>
          </a:p>
        </p:txBody>
      </p:sp>
      <p:sp>
        <p:nvSpPr>
          <p:cNvPr id="12" name="PlaceHolder 6"/>
          <p:cNvSpPr>
            <a:spLocks noGrp="1"/>
          </p:cNvSpPr>
          <p:nvPr>
            <p:ph type="sldNum" idx="3"/>
          </p:nvPr>
        </p:nvSpPr>
        <p:spPr>
          <a:xfrm>
            <a:off x="3849840" y="9427680"/>
            <a:ext cx="2946240" cy="498600"/>
          </a:xfrm>
          <a:prstGeom prst="rect">
            <a:avLst/>
          </a:prstGeom>
          <a:noFill/>
          <a:ln w="0">
            <a:noFill/>
          </a:ln>
        </p:spPr>
        <p:txBody>
          <a:bodyPr lIns="90000" tIns="46800" rIns="90000" bIns="46800" anchor="b">
            <a:noAutofit/>
          </a:bodyPr>
          <a:lstStyle>
            <a:lvl1pPr indent="0" algn="r">
              <a:lnSpc>
                <a:spcPct val="100000"/>
              </a:lnSpc>
              <a:buNone/>
              <a:tabLst>
                <a:tab pos="0" algn="l"/>
                <a:tab pos="1370160" algn="l"/>
                <a:tab pos="2739960" algn="l"/>
                <a:tab pos="4110120" algn="l"/>
                <a:tab pos="5479920" algn="l"/>
                <a:tab pos="6850080" algn="l"/>
                <a:tab pos="8220240" algn="l"/>
                <a:tab pos="9590040" algn="l"/>
                <a:tab pos="10960200" algn="l"/>
              </a:tabLst>
              <a:defRPr lang="uk-UA" sz="1200" b="0" u="none" strike="noStrike">
                <a:solidFill>
                  <a:srgbClr val="000000"/>
                </a:solidFill>
                <a:effectLst/>
                <a:uFillTx/>
                <a:latin typeface="Calibri"/>
              </a:defRPr>
            </a:lvl1pPr>
          </a:lstStyle>
          <a:p>
            <a:pPr indent="0" algn="r">
              <a:lnSpc>
                <a:spcPct val="100000"/>
              </a:lnSpc>
              <a:buNone/>
              <a:tabLst>
                <a:tab pos="0" algn="l"/>
                <a:tab pos="1370160" algn="l"/>
                <a:tab pos="2739960" algn="l"/>
                <a:tab pos="4110120" algn="l"/>
                <a:tab pos="5479920" algn="l"/>
                <a:tab pos="6850080" algn="l"/>
                <a:tab pos="8220240" algn="l"/>
                <a:tab pos="9590040" algn="l"/>
                <a:tab pos="10960200" algn="l"/>
              </a:tabLst>
            </a:pPr>
            <a:fld id="{AAFEEF47-7E2B-43DE-BF0A-53A48B8B403E}" type="slidenum">
              <a:rPr lang="uk-UA" sz="1200" b="0" u="none" strike="noStrike">
                <a:solidFill>
                  <a:srgbClr val="000000"/>
                </a:solidFill>
                <a:effectLst/>
                <a:uFillTx/>
                <a:latin typeface="Calibri"/>
              </a:rPr>
              <a:t>&lt;number&gt;</a:t>
            </a:fld>
            <a:endParaRPr lang="en-US" sz="12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APERTURA · Apertura</a:t>
            </a:r>
          </a:p>
          <a:p>
            <a:r>
              <a:t>00:00 → 00:35   (35 s)   ·   Expone: Christian</a:t>
            </a:r>
          </a:p>
          <a:p>
            <a:r>
              <a:t>──────────────────────────────────────────────────────────────────────────────</a:t>
            </a:r>
          </a:p>
          <a:p>
            <a:r>
              <a:t>Buenos días. Gracias, presidente, y gracias a los miembros del tribunal.</a:t>
            </a:r>
          </a:p>
          <a:p/>
          <a:p>
            <a:r>
              <a:t>Somos Christian Gutiérrez y Alvaro Gutiérrez. Defendemos nuestro Trabajo Fin de Máster en Análisis</a:t>
            </a:r>
          </a:p>
          <a:p>
            <a:r>
              <a:t>y Visualización de Datos Masivos, dirigido por el profesor Víctor D. Díaz Suárez: «Evaluación</a:t>
            </a:r>
          </a:p>
          <a:p>
            <a:r>
              <a:t>comparativa de SVM y DenseNet201 para la clasificación automática de enfermedades dermatológicas».</a:t>
            </a:r>
          </a:p>
          <a:p/>
          <a:p>
            <a:r>
              <a:t>La defensa es conjunta. Yo presento el contexto, la metodología y el análisis de los datos; Alvaro</a:t>
            </a:r>
          </a:p>
          <a:p>
            <a:r>
              <a:t>continúa con la preparación, el modelado, los resultados y las conclusiones.</a:t>
            </a:r>
          </a:p>
          <a:p/>
        </p:txBody>
      </p:sp>
      <p:sp>
        <p:nvSpPr>
          <p:cNvPr id="4" name="Slide Number Placeholder 3"/>
          <p:cNvSpPr>
            <a:spLocks noGrp="1"/>
          </p:cNvSpPr>
          <p:nvPr>
            <p:ph type="sldNum" idx="3"/>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APERTURA · Apertura</a:t>
            </a:r>
          </a:p>
          <a:p>
            <a:r>
              <a:t>00:35 → 01:00   (25 s)   ·   Expone: Christian</a:t>
            </a:r>
          </a:p>
          <a:p>
            <a:r>
              <a:t>──────────────────────────────────────────────────────────────────────────────</a:t>
            </a:r>
          </a:p>
          <a:p>
            <a:r>
              <a:t>Este es el recorrido, ajustado a los treinta minutos.</a:t>
            </a:r>
          </a:p>
          <a:p/>
          <a:p>
            <a:r>
              <a:t>Contexto clínico y estado del arte; objetivos y metodología CRISP-DM; y después las cuatro fases</a:t>
            </a:r>
          </a:p>
          <a:p>
            <a:r>
              <a:t>técnicas: comprensión de los datos, preparación, modelado y evaluación. Cerramos con conclusiones,</a:t>
            </a:r>
          </a:p>
          <a:p>
            <a:r>
              <a:t>limitaciones y trabajo futuro.</a:t>
            </a:r>
          </a:p>
          <a:p/>
          <a:p>
            <a:r>
              <a:t>Hemos repartido el tiempo entre las fases porque cada una aporta una decisión que condiciona el</a:t>
            </a:r>
          </a:p>
          <a:p>
            <a:r>
              <a:t>resultado final.</a:t>
            </a:r>
          </a:p>
          <a:p/>
        </p:txBody>
      </p:sp>
      <p:sp>
        <p:nvSpPr>
          <p:cNvPr id="4" name="Slide Number Placeholder 3"/>
          <p:cNvSpPr>
            <a:spLocks noGrp="1"/>
          </p:cNvSpPr>
          <p:nvPr>
            <p:ph type="sldNum" idx="3"/>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01 · Introducción y contexto</a:t>
            </a:r>
          </a:p>
          <a:p>
            <a:r>
              <a:t>01:00 → 01:05   (5 s)   ·   Expone: Christian</a:t>
            </a:r>
          </a:p>
          <a:p>
            <a:r>
              <a:t>──────────────────────────────────────────────────────────────────────────────</a:t>
            </a:r>
          </a:p>
          <a:p>
            <a:r>
              <a:t>Empezamos por el porqué del trabajo.</a:t>
            </a:r>
          </a:p>
          <a:p/>
          <a:p>
            <a:r>
              <a:t>[Avanzar sin detenerse]</a:t>
            </a:r>
          </a:p>
          <a:p/>
        </p:txBody>
      </p:sp>
      <p:sp>
        <p:nvSpPr>
          <p:cNvPr id="4" name="Slide Number Placeholder 3"/>
          <p:cNvSpPr>
            <a:spLocks noGrp="1"/>
          </p:cNvSpPr>
          <p:nvPr>
            <p:ph type="sldNum" idx="3"/>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01 · Introducción y contexto</a:t>
            </a:r>
          </a:p>
          <a:p>
            <a:r>
              <a:t>01:05 → 02:05   (60 s)   ·   Expone: Christian</a:t>
            </a:r>
          </a:p>
          <a:p>
            <a:r>
              <a:t>──────────────────────────────────────────────────────────────────────────────</a:t>
            </a:r>
          </a:p>
          <a:p>
            <a:r>
              <a:t>El cáncer de piel es un problema de salud pública creciente: más de trescientos treinta mil nuevos</a:t>
            </a:r>
          </a:p>
          <a:p>
            <a:r>
              <a:t>casos de melanoma al año en el mundo.</a:t>
            </a:r>
          </a:p>
          <a:p/>
          <a:p>
            <a:r>
              <a:t>La cifra clave es la segunda. Detectado en fase localizada, la supervivencia a cinco años supera el</a:t>
            </a:r>
          </a:p>
          <a:p>
            <a:r>
              <a:t>noventa y nueve por ciento. El diagnóstico temprano no mejora el pronóstico: lo determina.</a:t>
            </a:r>
          </a:p>
          <a:p/>
          <a:p>
            <a:r>
              <a:t>Pero el sistema no llega a tiempo. Ciento treinta y un días de espera media para una primera</a:t>
            </a:r>
          </a:p>
          <a:p>
            <a:r>
              <a:t>consulta de dermatología en el sistema público español. Y en la región andina, contexto de este</a:t>
            </a:r>
          </a:p>
          <a:p>
            <a:r>
              <a:t>trabajo, la incidencia de melanoma ha crecido más de un doscientos cincuenta por ciento.</a:t>
            </a:r>
          </a:p>
          <a:p/>
          <a:p>
            <a:r>
              <a:t>A ese cuello de botella se suma que el diagnóstico visual es subjetivo: variabilidad entre</a:t>
            </a:r>
          </a:p>
          <a:p>
            <a:r>
              <a:t>especialistas, solapamiento morfológico y degradación del rendimiento por fatiga.</a:t>
            </a:r>
          </a:p>
          <a:p/>
          <a:p>
            <a:r>
              <a:t>Ahí entra la inteligencia artificial. No para sustituir al dermatólogo, sino para darle una segunda</a:t>
            </a:r>
          </a:p>
          <a:p>
            <a:r>
              <a:t>opinión reproducible y disponible en segundos.</a:t>
            </a:r>
          </a:p>
          <a:p/>
        </p:txBody>
      </p:sp>
      <p:sp>
        <p:nvSpPr>
          <p:cNvPr id="4" name="Slide Number Placeholder 3"/>
          <p:cNvSpPr>
            <a:spLocks noGrp="1"/>
          </p:cNvSpPr>
          <p:nvPr>
            <p:ph type="sldNum" idx="3"/>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01 · Introducción y contexto</a:t>
            </a:r>
          </a:p>
          <a:p>
            <a:r>
              <a:t>02:05 → 03:05   (60 s)   ·   Expone: Christian</a:t>
            </a:r>
          </a:p>
          <a:p>
            <a:r>
              <a:t>──────────────────────────────────────────────────────────────────────────────</a:t>
            </a:r>
          </a:p>
          <a:p>
            <a:r>
              <a:t>Antes de hablar de algoritmos queremos fijar el criterio con el que los juzgamos. Es la decisión de</a:t>
            </a:r>
          </a:p>
          <a:p>
            <a:r>
              <a:t>diseño más importante del trabajo.</a:t>
            </a:r>
          </a:p>
          <a:p/>
          <a:p>
            <a:r>
              <a:t>En un problema oncológico los dos errores no cuestan lo mismo. Un falso negativo —una lesión maligna</a:t>
            </a:r>
          </a:p>
          <a:p>
            <a:r>
              <a:t>clasificada como benigna— retrasa la intervención sobre un tumor que puede hacer metástasis. Es</a:t>
            </a:r>
          </a:p>
          <a:p>
            <a:r>
              <a:t>inasumible.</a:t>
            </a:r>
          </a:p>
          <a:p/>
          <a:p>
            <a:r>
              <a:t>Un falso positivo genera una derivación innecesaria. Consume recursos, pero es un coste recuperable.</a:t>
            </a:r>
          </a:p>
          <a:p/>
          <a:p>
            <a:r>
              <a:t>Consecuencia directa: nuestra métrica principal no puede ser el accuracy. Es la Sensibilidad, el</a:t>
            </a:r>
          </a:p>
          <a:p>
            <a:r>
              <a:t>recall sobre la clase maligna, acompañada del F1 macro y del AUC-ROC, que son robustos frente al</a:t>
            </a:r>
          </a:p>
          <a:p>
            <a:r>
              <a:t>desbalance. El accuracy queda como referencia secundaria.</a:t>
            </a:r>
          </a:p>
          <a:p/>
          <a:p>
            <a:r>
              <a:t>Con ese criterio, la pregunta de investigación es: ¿qué paradigma detecta más lesiones malignas sin</a:t>
            </a:r>
          </a:p>
          <a:p>
            <a:r>
              <a:t>degradar de forma inaceptable el resto de métricas?</a:t>
            </a:r>
          </a:p>
          <a:p/>
        </p:txBody>
      </p:sp>
      <p:sp>
        <p:nvSpPr>
          <p:cNvPr id="4" name="Slide Number Placeholder 3"/>
          <p:cNvSpPr>
            <a:spLocks noGrp="1"/>
          </p:cNvSpPr>
          <p:nvPr>
            <p:ph type="sldNum" idx="3"/>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01 · Introducción y contexto</a:t>
            </a:r>
          </a:p>
          <a:p>
            <a:r>
              <a:t>03:05 → 04:05   (60 s)   ·   Expone: Christian</a:t>
            </a:r>
          </a:p>
          <a:p>
            <a:r>
              <a:t>──────────────────────────────────────────────────────────────────────────────</a:t>
            </a:r>
          </a:p>
          <a:p>
            <a:r>
              <a:t>Del estado del arte seleccionamos cinco trabajos de referencia.</a:t>
            </a:r>
          </a:p>
          <a:p/>
          <a:p>
            <a:r>
              <a:t>Bechelli y Delhommelle plantean en 2022 la misma comparativa de paradigmas que nosotros y concluyen</a:t>
            </a:r>
          </a:p>
          <a:p>
            <a:r>
              <a:t>que el Deep Learning gana en precisión, con un ochenta y tres coma seis por ciento.</a:t>
            </a:r>
          </a:p>
          <a:p/>
          <a:p>
            <a:r>
              <a:t>Sönmez y colaboradores, sobre nuestro mismo dataset, obtienen ochenta coma setenta y nueve con</a:t>
            </a:r>
          </a:p>
          <a:p>
            <a:r>
              <a:t>MobileNetV2. Çevik y Zengin llegan al ochenta y cinco coma sesenta y dos con una CNN personalizada.</a:t>
            </a:r>
          </a:p>
          <a:p/>
          <a:p>
            <a:r>
              <a:t>El antecedente más cercano es el TFG de Sánchez Sánchez, de 2024: mismo dataset y, sobre todo, mismo</a:t>
            </a:r>
          </a:p>
          <a:p>
            <a:r>
              <a:t>criterio que nosotros, priorizar el recall en clases cancerígenas.</a:t>
            </a:r>
          </a:p>
          <a:p/>
          <a:p>
            <a:r>
              <a:t>Y Goceri usa nuestro mismo backbone, DenseNet201, sobre imágenes previamente segmentadas.</a:t>
            </a:r>
          </a:p>
          <a:p/>
          <a:p>
            <a:r>
              <a:t>¿Qué hueco deja esta revisión? Casi todos optimizan accuracy sobre siete clases, y ninguno compara</a:t>
            </a:r>
          </a:p>
          <a:p>
            <a:r>
              <a:t>el mismo modelo bajo dos estrategias de datos poniendo la sensibilidad clínica por delante.</a:t>
            </a:r>
          </a:p>
          <a:p/>
        </p:txBody>
      </p:sp>
      <p:sp>
        <p:nvSpPr>
          <p:cNvPr id="4" name="Slide Number Placeholder 3"/>
          <p:cNvSpPr>
            <a:spLocks noGrp="1"/>
          </p:cNvSpPr>
          <p:nvPr>
            <p:ph type="sldNum" idx="3"/>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01 · Introducción y contexto</a:t>
            </a:r>
          </a:p>
          <a:p>
            <a:r>
              <a:t>04:05 → 05:00   (55 s)   ·   Expone: Christian</a:t>
            </a:r>
          </a:p>
          <a:p>
            <a:r>
              <a:t>──────────────────────────────────────────────────────────────────────────────</a:t>
            </a:r>
          </a:p>
          <a:p>
            <a:r>
              <a:t>El objetivo general es desarrollar y evaluar una comparativa de soluciones de Inteligencia</a:t>
            </a:r>
          </a:p>
          <a:p>
            <a:r>
              <a:t>Artificial para clasificar lesiones dermatológicas, contrastando Support Vector Machine frente a</a:t>
            </a:r>
          </a:p>
          <a:p>
            <a:r>
              <a:t>DenseNet201, para determinar el modelo óptimo y escalable en un entorno sanitario.</a:t>
            </a:r>
          </a:p>
          <a:p/>
          <a:p>
            <a:r>
              <a:t>Se desglosa en cinco objetivos específicos que se corresponden uno a uno con las fases del trabajo.</a:t>
            </a:r>
          </a:p>
          <a:p/>
          <a:p>
            <a:r>
              <a:t>Análisis exploratorio para identificar sesgos. Pipeline de preprocesamiento con balanceo de clases.</a:t>
            </a:r>
          </a:p>
          <a:p>
            <a:r>
              <a:t>Pipeline de Machine Learning tradicional con SVM. Pipeline de Deep Learning con Transfer Learning. Y</a:t>
            </a:r>
          </a:p>
          <a:p>
            <a:r>
              <a:t>la comparativa con métricas clínicas, contrastada con los trabajos relacionados.</a:t>
            </a:r>
          </a:p>
          <a:p/>
          <a:p>
            <a:r>
              <a:t>En las conclusiones volveremos sobre esta lista para verificar su cumplimiento.</a:t>
            </a:r>
          </a:p>
          <a:p/>
        </p:txBody>
      </p:sp>
      <p:sp>
        <p:nvSpPr>
          <p:cNvPr id="4" name="Slide Number Placeholder 3"/>
          <p:cNvSpPr>
            <a:spLocks noGrp="1"/>
          </p:cNvSpPr>
          <p:nvPr>
            <p:ph type="sldNum" idx="3"/>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02 · Metodología</a:t>
            </a:r>
          </a:p>
          <a:p>
            <a:r>
              <a:t>05:00 → 05:05   (5 s)   ·   Expone: Christian</a:t>
            </a:r>
          </a:p>
          <a:p>
            <a:r>
              <a:t>──────────────────────────────────────────────────────────────────────────────</a:t>
            </a:r>
          </a:p>
          <a:p>
            <a:r>
              <a:t>Pasamos a la metodología.</a:t>
            </a:r>
          </a:p>
          <a:p/>
          <a:p>
            <a:r>
              <a:t>[Avanzar sin detenerse]</a:t>
            </a:r>
          </a:p>
          <a:p/>
        </p:txBody>
      </p:sp>
      <p:sp>
        <p:nvSpPr>
          <p:cNvPr id="4" name="Slide Number Placeholder 3"/>
          <p:cNvSpPr>
            <a:spLocks noGrp="1"/>
          </p:cNvSpPr>
          <p:nvPr>
            <p:ph type="sldNum" idx="3"/>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02 · Metodología</a:t>
            </a:r>
          </a:p>
          <a:p>
            <a:r>
              <a:t>05:05 → 06:05   (60 s)   ·   Expone: Christian</a:t>
            </a:r>
          </a:p>
          <a:p>
            <a:r>
              <a:t>──────────────────────────────────────────────────────────────────────────────</a:t>
            </a:r>
          </a:p>
          <a:p>
            <a:r>
              <a:t>El proyecto sigue el ciclo CRISP-DM, estándar en minería de datos, adaptado a imágenes médicas.</a:t>
            </a:r>
          </a:p>
          <a:p/>
          <a:p>
            <a:r>
              <a:t>En la comprensión del negocio fijamos los criterios de éxito clínicos que acabamos de ver. En la</a:t>
            </a:r>
          </a:p>
          <a:p>
            <a:r>
              <a:t>comprensión de los datos hacemos el análisis exploratorio. En la preparación aplicamos limpieza,</a:t>
            </a:r>
          </a:p>
          <a:p>
            <a:r>
              <a:t>partición agrupada por lesión y balanceo.</a:t>
            </a:r>
          </a:p>
          <a:p/>
          <a:p>
            <a:r>
              <a:t>El modelado desarrolla los dos algoritmos, cada uno en dos escenarios de datos. La evaluación aplica</a:t>
            </a:r>
          </a:p>
          <a:p>
            <a:r>
              <a:t>las métricas clínicas y la validación cruzada. Y la implementación cierra con código reproducible y</a:t>
            </a:r>
          </a:p>
          <a:p>
            <a:r>
              <a:t>conformidad normativa.</a:t>
            </a:r>
          </a:p>
          <a:p/>
          <a:p>
            <a:r>
              <a:t>Un detalle importante: todos los experimentos comparten semilla, equipo y criterios de evaluación.</a:t>
            </a:r>
          </a:p>
          <a:p>
            <a:r>
              <a:t>Eso nos permite atribuir las diferencias a la estrategia de datos y no al azar.</a:t>
            </a:r>
          </a:p>
          <a:p/>
        </p:txBody>
      </p:sp>
      <p:sp>
        <p:nvSpPr>
          <p:cNvPr id="4" name="Slide Number Placeholder 3"/>
          <p:cNvSpPr>
            <a:spLocks noGrp="1"/>
          </p:cNvSpPr>
          <p:nvPr>
            <p:ph type="sldNum" idx="3"/>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02 · Metodología</a:t>
            </a:r>
          </a:p>
          <a:p>
            <a:r>
              <a:t>06:05 → 07:05   (60 s)   ·   Expone: Christian</a:t>
            </a:r>
          </a:p>
          <a:p>
            <a:r>
              <a:t>──────────────────────────────────────────────────────────────────────────────</a:t>
            </a:r>
          </a:p>
          <a:p>
            <a:r>
              <a:t>El diseño experimental es una matriz de dos por dos: cuatro experimentos.</a:t>
            </a:r>
          </a:p>
          <a:p/>
          <a:p>
            <a:r>
              <a:t>Las filas son los algoritmos: arriba el SVM, línea base de Machine Learning clásico; abajo</a:t>
            </a:r>
          </a:p>
          <a:p>
            <a:r>
              <a:t>DenseNet201, entrenada mediante Transfer Learning.</a:t>
            </a:r>
          </a:p>
          <a:p/>
          <a:p>
            <a:r>
              <a:t>Las columnas son las estrategias de datos. El Escenario 1 usa el dataset multiclase original: siete</a:t>
            </a:r>
          </a:p>
          <a:p>
            <a:r>
              <a:t>clases, diez mil quince imágenes, con el desbalance real de cuatro a uno. El Escenario 2 reformula</a:t>
            </a:r>
          </a:p>
          <a:p>
            <a:r>
              <a:t>el problema en binario y equilibra las clases por submuestreo: tres mil novecientas ocho imágenes,</a:t>
            </a:r>
          </a:p>
          <a:p>
            <a:r>
              <a:t>mitad y mitad.</a:t>
            </a:r>
          </a:p>
          <a:p/>
          <a:p>
            <a:r>
              <a:t>Este diseño aísla dos efectos por separado: el del algoritmo, comparando filas; y el de la</a:t>
            </a:r>
          </a:p>
          <a:p>
            <a:r>
              <a:t>estrategia de datos, comparando columnas.</a:t>
            </a:r>
          </a:p>
          <a:p/>
          <a:p>
            <a:r>
              <a:t>La comparación decisiva se hace sobre la misma tarea binaria: el SVM del Escenario 2 frente a la</a:t>
            </a:r>
          </a:p>
          <a:p>
            <a:r>
              <a:t>Cabeza A de DenseNet201, que ahora explicaremos.</a:t>
            </a:r>
          </a:p>
          <a:p/>
        </p:txBody>
      </p:sp>
      <p:sp>
        <p:nvSpPr>
          <p:cNvPr id="4" name="Slide Number Placeholder 3"/>
          <p:cNvSpPr>
            <a:spLocks noGrp="1"/>
          </p:cNvSpPr>
          <p:nvPr>
            <p:ph type="sldNum" idx="3"/>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02 · Metodología</a:t>
            </a:r>
          </a:p>
          <a:p>
            <a:r>
              <a:t>07:05 → 08:00   (55 s)   ·   Expone: Christian</a:t>
            </a:r>
          </a:p>
          <a:p>
            <a:r>
              <a:t>──────────────────────────────────────────────────────────────────────────────</a:t>
            </a:r>
          </a:p>
          <a:p>
            <a:r>
              <a:t>El trabajo se enmarca en la normativa ecuatoriana, porque lo orientamos a su viabilidad real allí.</a:t>
            </a:r>
          </a:p>
          <a:p/>
          <a:p>
            <a:r>
              <a:t>En privacidad aplica la LOPDP. Su artículo veinticinco clasifica los datos de salud como sensibles.</a:t>
            </a:r>
          </a:p>
          <a:p>
            <a:r>
              <a:t>Usamos HAM10000, que se distribuye con licencia académica abierta y está anonimizado, así que el</a:t>
            </a:r>
          </a:p>
          <a:p>
            <a:r>
              <a:t>riesgo de reidentificación queda prácticamente eliminado.</a:t>
            </a:r>
          </a:p>
          <a:p/>
          <a:p>
            <a:r>
              <a:t>En regulación sanitaria, cualquier software diagnóstico cae bajo el Ministerio de Salud Pública y la</a:t>
            </a:r>
          </a:p>
          <a:p>
            <a:r>
              <a:t>ARCSA. Esto es una Prueba de Concepto académica, pero queremos dejar claro qué haría falta para un</a:t>
            </a:r>
          </a:p>
          <a:p>
            <a:r>
              <a:t>despliegue real: Registro Sanitario de Dispositivo Médico y, sobre todo, que el sistema nunca opere</a:t>
            </a:r>
          </a:p>
          <a:p>
            <a:r>
              <a:t>de forma autónoma. Siempre human-in-the-loop.</a:t>
            </a:r>
          </a:p>
          <a:p/>
          <a:p>
            <a:r>
              <a:t>Y el punto ético más incómodo, que preferimos poner por delante: HAM10000 procede de poblaciones de</a:t>
            </a:r>
          </a:p>
          <a:p>
            <a:r>
              <a:t>piel clara, y la demografía ecuatoriana no lo es. Volveremos sobre ello en las limitaciones.</a:t>
            </a:r>
          </a:p>
          <a:p/>
        </p:txBody>
      </p:sp>
      <p:sp>
        <p:nvSpPr>
          <p:cNvPr id="4" name="Slide Number Placeholder 3"/>
          <p:cNvSpPr>
            <a:spLocks noGrp="1"/>
          </p:cNvSpPr>
          <p:nvPr>
            <p:ph type="sldNum" idx="3"/>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03 · Comprensión de los datos</a:t>
            </a:r>
          </a:p>
          <a:p>
            <a:r>
              <a:t>08:00 → 08:05   (5 s)   ·   Expone: Christian</a:t>
            </a:r>
          </a:p>
          <a:p>
            <a:r>
              <a:t>──────────────────────────────────────────────────────────────────────────────</a:t>
            </a:r>
          </a:p>
          <a:p>
            <a:r>
              <a:t>Entramos en la primera fase técnica: la comprensión de los datos.</a:t>
            </a:r>
          </a:p>
          <a:p/>
          <a:p>
            <a:r>
              <a:t>[Avanzar sin detenerse]</a:t>
            </a:r>
          </a:p>
          <a:p/>
        </p:txBody>
      </p:sp>
      <p:sp>
        <p:nvSpPr>
          <p:cNvPr id="4" name="Slide Number Placeholder 3"/>
          <p:cNvSpPr>
            <a:spLocks noGrp="1"/>
          </p:cNvSpPr>
          <p:nvPr>
            <p:ph type="sldNum" idx="3"/>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03 · Comprensión de los datos</a:t>
            </a:r>
          </a:p>
          <a:p>
            <a:r>
              <a:t>08:05 → 09:00   (55 s)   ·   Expone: Christian</a:t>
            </a:r>
          </a:p>
          <a:p>
            <a:r>
              <a:t>──────────────────────────────────────────────────────────────────────────────</a:t>
            </a:r>
          </a:p>
          <a:p>
            <a:r>
              <a:t>Trabajamos sobre HAM10000, el repositorio dermatoscópico de referencia y base del reto ISIC 2018.</a:t>
            </a:r>
          </a:p>
          <a:p/>
          <a:p>
            <a:r>
              <a:t>Diez mil quince imágenes en alta resolución, siete clases diagnósticas y cuatro metadatos clínicos:</a:t>
            </a:r>
          </a:p>
          <a:p>
            <a:r>
              <a:t>edad, sexo, localización anatómica y método de confirmación del diagnóstico.</a:t>
            </a:r>
          </a:p>
          <a:p/>
          <a:p>
            <a:r>
              <a:t>Se recopiló durante veinte años en la Universidad Médica de Viena y en una consulta privada de</a:t>
            </a:r>
          </a:p>
          <a:p>
            <a:r>
              <a:t>Queensland. Las etiquetas proceden de histopatología, seguimiento clínico, confocal o consenso de</a:t>
            </a:r>
          </a:p>
          <a:p>
            <a:r>
              <a:t>expertos, y la variable dx_type registra cuál se usó en cada caso.</a:t>
            </a:r>
          </a:p>
          <a:p/>
          <a:p>
            <a:r>
              <a:t>Un detalle estructural que resultará determinante: una misma lesión puede aparecer con varias</a:t>
            </a:r>
          </a:p>
          <a:p>
            <a:r>
              <a:t>imágenes. Mil novecientas cincuenta y seis lesiones están en esa situación. Es una relación</a:t>
            </a:r>
          </a:p>
          <a:p>
            <a:r>
              <a:t>uno-a-muchos que, sin controlar, provoca fuga de información.</a:t>
            </a:r>
          </a:p>
          <a:p/>
        </p:txBody>
      </p:sp>
      <p:sp>
        <p:nvSpPr>
          <p:cNvPr id="4" name="Slide Number Placeholder 3"/>
          <p:cNvSpPr>
            <a:spLocks noGrp="1"/>
          </p:cNvSpPr>
          <p:nvPr>
            <p:ph type="sldNum" idx="3"/>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03 · Comprensión de los datos</a:t>
            </a:r>
          </a:p>
          <a:p>
            <a:r>
              <a:t>09:00 → 10:05   (65 s)   ·   Expone: Christian</a:t>
            </a:r>
          </a:p>
          <a:p>
            <a:r>
              <a:t>──────────────────────────────────────────────────────────────────────────────</a:t>
            </a:r>
          </a:p>
          <a:p>
            <a:r>
              <a:t>Este es el hallazgo más determinante del análisis exploratorio.</a:t>
            </a:r>
          </a:p>
          <a:p/>
          <a:p>
            <a:r>
              <a:t>El nevus melanocítico representa el sesenta y seis coma nueve por ciento de todas las imágenes. En</a:t>
            </a:r>
          </a:p>
          <a:p>
            <a:r>
              <a:t>el extremo opuesto, dermatofibroma y lesión vascular apenas superan el uno por ciento.</a:t>
            </a:r>
          </a:p>
          <a:p/>
          <a:p>
            <a:r>
              <a:t>Y aquí está lo perverso: en rojo tienen las clases malignas o premalignas. Melanoma, once coma uno</a:t>
            </a:r>
          </a:p>
          <a:p>
            <a:r>
              <a:t>por ciento; carcinoma basocelular, cinco coma uno; queratosis actínica, tres coma tres. Las clases</a:t>
            </a:r>
          </a:p>
          <a:p>
            <a:r>
              <a:t>menos representadas son precisamente las de mayor relevancia clínica. En total, mil novecientas</a:t>
            </a:r>
          </a:p>
          <a:p>
            <a:r>
              <a:t>cincuenta y cuatro imágenes malignas frente a ocho mil sesenta y una benignas: cuatro coma uno a uno.</a:t>
            </a:r>
          </a:p>
          <a:p/>
          <a:p>
            <a:r>
              <a:t>La consecuencia es inmediata: un clasificador que etiquetase todo como «nevus» obtendría un sesenta</a:t>
            </a:r>
          </a:p>
          <a:p>
            <a:r>
              <a:t>y seis coma nueve por ciento de accuracy sin haber aprendido nada. Por eso el accuracy engaña aquí.</a:t>
            </a:r>
          </a:p>
          <a:p/>
          <a:p>
            <a:r>
              <a:t>Conviene señalar que esta distribución no es un error de recopilación: refleja la prevalencia</a:t>
            </a:r>
          </a:p>
          <a:p>
            <a:r>
              <a:t>clínica real. Pero desde el aprendizaje automático hay que corregirla.</a:t>
            </a:r>
          </a:p>
          <a:p/>
        </p:txBody>
      </p:sp>
      <p:sp>
        <p:nvSpPr>
          <p:cNvPr id="4" name="Slide Number Placeholder 3"/>
          <p:cNvSpPr>
            <a:spLocks noGrp="1"/>
          </p:cNvSpPr>
          <p:nvPr>
            <p:ph type="sldNum" idx="3"/>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03 · Comprensión de los datos</a:t>
            </a:r>
          </a:p>
          <a:p>
            <a:r>
              <a:t>10:05 → 11:00   (55 s)   ·   Expone: Christian</a:t>
            </a:r>
          </a:p>
          <a:p>
            <a:r>
              <a:t>──────────────────────────────────────────────────────────────────────────────</a:t>
            </a:r>
          </a:p>
          <a:p>
            <a:r>
              <a:t>El segundo hallazgo viene de los metadatos.</a:t>
            </a:r>
          </a:p>
          <a:p/>
          <a:p>
            <a:r>
              <a:t>La edad es la covariable más informativa. Media de cincuenta y uno coma ocho cinco años, mediana de</a:t>
            </a:r>
          </a:p>
          <a:p>
            <a:r>
              <a:t>cincuenta. Pero lo relevante es la diferencia entre clases: el test de Kruskal-Wallis da un</a:t>
            </a:r>
          </a:p>
          <a:p>
            <a:r>
              <a:t>estadístico de dos mil doscientos noventa y cinco, con p menor que cero coma cero cero cero uno.</a:t>
            </a:r>
          </a:p>
          <a:p/>
          <a:p>
            <a:r>
              <a:t>En los gráficos se ve con claridad: las clases malignas por daño solar crónico —basocelular y</a:t>
            </a:r>
          </a:p>
          <a:p>
            <a:r>
              <a:t>queratosis actínica— tienen mediana de setenta años, frente a los cuarenta y cinco del nevus. Y la</a:t>
            </a:r>
          </a:p>
          <a:p>
            <a:r>
              <a:t>correlación de la edad con la malignidad es de cero coma treinta y tres.</a:t>
            </a:r>
          </a:p>
          <a:p/>
          <a:p>
            <a:r>
              <a:t>Clínicamente tiene sentido: la exposición ultravioleta acumulada es un factor de riesgo bien</a:t>
            </a:r>
          </a:p>
          <a:p>
            <a:r>
              <a:t>documentado.</a:t>
            </a:r>
          </a:p>
          <a:p/>
          <a:p>
            <a:r>
              <a:t>Esto nos deja una consecuencia que reconocemos como limitación: nuestra red procesa solo píxeles.</a:t>
            </a:r>
          </a:p>
          <a:p>
            <a:r>
              <a:t>Deja sin explotar información diagnóstica que sí tenemos.</a:t>
            </a:r>
          </a:p>
          <a:p/>
        </p:txBody>
      </p:sp>
      <p:sp>
        <p:nvSpPr>
          <p:cNvPr id="4" name="Slide Number Placeholder 3"/>
          <p:cNvSpPr>
            <a:spLocks noGrp="1"/>
          </p:cNvSpPr>
          <p:nvPr>
            <p:ph type="sldNum" idx="3"/>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03 · Comprensión de los datos</a:t>
            </a:r>
          </a:p>
          <a:p>
            <a:r>
              <a:t>11:00 → 12:00   (60 s)   ·   Expone: Christian</a:t>
            </a:r>
          </a:p>
          <a:p>
            <a:r>
              <a:t>──────────────────────────────────────────────────────────────────────────────</a:t>
            </a:r>
          </a:p>
          <a:p>
            <a:r>
              <a:t>El tercer hallazgo procede del análisis de correlaciones. Como todas las variables son categóricas,</a:t>
            </a:r>
          </a:p>
          <a:p>
            <a:r>
              <a:t>usamos la V de Cramér.</a:t>
            </a:r>
          </a:p>
          <a:p/>
          <a:p>
            <a:r>
              <a:t>El valor más alto, y el más incómodo, es cero coma cuarenta y seis entre malignidad y método</a:t>
            </a:r>
          </a:p>
          <a:p>
            <a:r>
              <a:t>diagnóstico. Las clases malignas se confirman casi siempre por histopatología, mientras que las</a:t>
            </a:r>
          </a:p>
          <a:p>
            <a:r>
              <a:t>benignas se etiquetan a menudo por seguimiento o consenso. La calidad de las etiquetas no es</a:t>
            </a:r>
          </a:p>
          <a:p>
            <a:r>
              <a:t>homogénea entre clases. Lo recogemos en las limitaciones.</a:t>
            </a:r>
          </a:p>
          <a:p/>
          <a:p>
            <a:r>
              <a:t>La localización muestra asociación moderada, coherente con la etiología. El sexo resulta</a:t>
            </a:r>
          </a:p>
          <a:p>
            <a:r>
              <a:t>prácticamente irrelevante.</a:t>
            </a:r>
          </a:p>
          <a:p/>
          <a:p>
            <a:r>
              <a:t>Pero la conclusión operativa está abajo. Mil novecientas cincuenta y seis lesiones tienen más de una</a:t>
            </a:r>
          </a:p>
          <a:p>
            <a:r>
              <a:t>imagen. Si se reparten entre entrenamiento y test, el modelo reconoce la lesión que memorizó y las</a:t>
            </a:r>
          </a:p>
          <a:p>
            <a:r>
              <a:t>métricas se inflan. La solución es particionar agrupando por lesion_id.</a:t>
            </a:r>
          </a:p>
          <a:p/>
        </p:txBody>
      </p:sp>
      <p:sp>
        <p:nvSpPr>
          <p:cNvPr id="4" name="Slide Number Placeholder 3"/>
          <p:cNvSpPr>
            <a:spLocks noGrp="1"/>
          </p:cNvSpPr>
          <p:nvPr>
            <p:ph type="sldNum" idx="3"/>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03 · Comprensión de los datos</a:t>
            </a:r>
          </a:p>
          <a:p>
            <a:r>
              <a:t>12:00 → 13:00   (60 s)   ·   Expone: Christian</a:t>
            </a:r>
          </a:p>
          <a:p>
            <a:r>
              <a:t>──────────────────────────────────────────────────────────────────────────────</a:t>
            </a:r>
          </a:p>
          <a:p>
            <a:r>
              <a:t>Cerramos la fase traduciendo cada hallazgo en una decisión concreta. Esta diapositiva es la bisagra</a:t>
            </a:r>
          </a:p>
          <a:p>
            <a:r>
              <a:t>entre el análisis y el modelado.</a:t>
            </a:r>
          </a:p>
          <a:p/>
          <a:p>
            <a:r>
              <a:t>Primera: partición agrupada por lesion_id, con GroupShuffleSplit y StratifiedGroupKFold.</a:t>
            </a:r>
          </a:p>
          <a:p/>
          <a:p>
            <a:r>
              <a:t>Segunda: corregir el desbalance de forma explícita. SMOTE sobre el entrenamiento en el Escenario 1,</a:t>
            </a:r>
          </a:p>
          <a:p>
            <a:r>
              <a:t>submuestreo previo en el Escenario 2, y pesos de clase en la red neuronal.</a:t>
            </a:r>
          </a:p>
          <a:p/>
          <a:p>
            <a:r>
              <a:t>Tercera: evaluar con criterio clínico. Recall por clase —sobre todo melanoma, basocelular y</a:t>
            </a:r>
          </a:p>
          <a:p>
            <a:r>
              <a:t>queratosis actínica—, F1 macro y AUC-ROC.</a:t>
            </a:r>
          </a:p>
          <a:p/>
          <a:p>
            <a:r>
              <a:t>Y cuarta: documentar las limitaciones del dataset como parte del resultado, no como nota al pie.</a:t>
            </a:r>
          </a:p>
          <a:p/>
          <a:p>
            <a:r>
              <a:t>Estas decisiones explican por qué el trabajo construye dos escenarios de datos en lugar de uno. Con</a:t>
            </a:r>
          </a:p>
          <a:p>
            <a:r>
              <a:t>esto le paso la palabra a Alvaro.</a:t>
            </a:r>
          </a:p>
          <a:p/>
        </p:txBody>
      </p:sp>
      <p:sp>
        <p:nvSpPr>
          <p:cNvPr id="4" name="Slide Number Placeholder 3"/>
          <p:cNvSpPr>
            <a:spLocks noGrp="1"/>
          </p:cNvSpPr>
          <p:nvPr>
            <p:ph type="sldNum" idx="3"/>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04 · Preparación de los datos</a:t>
            </a:r>
          </a:p>
          <a:p>
            <a:r>
              <a:t>13:00 → 13:10   (10 s)   ·   Expone: Alvaro</a:t>
            </a:r>
          </a:p>
          <a:p>
            <a:r>
              <a:t>──────────────────────────────────────────────────────────────────────────────</a:t>
            </a:r>
          </a:p>
          <a:p>
            <a:r>
              <a:t>[CAMBIO DE PONENTE]</a:t>
            </a:r>
          </a:p>
          <a:p/>
          <a:p>
            <a:r>
              <a:t>Gracias, Christian. Buenos días de nuevo.</a:t>
            </a:r>
          </a:p>
          <a:p/>
          <a:p>
            <a:r>
              <a:t>Retomo en la fase de preparación de los datos, que es donde esas cuatro decisiones se convierten en</a:t>
            </a:r>
          </a:p>
          <a:p>
            <a:r>
              <a:t>código.</a:t>
            </a:r>
          </a:p>
          <a:p/>
        </p:txBody>
      </p:sp>
      <p:sp>
        <p:nvSpPr>
          <p:cNvPr id="4" name="Slide Number Placeholder 3"/>
          <p:cNvSpPr>
            <a:spLocks noGrp="1"/>
          </p:cNvSpPr>
          <p:nvPr>
            <p:ph type="sldNum" idx="3"/>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04 · Preparación de los datos</a:t>
            </a:r>
          </a:p>
          <a:p>
            <a:r>
              <a:t>13:10 → 14:35   (85 s)   ·   Expone: Alvaro</a:t>
            </a:r>
          </a:p>
          <a:p>
            <a:r>
              <a:t>──────────────────────────────────────────────────────────────────────────────</a:t>
            </a:r>
          </a:p>
          <a:p>
            <a:r>
              <a:t>El pipeline de preparación tiene cuatro pasos comunes a los dos escenarios.</a:t>
            </a:r>
          </a:p>
          <a:p/>
          <a:p>
            <a:r>
              <a:t>Limpieza y estandarización de las variables categóricas, y verificación del rango de edades.</a:t>
            </a:r>
          </a:p>
          <a:p/>
          <a:p>
            <a:r>
              <a:t>Imputación: la edad es la única variable con ausencias relevantes, y la imputamos preservando la</a:t>
            </a:r>
          </a:p>
          <a:p>
            <a:r>
              <a:t>distribución por clase diagnóstica, para no aplanar la señal que el EDA había identificado.</a:t>
            </a:r>
          </a:p>
          <a:p/>
          <a:p>
            <a:r>
              <a:t>Tercero, la partición, que es la decisión de la que estamos más satisfechos: GroupShuffleSplit</a:t>
            </a:r>
          </a:p>
          <a:p>
            <a:r>
              <a:t>ochenta-veinte agrupando por lesion_id. En el Escenario 2 son dos mil cuatrocientas noventa y ocho</a:t>
            </a:r>
          </a:p>
          <a:p>
            <a:r>
              <a:t>lesiones en entrenamiento y seiscientas veinticinco en test, sin solapamiento.</a:t>
            </a:r>
          </a:p>
          <a:p/>
          <a:p>
            <a:r>
              <a:t>¿Por qué insistimos? Porque con una partición convencional, imágenes casi idénticas de la misma</a:t>
            </a:r>
          </a:p>
          <a:p>
            <a:r>
              <a:t>lesión acaban en entrenamiento y en test a la vez. El modelo reconoce la lesión que memorizó, no la</a:t>
            </a:r>
          </a:p>
          <a:p>
            <a:r>
              <a:t>patología. Las métricas suben, pero son falsas.</a:t>
            </a:r>
          </a:p>
          <a:p/>
          <a:p>
            <a:r>
              <a:t>Y cuarto, el preprocesamiento de imagen: sesenta y cuatro por sesenta y cuatro en RGB, aplanado a</a:t>
            </a:r>
          </a:p>
          <a:p>
            <a:r>
              <a:t>doce mil doscientas ochenta y ocho características y normalización.</a:t>
            </a:r>
          </a:p>
          <a:p/>
        </p:txBody>
      </p:sp>
      <p:sp>
        <p:nvSpPr>
          <p:cNvPr id="4" name="Slide Number Placeholder 3"/>
          <p:cNvSpPr>
            <a:spLocks noGrp="1"/>
          </p:cNvSpPr>
          <p:nvPr>
            <p:ph type="sldNum" idx="3"/>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04 · Preparación de los datos</a:t>
            </a:r>
          </a:p>
          <a:p>
            <a:r>
              <a:t>14:35 → 16:00   (85 s)   ·   Expone: Alvaro</a:t>
            </a:r>
          </a:p>
          <a:p>
            <a:r>
              <a:t>──────────────────────────────────────────────────────────────────────────────</a:t>
            </a:r>
          </a:p>
          <a:p>
            <a:r>
              <a:t>Con ese pipeline construimos los dos escenarios.</a:t>
            </a:r>
          </a:p>
          <a:p/>
          <a:p>
            <a:r>
              <a:t>El Escenario 1 es la línea base: dataset multiclase original completo, siete clases, diez mil quince</a:t>
            </a:r>
          </a:p>
          <a:p>
            <a:r>
              <a:t>imágenes con el desbalance real. Partición estratificada por clase y corrección mediante SMOTE sobre</a:t>
            </a:r>
          </a:p>
          <a:p>
            <a:r>
              <a:t>el entrenamiento, que lo expande a treinta y siete mil quinientas cuarenta y ocho muestras.</a:t>
            </a:r>
          </a:p>
          <a:p/>
          <a:p>
            <a:r>
              <a:t>El Escenario 2 reformula el problema. Agrupamos las siete clases en dos —maligno reúne queratosis</a:t>
            </a:r>
          </a:p>
          <a:p>
            <a:r>
              <a:t>actínica, basocelular y melanoma— y equilibramos por submuestreo: mil novecientas cincuenta y cuatro</a:t>
            </a:r>
          </a:p>
          <a:p>
            <a:r>
              <a:t>imágenes de cada tipo. El gráfico de la izquierda muestra ese antes y después.</a:t>
            </a:r>
          </a:p>
          <a:p/>
          <a:p>
            <a:r>
              <a:t>Aquí eliminamos SMOTE deliberadamente, porque el dataset ya llega equilibrado. Aplicarlo encima</a:t>
            </a:r>
          </a:p>
          <a:p>
            <a:r>
              <a:t>generaría muestras sintéticas innecesarias e introduciría interpolaciones entre lesiones que</a:t>
            </a:r>
          </a:p>
          <a:p>
            <a:r>
              <a:t>clínicamente no existen.</a:t>
            </a:r>
          </a:p>
          <a:p/>
          <a:p>
            <a:r>
              <a:t>Quiero subrayarlo: el Escenario 2 no es una versión más pequeña del Escenario 1. Es una</a:t>
            </a:r>
          </a:p>
          <a:p>
            <a:r>
              <a:t>reformulación alineada con la decisión clínica real de un triaje: ¿esta lesión es sospechosa?</a:t>
            </a:r>
          </a:p>
          <a:p/>
        </p:txBody>
      </p:sp>
      <p:sp>
        <p:nvSpPr>
          <p:cNvPr id="4" name="Slide Number Placeholder 3"/>
          <p:cNvSpPr>
            <a:spLocks noGrp="1"/>
          </p:cNvSpPr>
          <p:nvPr>
            <p:ph type="sldNum" idx="3"/>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05 · Modelado</a:t>
            </a:r>
          </a:p>
          <a:p>
            <a:r>
              <a:t>16:00 → 16:05   (5 s)   ·   Expone: Alvaro</a:t>
            </a:r>
          </a:p>
          <a:p>
            <a:r>
              <a:t>──────────────────────────────────────────────────────────────────────────────</a:t>
            </a:r>
          </a:p>
          <a:p>
            <a:r>
              <a:t>Pasamos al modelado.</a:t>
            </a:r>
          </a:p>
          <a:p/>
          <a:p>
            <a:r>
              <a:t>[Avanzar sin detenerse]</a:t>
            </a:r>
          </a:p>
          <a:p/>
        </p:txBody>
      </p:sp>
      <p:sp>
        <p:nvSpPr>
          <p:cNvPr id="4" name="Slide Number Placeholder 3"/>
          <p:cNvSpPr>
            <a:spLocks noGrp="1"/>
          </p:cNvSpPr>
          <p:nvPr>
            <p:ph type="sldNum" idx="3"/>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05 · Modelado</a:t>
            </a:r>
          </a:p>
          <a:p>
            <a:r>
              <a:t>16:05 → 17:30   (85 s)   ·   Expone: Alvaro</a:t>
            </a:r>
          </a:p>
          <a:p>
            <a:r>
              <a:t>──────────────────────────────────────────────────────────────────────────────</a:t>
            </a:r>
          </a:p>
          <a:p>
            <a:r>
              <a:t>Empezamos por el SVM, que actúa como línea base.</a:t>
            </a:r>
          </a:p>
          <a:p/>
          <a:p>
            <a:r>
              <a:t>El pipeline tiene nueve pasos secuenciales. He destacado en azul los tres donde se concentran las</a:t>
            </a:r>
          </a:p>
          <a:p>
            <a:r>
              <a:t>decisiones de diseño: escalado y PCA, balanceo y entrenamiento.</a:t>
            </a:r>
          </a:p>
          <a:p/>
          <a:p>
            <a:r>
              <a:t>Cada imagen se representa como sesenta y cuatro por sesenta y cuatro píxeles en RGB, aplanados a</a:t>
            </a:r>
          </a:p>
          <a:p>
            <a:r>
              <a:t>doce mil doscientas ochenta y ocho características. Es un espacio inmanejable, así que aplicamos</a:t>
            </a:r>
          </a:p>
          <a:p>
            <a:r>
              <a:t>StandardScaler y PCA reteniendo el noventa y cinco por ciento de la varianza.</a:t>
            </a:r>
          </a:p>
          <a:p/>
          <a:p>
            <a:r>
              <a:t>El gráfico muestra el resultado: bastan ochenta y cuatro componentes en el Escenario 1 —ciento</a:t>
            </a:r>
          </a:p>
          <a:p>
            <a:r>
              <a:t>cuatro en el Escenario 2— para capturar ese noventa y cinco por ciento. Una reducción del noventa y</a:t>
            </a:r>
          </a:p>
          <a:p>
            <a:r>
              <a:t>nueve coma tres por ciento.</a:t>
            </a:r>
          </a:p>
          <a:p/>
          <a:p>
            <a:r>
              <a:t>Sobre ese espacio entrenamos un SVC con kernel de base radial, C igual a uno, gamma «scale» y pesos</a:t>
            </a:r>
          </a:p>
          <a:p>
            <a:r>
              <a:t>de clase balanceados, con Platt scaling para poder calcular el AUC.</a:t>
            </a:r>
          </a:p>
          <a:p/>
          <a:p>
            <a:r>
              <a:t>¿Por qué SVM? Porque fue el estado del arte en imagen médica antes del Deep Learning, es eficiente</a:t>
            </a:r>
          </a:p>
          <a:p>
            <a:r>
              <a:t>en alta dimensión gracias al truco del kernel, y su comportamiento documentado facilita interpretar</a:t>
            </a:r>
          </a:p>
          <a:p>
            <a:r>
              <a:t>cuánto mejora realmente la red.</a:t>
            </a:r>
          </a:p>
          <a:p/>
        </p:txBody>
      </p:sp>
      <p:sp>
        <p:nvSpPr>
          <p:cNvPr id="4" name="Slide Number Placeholder 3"/>
          <p:cNvSpPr>
            <a:spLocks noGrp="1"/>
          </p:cNvSpPr>
          <p:nvPr>
            <p:ph type="sldNum" idx="3"/>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05 · Modelado</a:t>
            </a:r>
          </a:p>
          <a:p>
            <a:r>
              <a:t>17:30 → 19:00   (90 s)   ·   Expone: Alvaro</a:t>
            </a:r>
          </a:p>
          <a:p>
            <a:r>
              <a:t>──────────────────────────────────────────────────────────────────────────────</a:t>
            </a:r>
          </a:p>
          <a:p>
            <a:r>
              <a:t>La segunda familia es DenseNet201, preentrenada en ImageNet mediante Transfer Learning.</a:t>
            </a:r>
          </a:p>
          <a:p/>
          <a:p>
            <a:r>
              <a:t>La elegimos por sus bloques densos, en los que cada capa recibe los mapas de características de</a:t>
            </a:r>
          </a:p>
          <a:p>
            <a:r>
              <a:t>todas las precedentes. Eso maximiza el flujo de gradientes, mitiga el desvanecimiento y reutiliza</a:t>
            </a:r>
          </a:p>
          <a:p>
            <a:r>
              <a:t>características sin disparar el número de parámetros.</a:t>
            </a:r>
          </a:p>
          <a:p/>
          <a:p>
            <a:r>
              <a:t>Pero la aportación propia del trabajo es la arquitectura de dos cabezas del diagrama. Sobre el</a:t>
            </a:r>
          </a:p>
          <a:p>
            <a:r>
              <a:t>vector que sale del Global Average Pooling acoplamos dos cabezas lineales en paralelo. La Cabeza A,</a:t>
            </a:r>
          </a:p>
          <a:p>
            <a:r>
              <a:t>de triaje binario: benigno frente a maligno. Y la Cabeza B, de diagnóstico específico, con siete</a:t>
            </a:r>
          </a:p>
          <a:p>
            <a:r>
              <a:t>salidas.</a:t>
            </a:r>
          </a:p>
          <a:p/>
          <a:p>
            <a:r>
              <a:t>Ambas se entrenan a la vez con una pérdida conjunta ponderada al cincuenta por ciento. La Cabeza A</a:t>
            </a:r>
          </a:p>
          <a:p>
            <a:r>
              <a:t>con entropía cruzada estándar; la Cabeza B con pesos por clase.</a:t>
            </a:r>
          </a:p>
          <a:p/>
          <a:p>
            <a:r>
              <a:t>¿Por qué dos cabezas y no dos modelos? Porque así respondemos simultáneamente a la pregunta de</a:t>
            </a:r>
          </a:p>
          <a:p>
            <a:r>
              <a:t>triaje —¿es sospechosa?— y a la de diagnóstico —¿qué patología es?— con un único coste de</a:t>
            </a:r>
          </a:p>
          <a:p>
            <a:r>
              <a:t>entrenamiento y un backbone que aprende de ambas señales.</a:t>
            </a:r>
          </a:p>
          <a:p/>
          <a:p>
            <a:r>
              <a:t>Dieciocho millones de parámetros entrenables, treinta épocas, lote de treinta y dos y optimizador</a:t>
            </a:r>
          </a:p>
          <a:p>
            <a:r>
              <a:t>Adam. Las curvas muestran una meseta estable de la pérdida de validación desde la época catorce.</a:t>
            </a:r>
          </a:p>
          <a:p/>
        </p:txBody>
      </p:sp>
      <p:sp>
        <p:nvSpPr>
          <p:cNvPr id="4" name="Slide Number Placeholder 3"/>
          <p:cNvSpPr>
            <a:spLocks noGrp="1"/>
          </p:cNvSpPr>
          <p:nvPr>
            <p:ph type="sldNum" idx="3"/>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06 · Evaluación y resultados</a:t>
            </a:r>
          </a:p>
          <a:p>
            <a:r>
              <a:t>19:00 → 19:05   (5 s)   ·   Expone: Alvaro</a:t>
            </a:r>
          </a:p>
          <a:p>
            <a:r>
              <a:t>──────────────────────────────────────────────────────────────────────────────</a:t>
            </a:r>
          </a:p>
          <a:p>
            <a:r>
              <a:t>Llegamos a los resultados, el núcleo del trabajo.</a:t>
            </a:r>
          </a:p>
          <a:p/>
          <a:p>
            <a:r>
              <a:t>[Avanzar sin detenerse]</a:t>
            </a:r>
          </a:p>
          <a:p/>
        </p:txBody>
      </p:sp>
      <p:sp>
        <p:nvSpPr>
          <p:cNvPr id="4" name="Slide Number Placeholder 3"/>
          <p:cNvSpPr>
            <a:spLocks noGrp="1"/>
          </p:cNvSpPr>
          <p:nvPr>
            <p:ph type="sldNum" idx="3"/>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06 · Evaluación y resultados</a:t>
            </a:r>
          </a:p>
          <a:p>
            <a:r>
              <a:t>19:05 → 20:10   (65 s)   ·   Expone: Alvaro</a:t>
            </a:r>
          </a:p>
          <a:p>
            <a:r>
              <a:t>──────────────────────────────────────────────────────────────────────────────</a:t>
            </a:r>
          </a:p>
          <a:p>
            <a:r>
              <a:t>Empezamos por el efecto del balanceo dentro de la familia SVM. Mismo algoritmo, mismos</a:t>
            </a:r>
          </a:p>
          <a:p>
            <a:r>
              <a:t>hiperparámetros, mismo preprocesamiento: solo cambia la estrategia de datos.</a:t>
            </a:r>
          </a:p>
          <a:p/>
          <a:p>
            <a:r>
              <a:t>Prácticamente todas las métricas mejoran. La exactitud balanceada pasa de cero coma cinco uno siete</a:t>
            </a:r>
          </a:p>
          <a:p>
            <a:r>
              <a:t>a cero coma siete nueve cuatro. El F1 macro, de cero coma cuatro ocho tres a cero coma siete nueve</a:t>
            </a:r>
          </a:p>
          <a:p>
            <a:r>
              <a:t>tres. El Kappa y el MCC también suben con claridad.</a:t>
            </a:r>
          </a:p>
          <a:p/>
          <a:p>
            <a:r>
              <a:t>Hay una excepción: el AUC macro baja ligeramente. Y queremos explicarlo, porque no es</a:t>
            </a:r>
          </a:p>
          <a:p>
            <a:r>
              <a:t>contradictorio.</a:t>
            </a:r>
          </a:p>
          <a:p/>
          <a:p>
            <a:r>
              <a:t>El AUC mide la capacidad de ordenar los casos a lo largo de todos los umbrales posibles, y se</a:t>
            </a:r>
          </a:p>
          <a:p>
            <a:r>
              <a:t>mantiene alto aunque en el umbral real de decisión —el cero coma cinco que se usa para clasificar—</a:t>
            </a:r>
          </a:p>
          <a:p>
            <a:r>
              <a:t>el modelo falle en la clase minoritaria. Un AUC alto puede convivir con una detección muy pobre de</a:t>
            </a:r>
          </a:p>
          <a:p>
            <a:r>
              <a:t>la patología que importa.</a:t>
            </a:r>
          </a:p>
          <a:p/>
          <a:p>
            <a:r>
              <a:t>Un apunte de robustez: la validación cruzada de cinco folds confirma que esto no depende de una</a:t>
            </a:r>
          </a:p>
          <a:p>
            <a:r>
              <a:t>partición afortunada, con desviaciones típicas muy bajas.</a:t>
            </a:r>
          </a:p>
          <a:p/>
        </p:txBody>
      </p:sp>
      <p:sp>
        <p:nvSpPr>
          <p:cNvPr id="4" name="Slide Number Placeholder 3"/>
          <p:cNvSpPr>
            <a:spLocks noGrp="1"/>
          </p:cNvSpPr>
          <p:nvPr>
            <p:ph type="sldNum" idx="3"/>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06 · Evaluación y resultados</a:t>
            </a:r>
          </a:p>
          <a:p>
            <a:r>
              <a:t>20:10 → 21:15   (65 s)   ·   Expone: Alvaro</a:t>
            </a:r>
          </a:p>
          <a:p>
            <a:r>
              <a:t>──────────────────────────────────────────────────────────────────────────────</a:t>
            </a:r>
          </a:p>
          <a:p>
            <a:r>
              <a:t>Vamos a la comparación que de verdad importa: la detección de malignidad.</a:t>
            </a:r>
          </a:p>
          <a:p/>
          <a:p>
            <a:r>
              <a:t>Como la línea base resuelve siete clases, agregamos sus predicciones a términos binarios desde su</a:t>
            </a:r>
          </a:p>
          <a:p>
            <a:r>
              <a:t>matriz de confusión, para poder responder en los mismos términos.</a:t>
            </a:r>
          </a:p>
          <a:p/>
          <a:p>
            <a:r>
              <a:t>El resultado es contundente. La línea base detecta doscientos cincuenta y dos de trescientos noventa</a:t>
            </a:r>
          </a:p>
          <a:p>
            <a:r>
              <a:t>y un casos malignos: sensibilidad del sesenta y cuatro coma cinco por ciento. Deja pasar ciento</a:t>
            </a:r>
          </a:p>
          <a:p>
            <a:r>
              <a:t>treinta y nueve lesiones malignas.</a:t>
            </a:r>
          </a:p>
          <a:p/>
          <a:p>
            <a:r>
              <a:t>El modelo balanceado detecta trescientos setenta y nueve de cuatrocientos ocho: noventa y dos coma</a:t>
            </a:r>
          </a:p>
          <a:p>
            <a:r>
              <a:t>nueve por ciento. Solo veintinueve falsos negativos.</a:t>
            </a:r>
          </a:p>
          <a:p/>
          <a:p>
            <a:r>
              <a:t>La contrapartida es la especificidad, que cae al sesenta y cinco coma nueve por ciento: más falsas</a:t>
            </a:r>
          </a:p>
          <a:p>
            <a:r>
              <a:t>alarmas.</a:t>
            </a:r>
          </a:p>
          <a:p/>
          <a:p>
            <a:r>
              <a:t>Y quiero ser explícito: ese es exactamente el intercambio que buscábamos. Sacrificar especificidad</a:t>
            </a:r>
          </a:p>
          <a:p>
            <a:r>
              <a:t>—que cuesta una consulta adicional— para casi triplicar la detección de malignidad.</a:t>
            </a:r>
          </a:p>
          <a:p/>
          <a:p>
            <a:r>
              <a:t>El melanoma en la línea base ilustra el problema del AUC: cero coma ocho dos siete de AUC, pero un</a:t>
            </a:r>
          </a:p>
          <a:p>
            <a:r>
              <a:t>recall real de cero coma cuatro siete cinco. No detecta ni la mitad.</a:t>
            </a:r>
          </a:p>
          <a:p/>
        </p:txBody>
      </p:sp>
      <p:sp>
        <p:nvSpPr>
          <p:cNvPr id="4" name="Slide Number Placeholder 3"/>
          <p:cNvSpPr>
            <a:spLocks noGrp="1"/>
          </p:cNvSpPr>
          <p:nvPr>
            <p:ph type="sldNum" idx="3"/>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06 · Evaluación y resultados</a:t>
            </a:r>
          </a:p>
          <a:p>
            <a:r>
              <a:t>21:15 → 22:20   (65 s)   ·   Expone: Alvaro</a:t>
            </a:r>
          </a:p>
          <a:p>
            <a:r>
              <a:t>──────────────────────────────────────────────────────────────────────────────</a:t>
            </a:r>
          </a:p>
          <a:p>
            <a:r>
              <a:t>Veamos si el efecto se reproduce con la red. La Cabeza A resuelve la misma tarea binaria, así que la</a:t>
            </a:r>
          </a:p>
          <a:p>
            <a:r>
              <a:t>comparación es directa.</a:t>
            </a:r>
          </a:p>
          <a:p/>
          <a:p>
            <a:r>
              <a:t>La sensibilidad sobre la clase maligna mejora del ochenta y uno coma cero siete al noventa coma cero</a:t>
            </a:r>
          </a:p>
          <a:p>
            <a:r>
              <a:t>tres por ciento: casi nueve puntos. La especificidad baja tres puntos y medio, y el accuracy global</a:t>
            </a:r>
          </a:p>
          <a:p>
            <a:r>
              <a:t>baja ligeramente.</a:t>
            </a:r>
          </a:p>
          <a:p/>
          <a:p>
            <a:r>
              <a:t>En términos absolutos se entiende mejor: sobre las mismas trescientas noventa y una lesiones</a:t>
            </a:r>
          </a:p>
          <a:p>
            <a:r>
              <a:t>malignas de validación, los falsos negativos caen de setenta y cuatro a treinta y nueve. Casi a la</a:t>
            </a:r>
          </a:p>
          <a:p>
            <a:r>
              <a:t>mitad. Es lo que muestra el gráfico: cada cuadrado es una lesión maligna y los rojos son las que el</a:t>
            </a:r>
          </a:p>
          <a:p>
            <a:r>
              <a:t>sistema deja pasar.</a:t>
            </a:r>
          </a:p>
          <a:p/>
          <a:p>
            <a:r>
              <a:t>Pero el dato más interesante es otro: el AUC-ROC se mantiene prácticamente constante. La capacidad</a:t>
            </a:r>
          </a:p>
          <a:p>
            <a:r>
              <a:t>de discriminación subyacente apenas cambia. Lo que el balanceo mueve es el punto de operación del</a:t>
            </a:r>
          </a:p>
          <a:p>
            <a:r>
              <a:t>clasificador, no lo que la red ha aprendido.</a:t>
            </a:r>
          </a:p>
          <a:p/>
          <a:p>
            <a:r>
              <a:t>La conclusión metodológica importa: el efecto es consecuencia de la estrategia de datos, no un</a:t>
            </a:r>
          </a:p>
          <a:p>
            <a:r>
              <a:t>artefacto de un algoritmo concreto.</a:t>
            </a:r>
          </a:p>
          <a:p/>
        </p:txBody>
      </p:sp>
      <p:sp>
        <p:nvSpPr>
          <p:cNvPr id="4" name="Slide Number Placeholder 3"/>
          <p:cNvSpPr>
            <a:spLocks noGrp="1"/>
          </p:cNvSpPr>
          <p:nvPr>
            <p:ph type="sldNum" idx="3"/>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06 · Evaluación y resultados</a:t>
            </a:r>
          </a:p>
          <a:p>
            <a:r>
              <a:t>22:20 → 23:25   (65 s)   ·   Expone: Alvaro</a:t>
            </a:r>
          </a:p>
          <a:p>
            <a:r>
              <a:t>──────────────────────────────────────────────────────────────────────────────</a:t>
            </a:r>
          </a:p>
          <a:p>
            <a:r>
              <a:t>Pero el balanceo no sale gratis. Esta es la diapositiva más matizada del trabajo.</a:t>
            </a:r>
          </a:p>
          <a:p/>
          <a:p>
            <a:r>
              <a:t>En la Cabeza B, la de diagnóstico específico, el efecto es el contrario: el rendimiento baja de</a:t>
            </a:r>
          </a:p>
          <a:p>
            <a:r>
              <a:t>forma generalizada. El recall macro cae del ochenta y siete coma siete ocho al setenta y ocho coma</a:t>
            </a:r>
          </a:p>
          <a:p>
            <a:r>
              <a:t>uno tres.</a:t>
            </a:r>
          </a:p>
          <a:p/>
          <a:p>
            <a:r>
              <a:t>El descenso no es uniforme. En verde verán que el melanoma es la única clase cuyo recall mejora:</a:t>
            </a:r>
          </a:p>
          <a:p>
            <a:r>
              <a:t>más de doce puntos. Justo la clase clínicamente más grave.</a:t>
            </a:r>
          </a:p>
          <a:p/>
          <a:p>
            <a:r>
              <a:t>Las caídas más severas son dermatofibroma y lesión vascular, que son precisamente las clases</a:t>
            </a:r>
          </a:p>
          <a:p>
            <a:r>
              <a:t>benignas que el submuestreo reduce a dieciocho y veinticuatro muestras de entrenamiento.</a:t>
            </a:r>
          </a:p>
          <a:p/>
          <a:p>
            <a:r>
              <a:t>El caso más llamativo es la queratosis actínica, que pierde dieciocho puntos y medio pese a</a:t>
            </a:r>
          </a:p>
          <a:p>
            <a:r>
              <a:t>conservar las mismas doscientas sesenta y dos muestras. Nuestra explicación es que su peso de clase</a:t>
            </a:r>
          </a:p>
          <a:p>
            <a:r>
              <a:t>se recalcula y cae de cuatro coma treinta y siete a uno coma setenta: el modelo recibe menos</a:t>
            </a:r>
          </a:p>
          <a:p>
            <a:r>
              <a:t>penalización por confundirla.</a:t>
            </a:r>
          </a:p>
          <a:p/>
          <a:p>
            <a:r>
              <a:t>La conclusión es que los dos escenarios son óptimos para propósitos clínicos distintos: cribado</a:t>
            </a:r>
          </a:p>
          <a:p>
            <a:r>
              <a:t>masivo frente a segunda opinión oncológica.</a:t>
            </a:r>
          </a:p>
          <a:p/>
        </p:txBody>
      </p:sp>
      <p:sp>
        <p:nvSpPr>
          <p:cNvPr id="4" name="Slide Number Placeholder 3"/>
          <p:cNvSpPr>
            <a:spLocks noGrp="1"/>
          </p:cNvSpPr>
          <p:nvPr>
            <p:ph type="sldNum" idx="3"/>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06 · Evaluación y resultados</a:t>
            </a:r>
          </a:p>
          <a:p>
            <a:r>
              <a:t>23:25 → 24:35   (70 s)   ·   Expone: Alvaro</a:t>
            </a:r>
          </a:p>
          <a:p>
            <a:r>
              <a:t>──────────────────────────────────────────────────────────────────────────────</a:t>
            </a:r>
          </a:p>
          <a:p>
            <a:r>
              <a:t>Y llegamos a la pregunta que motivó todo el capítulo: si un centro tuviera que adoptar un único</a:t>
            </a:r>
          </a:p>
          <a:p>
            <a:r>
              <a:t>sistema, ¿cuál recomendaríamos?</a:t>
            </a:r>
          </a:p>
          <a:p/>
          <a:p>
            <a:r>
              <a:t>Enfrentamos la mejor configuración de cada familia, ambas del Escenario 2, sobre la misma tarea</a:t>
            </a:r>
          </a:p>
          <a:p>
            <a:r>
              <a:t>binaria.</a:t>
            </a:r>
          </a:p>
          <a:p/>
          <a:p>
            <a:r>
              <a:t>Aplicando sin excepciones nuestro criterio —priorizar el recall sobre malignidad—, gana el SVM:</a:t>
            </a:r>
          </a:p>
          <a:p>
            <a:r>
              <a:t>noventa y dos coma nueve frente a noventa coma cero tres. Es la única dimensión en la que gana, y</a:t>
            </a:r>
          </a:p>
          <a:p>
            <a:r>
              <a:t>por dos coma ocho siete puntos.</a:t>
            </a:r>
          </a:p>
          <a:p/>
          <a:p>
            <a:r>
              <a:t>En todo lo demás DenseNet201 domina con holgura. La diferencia más marcada es la especificidad:</a:t>
            </a:r>
          </a:p>
          <a:p>
            <a:r>
              <a:t>noventa y dos coma ocho cuatro frente a sesenta y cinco coma nueve. El SVM balanceado etiqueta como</a:t>
            </a:r>
          </a:p>
          <a:p>
            <a:r>
              <a:t>sospechosa a más de un tercio de las lesiones benignas reales; la red mantiene las falsas alarmas</a:t>
            </a:r>
          </a:p>
          <a:p>
            <a:r>
              <a:t>por debajo del ocho por ciento. Eso se traslada a la precisión sobre la clase maligna.</a:t>
            </a:r>
          </a:p>
          <a:p/>
          <a:p>
            <a:r>
              <a:t>Queremos ser transparentes con los límites de la comparación: los conjuntos de evaluación difieren</a:t>
            </a:r>
          </a:p>
          <a:p>
            <a:r>
              <a:t>ligeramente en tamaño, y la partición del SVM se agrupa por lesión mientras que en DenseNet201 no</a:t>
            </a:r>
          </a:p>
          <a:p>
            <a:r>
              <a:t>podemos afirmar que se aplique el mismo agrupamiento.</a:t>
            </a:r>
          </a:p>
          <a:p/>
        </p:txBody>
      </p:sp>
      <p:sp>
        <p:nvSpPr>
          <p:cNvPr id="4" name="Slide Number Placeholder 3"/>
          <p:cNvSpPr>
            <a:spLocks noGrp="1"/>
          </p:cNvSpPr>
          <p:nvPr>
            <p:ph type="sldNum" idx="3"/>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06 · Evaluación y resultados</a:t>
            </a:r>
          </a:p>
          <a:p>
            <a:r>
              <a:t>24:35 → 25:30   (55 s)   ·   Expone: Alvaro</a:t>
            </a:r>
          </a:p>
          <a:p>
            <a:r>
              <a:t>──────────────────────────────────────────────────────────────────────────────</a:t>
            </a:r>
          </a:p>
          <a:p>
            <a:r>
              <a:t>Esa ventaja tiene un coste, y es computacional.</a:t>
            </a:r>
          </a:p>
          <a:p/>
          <a:p>
            <a:r>
              <a:t>El SVM entrena en un coma treinta y tres segundos e infiere en cero coma veinticinco milisegundos</a:t>
            </a:r>
          </a:p>
          <a:p>
            <a:r>
              <a:t>por imagen. DenseNet201 necesita sesenta y dos minutos en GPU y trece milisegundos por inferencia.</a:t>
            </a:r>
          </a:p>
          <a:p>
            <a:r>
              <a:t>Fíjense en que el gráfico está en escala logarítmica.</a:t>
            </a:r>
          </a:p>
          <a:p/>
          <a:p>
            <a:r>
              <a:t>Y aquí queremos dejar la conclusión, porque creemos que es la aportación más honesta del trabajo: la</a:t>
            </a:r>
          </a:p>
          <a:p>
            <a:r>
              <a:t>decisión de cuál desplegar no depende solo de qué métrica gane en una tabla. Depende de cuál sea el</a:t>
            </a:r>
          </a:p>
          <a:p>
            <a:r>
              <a:t>recurso más escaso en el punto de despliegue.</a:t>
            </a:r>
          </a:p>
          <a:p/>
          <a:p>
            <a:r>
              <a:t>Si lo escaso es el cómputo —un centro rural sin GPU—, el SVM es viable y ofrece la sensibilidad</a:t>
            </a:r>
          </a:p>
          <a:p>
            <a:r>
              <a:t>agregada más alta. Si lo escaso es la capacidad de atención especializada para revisar las</a:t>
            </a:r>
          </a:p>
          <a:p>
            <a:r>
              <a:t>derivaciones, una especificidad del sesenta y cinco por ciento es insostenible y DenseNet201 es la</a:t>
            </a:r>
          </a:p>
          <a:p>
            <a:r>
              <a:t>opción.</a:t>
            </a:r>
          </a:p>
          <a:p/>
        </p:txBody>
      </p:sp>
      <p:sp>
        <p:nvSpPr>
          <p:cNvPr id="4" name="Slide Number Placeholder 3"/>
          <p:cNvSpPr>
            <a:spLocks noGrp="1"/>
          </p:cNvSpPr>
          <p:nvPr>
            <p:ph type="sldNum" idx="3"/>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07 · Conclusiones y prospectiva</a:t>
            </a:r>
          </a:p>
          <a:p>
            <a:r>
              <a:t>25:30 → 25:35   (5 s)   ·   Expone: Alvaro</a:t>
            </a:r>
          </a:p>
          <a:p>
            <a:r>
              <a:t>──────────────────────────────────────────────────────────────────────────────</a:t>
            </a:r>
          </a:p>
          <a:p>
            <a:r>
              <a:t>Cerramos con las conclusiones.</a:t>
            </a:r>
          </a:p>
          <a:p/>
          <a:p>
            <a:r>
              <a:t>[Avanzar sin detenerse]</a:t>
            </a:r>
          </a:p>
          <a:p/>
        </p:txBody>
      </p:sp>
      <p:sp>
        <p:nvSpPr>
          <p:cNvPr id="4" name="Slide Number Placeholder 3"/>
          <p:cNvSpPr>
            <a:spLocks noGrp="1"/>
          </p:cNvSpPr>
          <p:nvPr>
            <p:ph type="sldNum" idx="3"/>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07 · Conclusiones y prospectiva</a:t>
            </a:r>
          </a:p>
          <a:p>
            <a:r>
              <a:t>25:35 → 26:40   (65 s)   ·   Expone: Alvaro</a:t>
            </a:r>
          </a:p>
          <a:p>
            <a:r>
              <a:t>──────────────────────────────────────────────────────────────────────────────</a:t>
            </a:r>
          </a:p>
          <a:p>
            <a:r>
              <a:t>Verificamos primero el cumplimiento de los cinco objetivos específicos. Los cinco están cumplidos,</a:t>
            </a:r>
          </a:p>
          <a:p>
            <a:r>
              <a:t>con el capítulo donde se documenta cada uno.</a:t>
            </a:r>
          </a:p>
          <a:p/>
          <a:p>
            <a:r>
              <a:t>Un apunte de reproducibilidad: todo el código está versionado en GitHub, con las métricas exportadas</a:t>
            </a:r>
          </a:p>
          <a:p>
            <a:r>
              <a:t>a Excel y JSON y los modelos serializados para predecir sobre imágenes nuevas sin reentrenar.</a:t>
            </a:r>
          </a:p>
          <a:p/>
          <a:p>
            <a:r>
              <a:t>Las conclusiones principales son cuatro.</a:t>
            </a:r>
          </a:p>
          <a:p/>
          <a:p>
            <a:r>
              <a:t>Primera y más importante: no encontramos un algoritmo que se imponga de forma absoluta. El SVM</a:t>
            </a:r>
          </a:p>
          <a:p>
            <a:r>
              <a:t>ofrece la sensibilidad más alta a coste casi nulo; DenseNet201 ofrece una sensibilidad casi</a:t>
            </a:r>
          </a:p>
          <a:p>
            <a:r>
              <a:t>equivalente con un balance global mucho mejor.</a:t>
            </a:r>
          </a:p>
          <a:p/>
          <a:p>
            <a:r>
              <a:t>Segunda: balancear el dataset desplaza el punto de operación, no lo que el modelo aprende. Lo</a:t>
            </a:r>
          </a:p>
          <a:p>
            <a:r>
              <a:t>confirmamos en los dos algoritmos por separado.</a:t>
            </a:r>
          </a:p>
          <a:p/>
          <a:p>
            <a:r>
              <a:t>Tercera: los dos escenarios sirven a necesidades clínicas distintas.</a:t>
            </a:r>
          </a:p>
          <a:p/>
          <a:p>
            <a:r>
              <a:t>Y cuarta: la decisión de despliegue es contextual.</a:t>
            </a:r>
          </a:p>
          <a:p/>
        </p:txBody>
      </p:sp>
      <p:sp>
        <p:nvSpPr>
          <p:cNvPr id="4" name="Slide Number Placeholder 3"/>
          <p:cNvSpPr>
            <a:spLocks noGrp="1"/>
          </p:cNvSpPr>
          <p:nvPr>
            <p:ph type="sldNum" idx="3"/>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BLOQUE 07 · Conclusiones y prospectiva</a:t>
            </a:r>
          </a:p>
          <a:p>
            <a:r>
              <a:t>26:40 → 27:45   (65 s)   ·   Expone: Alvaro</a:t>
            </a:r>
          </a:p>
          <a:p>
            <a:r>
              <a:t>──────────────────────────────────────────────────────────────────────────────</a:t>
            </a:r>
          </a:p>
          <a:p>
            <a:r>
              <a:t>Terminamos con las limitaciones, que preferimos poner por delante, y el trabajo futuro.</a:t>
            </a:r>
          </a:p>
          <a:p/>
          <a:p>
            <a:r>
              <a:t>La limitación más importante no es técnica sino de representatividad. HAM10000 procede de</a:t>
            </a:r>
          </a:p>
          <a:p>
            <a:r>
              <a:t>poblaciones europeas y australianas, con fototipos de piel clara. La demografía ecuatoriana es</a:t>
            </a:r>
          </a:p>
          <a:p>
            <a:r>
              <a:t>predominantemente de fototipos altos. Desplegarlo directamente introduciría riesgo de pérdida de</a:t>
            </a:r>
          </a:p>
          <a:p>
            <a:r>
              <a:t>sensibilidad justo en la población a la que queremos servir.</a:t>
            </a:r>
          </a:p>
          <a:p/>
          <a:p>
            <a:r>
              <a:t>La segunda: la red opera solo sobre píxeles, dejando fuera edad, sexo y localización.</a:t>
            </a:r>
          </a:p>
          <a:p/>
          <a:p>
            <a:r>
              <a:t>La tercera: el melanoma acral lentiginoso, de altísima mortalidad en la región, está severamente</a:t>
            </a:r>
          </a:p>
          <a:p>
            <a:r>
              <a:t>infrarrepresentado.</a:t>
            </a:r>
          </a:p>
          <a:p/>
          <a:p>
            <a:r>
              <a:t>Y la cuarta es una autocrítica metodológica: la partición del Escenario 1 de DenseNet201 no agrupa</a:t>
            </a:r>
          </a:p>
          <a:p>
            <a:r>
              <a:t>por lesión. Lo reconocemos explícitamente.</a:t>
            </a:r>
          </a:p>
          <a:p/>
          <a:p>
            <a:r>
              <a:t>En trabajo futuro, la propuesta que más nos interesa es el muestreo asimétrico por cabeza: alimentar</a:t>
            </a:r>
          </a:p>
          <a:p>
            <a:r>
              <a:t>la Cabeza A con el dataset balanceado y la Cabeza B con el original en el mismo ciclo, para resolver</a:t>
            </a:r>
          </a:p>
          <a:p>
            <a:r>
              <a:t>el trade-off que hemos documentado. Después, el modelado multimodal, arquitecturas alternativas y,</a:t>
            </a:r>
          </a:p>
          <a:p>
            <a:r>
              <a:t>sobre todo, la validación multicéntrica con datos ecuatorianos.</a:t>
            </a:r>
          </a:p>
          <a:p/>
        </p:txBody>
      </p:sp>
      <p:sp>
        <p:nvSpPr>
          <p:cNvPr id="4" name="Slide Number Placeholder 3"/>
          <p:cNvSpPr>
            <a:spLocks noGrp="1"/>
          </p:cNvSpPr>
          <p:nvPr>
            <p:ph type="sldNum" idx="3"/>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CIERRE · Cierre</a:t>
            </a:r>
          </a:p>
          <a:p>
            <a:r>
              <a:t>27:45 → 28:15   (30 s)   ·   Expone: Alvaro y Christian</a:t>
            </a:r>
          </a:p>
          <a:p>
            <a:r>
              <a:t>──────────────────────────────────────────────────────────────────────────────</a:t>
            </a:r>
          </a:p>
          <a:p>
            <a:r>
              <a:t>Y con esto concluimos.</a:t>
            </a:r>
          </a:p>
          <a:p/>
          <a:p>
            <a:r>
              <a:t>Hemos comparado dos paradigmas sobre el mismo problema clínico, con un criterio de éxito definido</a:t>
            </a:r>
          </a:p>
          <a:p>
            <a:r>
              <a:t>desde la asimetría del coste del error, y hemos documentado tanto lo que gana cada uno como lo que</a:t>
            </a:r>
          </a:p>
          <a:p>
            <a:r>
              <a:t>cuesta.</a:t>
            </a:r>
          </a:p>
          <a:p/>
          <a:p>
            <a:r>
              <a:t>Muchas gracias por su atención. Quedamos a disposición del tribunal.</a:t>
            </a:r>
          </a:p>
          <a:p/>
          <a:p>
            <a:r>
              <a:t>[FIN DE LA EXPOSICIÓN — turno de preguntas · quedan ~2 min de margen sobre los 30]</a:t>
            </a:r>
          </a:p>
          <a:p/>
        </p:txBody>
      </p:sp>
      <p:sp>
        <p:nvSpPr>
          <p:cNvPr id="4" name="Slide Number Placeholder 3"/>
          <p:cNvSpPr>
            <a:spLocks noGrp="1"/>
          </p:cNvSpPr>
          <p:nvPr>
            <p:ph type="sldNum" idx="3"/>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6">
    <p:bg>
      <p:bgPr>
        <a:solidFill>
          <a:srgbClr val="FFFFFF"/>
        </a:solidFill>
      </p:bgPr>
    </p:bg>
    <p:spTree>
      <p:nvGrpSpPr>
        <p:cNvPr id="1" name=""/>
        <p:cNvGrpSpPr/>
        <p:nvPr/>
      </p:nvGrpSpPr>
      <p:grpSpPr>
        <a:xfrm>
          <a:off x="0" y="0"/>
          <a:ext cx="0" cy="0"/>
          <a:chOff x="0" y="0"/>
          <a:chExt cx="0" cy="0"/>
        </a:xfrm>
      </p:grpSpPr>
      <p:pic>
        <p:nvPicPr>
          <p:cNvPr id="2" name="Imagen 5" descr="Texto&#10;&#10;Descripción generada automáticamente"/>
          <p:cNvPicPr/>
          <p:nvPr/>
        </p:nvPicPr>
        <p:blipFill>
          <a:blip r:embed="rId2"/>
          <a:stretch/>
        </p:blipFill>
        <p:spPr>
          <a:xfrm>
            <a:off x="503280" y="9240840"/>
            <a:ext cx="3317760" cy="743040"/>
          </a:xfrm>
          <a:prstGeom prst="rect">
            <a:avLst/>
          </a:prstGeom>
          <a:noFill/>
          <a:ln w="0">
            <a:noFill/>
          </a:ln>
        </p:spPr>
      </p:pic>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7">
    <p:bg>
      <p:bgPr>
        <a:solidFill>
          <a:srgbClr val="FFFFFF"/>
        </a:solidFill>
      </p:bgPr>
    </p:bg>
    <p:spTree>
      <p:nvGrpSpPr>
        <p:cNvPr id="1" name=""/>
        <p:cNvGrpSpPr/>
        <p:nvPr/>
      </p:nvGrpSpPr>
      <p:grpSpPr>
        <a:xfrm>
          <a:off x="0" y="0"/>
          <a:ext cx="0" cy="0"/>
          <a:chOff x="0" y="0"/>
          <a:chExt cx="0" cy="0"/>
        </a:xfrm>
      </p:grpSpPr>
      <p:sp>
        <p:nvSpPr>
          <p:cNvPr id="3" name="Straight Connector 3"/>
          <p:cNvSpPr/>
          <p:nvPr/>
        </p:nvSpPr>
        <p:spPr>
          <a:xfrm>
            <a:off x="16745040" y="9186840"/>
            <a:ext cx="0" cy="743040"/>
          </a:xfrm>
          <a:prstGeom prst="line">
            <a:avLst/>
          </a:prstGeom>
          <a:ln w="63360">
            <a:solidFill>
              <a:srgbClr val="219BC3"/>
            </a:solidFill>
            <a:miter/>
          </a:ln>
        </p:spPr>
        <p:style>
          <a:lnRef idx="0"/>
          <a:fillRef idx="0"/>
          <a:effectRef idx="0"/>
          <a:fontRef idx="minor"/>
        </p:style>
        <p:txBody>
          <a:bodyPr lIns="90000" tIns="46800" rIns="90000" bIns="46800" anchor="t">
            <a:noAutofit/>
          </a:bodyPr>
          <a:p>
            <a:endParaRPr lang="en-US" sz="2700" b="0" u="none" strike="noStrike">
              <a:solidFill>
                <a:srgbClr val="0C0B0B"/>
              </a:solidFill>
              <a:effectLst/>
              <a:uFillTx/>
              <a:latin typeface="Franklin Gothic Book"/>
            </a:endParaRPr>
          </a:p>
        </p:txBody>
      </p:sp>
      <p:pic>
        <p:nvPicPr>
          <p:cNvPr id="4" name="Imagen 2" descr="Texto&#10;&#10;Descripción generada automáticamente"/>
          <p:cNvPicPr/>
          <p:nvPr/>
        </p:nvPicPr>
        <p:blipFill>
          <a:blip r:embed="rId2"/>
          <a:stretch/>
        </p:blipFill>
        <p:spPr>
          <a:xfrm>
            <a:off x="515880" y="9255240"/>
            <a:ext cx="3317760" cy="741240"/>
          </a:xfrm>
          <a:prstGeom prst="rect">
            <a:avLst/>
          </a:prstGeom>
          <a:noFill/>
          <a:ln w="0">
            <a:noFill/>
          </a:ln>
        </p:spPr>
      </p:pic>
      <p:sp>
        <p:nvSpPr>
          <p:cNvPr id="5" name="Straight Connector 9"/>
          <p:cNvSpPr/>
          <p:nvPr/>
        </p:nvSpPr>
        <p:spPr>
          <a:xfrm>
            <a:off x="704880" y="685800"/>
            <a:ext cx="0" cy="1028880"/>
          </a:xfrm>
          <a:prstGeom prst="line">
            <a:avLst/>
          </a:prstGeom>
          <a:ln w="63360">
            <a:solidFill>
              <a:srgbClr val="219BC3"/>
            </a:solidFill>
            <a:miter/>
          </a:ln>
        </p:spPr>
        <p:style>
          <a:lnRef idx="0"/>
          <a:fillRef idx="0"/>
          <a:effectRef idx="0"/>
          <a:fontRef idx="minor"/>
        </p:style>
        <p:txBody>
          <a:bodyPr lIns="90000" tIns="46800" rIns="90000" bIns="46800" anchor="t">
            <a:noAutofit/>
          </a:bodyPr>
          <a:p>
            <a:endParaRPr lang="en-US" sz="2700" b="0" u="none" strike="noStrike">
              <a:solidFill>
                <a:srgbClr val="0C0B0B"/>
              </a:solidFill>
              <a:effectLst/>
              <a:uFillTx/>
              <a:latin typeface="Franklin Gothic Book"/>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Rectangle 2"/>
          <p:cNvSpPr/>
          <p:nvPr/>
        </p:nvSpPr>
        <p:spPr>
          <a:xfrm>
            <a:off x="0" y="0"/>
            <a:ext cx="18288000" cy="9002880"/>
          </a:xfrm>
          <a:prstGeom prst="rect">
            <a:avLst/>
          </a:prstGeom>
          <a:solidFill>
            <a:srgbClr val="219BC3"/>
          </a:solidFill>
          <a:ln w="0">
            <a:noFill/>
          </a:ln>
        </p:spPr>
        <p:style>
          <a:lnRef idx="0"/>
          <a:fillRef idx="0"/>
          <a:effectRef idx="0"/>
          <a:fontRef idx="minor"/>
        </p:style>
        <p:txBody>
          <a:bodyPr anchor="ctr">
            <a:noAutofit/>
          </a:bodyPr>
          <a:p>
            <a:pPr algn="ctr">
              <a:lnSpc>
                <a:spcPct val="100000"/>
              </a:lnSpc>
              <a:tabLst>
                <a:tab pos="0" algn="l"/>
                <a:tab pos="1370160" algn="l"/>
                <a:tab pos="2739960" algn="l"/>
                <a:tab pos="4110120" algn="l"/>
                <a:tab pos="5479920" algn="l"/>
                <a:tab pos="6850080" algn="l"/>
                <a:tab pos="8220240" algn="l"/>
                <a:tab pos="9590040" algn="l"/>
                <a:tab pos="10960200" algn="l"/>
              </a:tabLst>
            </a:pPr>
            <a:endParaRPr lang="en-US" sz="2700" b="0" u="none" strike="noStrike">
              <a:solidFill>
                <a:srgbClr val="0C0B0B"/>
              </a:solidFill>
              <a:effectLst/>
              <a:uFillTx/>
              <a:latin typeface="Franklin Gothic Book"/>
            </a:endParaRPr>
          </a:p>
        </p:txBody>
      </p:sp>
      <p:sp>
        <p:nvSpPr>
          <p:cNvPr id="14" name="Rectángulo 15"/>
          <p:cNvSpPr/>
          <p:nvPr/>
        </p:nvSpPr>
        <p:spPr>
          <a:xfrm>
            <a:off x="0" y="9040680"/>
            <a:ext cx="18288000" cy="1246320"/>
          </a:xfrm>
          <a:prstGeom prst="rect">
            <a:avLst/>
          </a:prstGeom>
          <a:solidFill>
            <a:srgbClr val="FFFFFF"/>
          </a:solidFill>
          <a:ln w="0">
            <a:noFill/>
          </a:ln>
        </p:spPr>
        <p:style>
          <a:lnRef idx="0"/>
          <a:fillRef idx="0"/>
          <a:effectRef idx="0"/>
          <a:fontRef idx="minor"/>
        </p:style>
        <p:txBody>
          <a:bodyPr anchor="ctr">
            <a:noAutofit/>
          </a:bodyPr>
          <a:p>
            <a:pPr algn="ctr">
              <a:tabLst>
                <a:tab pos="0" algn="l"/>
                <a:tab pos="1370160" algn="l"/>
                <a:tab pos="2739960" algn="l"/>
                <a:tab pos="4110120" algn="l"/>
                <a:tab pos="5479920" algn="l"/>
                <a:tab pos="6850080" algn="l"/>
                <a:tab pos="8220240" algn="l"/>
                <a:tab pos="9590040" algn="l"/>
                <a:tab pos="10960200" algn="l"/>
              </a:tabLst>
            </a:pPr>
            <a:endParaRPr lang="en-US" sz="2700" b="0" u="none" strike="noStrike">
              <a:solidFill>
                <a:srgbClr val="0C0B0B"/>
              </a:solidFill>
              <a:effectLst/>
              <a:uFillTx/>
              <a:latin typeface="Franklin Gothic Book"/>
            </a:endParaRPr>
          </a:p>
        </p:txBody>
      </p:sp>
      <p:grpSp>
        <p:nvGrpSpPr>
          <p:cNvPr id="17" name="Agrupar 33"/>
          <p:cNvGrpSpPr/>
          <p:nvPr/>
        </p:nvGrpSpPr>
        <p:grpSpPr>
          <a:xfrm>
            <a:off x="1481328" y="1847088"/>
            <a:ext cx="795600" cy="708120"/>
            <a:chOff x="4294080" y="2455920"/>
            <a:chExt cx="795600" cy="708120"/>
          </a:xfrm>
        </p:grpSpPr>
        <p:sp>
          <p:nvSpPr>
            <p:cNvPr id="18" name="Conector recto 34"/>
            <p:cNvSpPr/>
            <p:nvPr/>
          </p:nvSpPr>
          <p:spPr>
            <a:xfrm>
              <a:off x="4294080" y="2468520"/>
              <a:ext cx="0" cy="695520"/>
            </a:xfrm>
            <a:prstGeom prst="line">
              <a:avLst/>
            </a:prstGeom>
            <a:ln cap="sq" w="63360">
              <a:solidFill>
                <a:srgbClr val="FFFFFF"/>
              </a:solidFill>
              <a:bevel/>
            </a:ln>
          </p:spPr>
          <p:style>
            <a:lnRef idx="0"/>
            <a:fillRef idx="0"/>
            <a:effectRef idx="0"/>
            <a:fontRef idx="minor"/>
          </p:style>
          <p:txBody>
            <a:bodyPr lIns="90000" tIns="46800" rIns="90000" bIns="46800" anchor="t">
              <a:noAutofit/>
            </a:bodyPr>
            <a:p>
              <a:endParaRPr lang="en-US" sz="2700" b="0" u="none" strike="noStrike">
                <a:solidFill>
                  <a:srgbClr val="0C0B0B"/>
                </a:solidFill>
                <a:effectLst/>
                <a:uFillTx/>
                <a:latin typeface="Franklin Gothic Book"/>
              </a:endParaRPr>
            </a:p>
          </p:txBody>
        </p:sp>
        <p:sp>
          <p:nvSpPr>
            <p:cNvPr id="19" name="Conector recto 35"/>
            <p:cNvSpPr/>
            <p:nvPr/>
          </p:nvSpPr>
          <p:spPr>
            <a:xfrm flipH="1">
              <a:off x="4294080" y="2455920"/>
              <a:ext cx="795600" cy="0"/>
            </a:xfrm>
            <a:prstGeom prst="line">
              <a:avLst/>
            </a:prstGeom>
            <a:ln cap="sq" w="63360">
              <a:solidFill>
                <a:srgbClr val="FFFFFF"/>
              </a:solidFill>
              <a:bevel/>
            </a:ln>
          </p:spPr>
          <p:style>
            <a:lnRef idx="0"/>
            <a:fillRef idx="0"/>
            <a:effectRef idx="0"/>
            <a:fontRef idx="minor"/>
          </p:style>
          <p:txBody>
            <a:bodyPr lIns="90000" tIns="-46800" rIns="90000" bIns="-46800" anchor="t">
              <a:noAutofit/>
            </a:bodyPr>
            <a:p>
              <a:endParaRPr lang="en-US" sz="2700" b="0" u="none" strike="noStrike">
                <a:solidFill>
                  <a:srgbClr val="0C0B0B"/>
                </a:solidFill>
                <a:effectLst/>
                <a:uFillTx/>
                <a:latin typeface="Franklin Gothic Book"/>
              </a:endParaRPr>
            </a:p>
          </p:txBody>
        </p:sp>
      </p:grpSp>
      <p:grpSp>
        <p:nvGrpSpPr>
          <p:cNvPr id="20" name="Agrupar 36"/>
          <p:cNvGrpSpPr/>
          <p:nvPr/>
        </p:nvGrpSpPr>
        <p:grpSpPr>
          <a:xfrm>
            <a:off x="16011144" y="7360920"/>
            <a:ext cx="794880" cy="707760"/>
            <a:chOff x="13157280" y="5581800"/>
            <a:chExt cx="794880" cy="707760"/>
          </a:xfrm>
        </p:grpSpPr>
        <p:sp>
          <p:nvSpPr>
            <p:cNvPr id="21" name="Conector recto 37"/>
            <p:cNvSpPr/>
            <p:nvPr/>
          </p:nvSpPr>
          <p:spPr>
            <a:xfrm flipV="1">
              <a:off x="13952160" y="5581800"/>
              <a:ext cx="0" cy="695160"/>
            </a:xfrm>
            <a:prstGeom prst="line">
              <a:avLst/>
            </a:prstGeom>
            <a:ln cap="sq" w="63360">
              <a:solidFill>
                <a:srgbClr val="FFFFFF"/>
              </a:solidFill>
              <a:bevel/>
            </a:ln>
          </p:spPr>
          <p:style>
            <a:lnRef idx="0"/>
            <a:fillRef idx="0"/>
            <a:effectRef idx="0"/>
            <a:fontRef idx="minor"/>
          </p:style>
          <p:txBody>
            <a:bodyPr lIns="90000" tIns="46800" rIns="90000" bIns="46800" anchor="t">
              <a:noAutofit/>
            </a:bodyPr>
            <a:p>
              <a:endParaRPr lang="en-US" sz="2700" b="0" u="none" strike="noStrike">
                <a:solidFill>
                  <a:srgbClr val="0C0B0B"/>
                </a:solidFill>
                <a:effectLst/>
                <a:uFillTx/>
                <a:latin typeface="Franklin Gothic Book"/>
              </a:endParaRPr>
            </a:p>
          </p:txBody>
        </p:sp>
        <p:sp>
          <p:nvSpPr>
            <p:cNvPr id="22" name="Conector recto 38"/>
            <p:cNvSpPr/>
            <p:nvPr/>
          </p:nvSpPr>
          <p:spPr>
            <a:xfrm>
              <a:off x="13157280" y="6289560"/>
              <a:ext cx="792360" cy="0"/>
            </a:xfrm>
            <a:prstGeom prst="line">
              <a:avLst/>
            </a:prstGeom>
            <a:ln cap="sq" w="63360">
              <a:solidFill>
                <a:srgbClr val="FFFFFF"/>
              </a:solidFill>
              <a:bevel/>
            </a:ln>
          </p:spPr>
          <p:style>
            <a:lnRef idx="0"/>
            <a:fillRef idx="0"/>
            <a:effectRef idx="0"/>
            <a:fontRef idx="minor"/>
          </p:style>
          <p:txBody>
            <a:bodyPr lIns="90000" tIns="-46800" rIns="90000" bIns="-46800" anchor="t">
              <a:noAutofit/>
            </a:bodyPr>
            <a:p>
              <a:endParaRPr lang="en-US" sz="2700" b="0" u="none" strike="noStrike">
                <a:solidFill>
                  <a:srgbClr val="0C0B0B"/>
                </a:solidFill>
                <a:effectLst/>
                <a:uFillTx/>
                <a:latin typeface="Franklin Gothic Book"/>
              </a:endParaRPr>
            </a:p>
          </p:txBody>
        </p:sp>
      </p:grpSp>
      <p:pic>
        <p:nvPicPr>
          <p:cNvPr id="23" name="Imagen 2" descr="Texto&#10;&#10;Descripción generada automáticamente"/>
          <p:cNvPicPr/>
          <p:nvPr/>
        </p:nvPicPr>
        <p:blipFill>
          <a:blip r:embed="rId1"/>
          <a:stretch/>
        </p:blipFill>
        <p:spPr>
          <a:xfrm>
            <a:off x="493560" y="9247320"/>
            <a:ext cx="3318120" cy="742680"/>
          </a:xfrm>
          <a:prstGeom prst="rect">
            <a:avLst/>
          </a:prstGeom>
          <a:noFill/>
          <a:ln w="0">
            <a:noFill/>
          </a:ln>
        </p:spPr>
      </p:pic>
      <p:sp>
        <p:nvSpPr>
          <p:cNvPr id="24" name="TextBox 23"/>
          <p:cNvSpPr txBox="1"/>
          <p:nvPr/>
        </p:nvSpPr>
        <p:spPr>
          <a:xfrm>
            <a:off x="2103120" y="2212848"/>
            <a:ext cx="14081760" cy="2788920"/>
          </a:xfrm>
          <a:prstGeom prst="rect">
            <a:avLst/>
          </a:prstGeom>
          <a:noFill/>
        </p:spPr>
        <p:txBody>
          <a:bodyPr wrap="square" lIns="18288" rIns="18288" tIns="0" bIns="0" anchor="ctr">
            <a:spAutoFit/>
          </a:bodyPr>
          <a:lstStyle/>
          <a:p>
            <a:pPr algn="ctr">
              <a:lnSpc>
                <a:spcPct val="102000"/>
              </a:lnSpc>
              <a:spcBef>
                <a:spcPts val="0"/>
              </a:spcBef>
              <a:spcAft>
                <a:spcPts val="0"/>
              </a:spcAft>
            </a:pPr>
            <a:r>
              <a:rPr sz="4700" b="1" i="0">
                <a:solidFill>
                  <a:srgbClr val="FFFFFF"/>
                </a:solidFill>
                <a:latin typeface="Arial"/>
              </a:rPr>
              <a:t>Evaluación comparativa de SVM y DenseNet201 para la clasificación automática de enfermedades dermatológicas</a:t>
            </a:r>
          </a:p>
        </p:txBody>
      </p:sp>
      <p:sp>
        <p:nvSpPr>
          <p:cNvPr id="25" name="Rectangle 24"/>
          <p:cNvSpPr/>
          <p:nvPr/>
        </p:nvSpPr>
        <p:spPr>
          <a:xfrm>
            <a:off x="7863840" y="5230368"/>
            <a:ext cx="2560320" cy="502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188720" y="5577840"/>
            <a:ext cx="15910559" cy="1463040"/>
          </a:xfrm>
          <a:prstGeom prst="rect">
            <a:avLst/>
          </a:prstGeom>
          <a:noFill/>
        </p:spPr>
        <p:txBody>
          <a:bodyPr wrap="square" lIns="18288" rIns="18288" tIns="0" bIns="0" anchor="t">
            <a:spAutoFit/>
          </a:bodyPr>
          <a:lstStyle/>
          <a:p>
            <a:pPr algn="ctr">
              <a:lnSpc>
                <a:spcPct val="105000"/>
              </a:lnSpc>
              <a:spcBef>
                <a:spcPts val="0"/>
              </a:spcBef>
              <a:spcAft>
                <a:spcPts val="1600"/>
              </a:spcAft>
            </a:pPr>
            <a:r>
              <a:rPr sz="2100" b="0" i="0">
                <a:solidFill>
                  <a:srgbClr val="FFFFFF"/>
                </a:solidFill>
                <a:latin typeface="Arial"/>
              </a:rPr>
              <a:t>Trabajo Fin de Máster  ·  Máster Universitario en Análisis y Visualización de Datos Masivos / Visual Analytics and Big Data</a:t>
            </a:r>
          </a:p>
          <a:p>
            <a:pPr algn="ctr">
              <a:lnSpc>
                <a:spcPct val="105000"/>
              </a:lnSpc>
              <a:spcBef>
                <a:spcPts val="0"/>
              </a:spcBef>
              <a:spcAft>
                <a:spcPts val="1000"/>
              </a:spcAft>
            </a:pPr>
            <a:r>
              <a:rPr sz="2700" b="1" i="0">
                <a:solidFill>
                  <a:srgbClr val="FFFFFF"/>
                </a:solidFill>
                <a:latin typeface="Arial"/>
              </a:rPr>
              <a:t>Christian Marcelo Gutiérrez Gutiérrez     ·     Alvaro Marcelo Gutiérrez Burbano</a:t>
            </a:r>
          </a:p>
          <a:p>
            <a:pPr algn="ctr">
              <a:lnSpc>
                <a:spcPct val="105000"/>
              </a:lnSpc>
              <a:spcBef>
                <a:spcPts val="0"/>
              </a:spcBef>
              <a:spcAft>
                <a:spcPts val="0"/>
              </a:spcAft>
            </a:pPr>
            <a:r>
              <a:rPr sz="2100" b="0" i="0">
                <a:solidFill>
                  <a:srgbClr val="FFFFFF"/>
                </a:solidFill>
                <a:latin typeface="Arial"/>
              </a:rPr>
              <a:t>Director:  Víctor D. Díaz Suárez</a:t>
            </a:r>
          </a:p>
        </p:txBody>
      </p:sp>
      <p:sp>
        <p:nvSpPr>
          <p:cNvPr id="27" name="TextBox 26"/>
          <p:cNvSpPr txBox="1"/>
          <p:nvPr/>
        </p:nvSpPr>
        <p:spPr>
          <a:xfrm>
            <a:off x="2103120" y="7589520"/>
            <a:ext cx="14081760" cy="411480"/>
          </a:xfrm>
          <a:prstGeom prst="rect">
            <a:avLst/>
          </a:prstGeom>
          <a:noFill/>
        </p:spPr>
        <p:txBody>
          <a:bodyPr wrap="square" lIns="18288" rIns="18288" tIns="0" bIns="0" anchor="t">
            <a:spAutoFit/>
          </a:bodyPr>
          <a:lstStyle/>
          <a:p>
            <a:pPr algn="ctr">
              <a:spcBef>
                <a:spcPts val="0"/>
              </a:spcBef>
              <a:spcAft>
                <a:spcPts val="0"/>
              </a:spcAft>
            </a:pPr>
            <a:r>
              <a:rPr sz="1800" b="0" i="0">
                <a:solidFill>
                  <a:srgbClr val="FFFFFF"/>
                </a:solidFill>
                <a:latin typeface="Arial"/>
              </a:rPr>
              <a:t>Escuela Superior de Ingeniería y Tecnología  ·  Universidad Internacional de La Rioja  ·  2026</a:t>
            </a:r>
          </a:p>
        </p:txBody>
      </p:sp>
    </p:spTree>
  </p:cSld>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Rectangle 7"/>
          <p:cNvSpPr/>
          <p:nvPr/>
        </p:nvSpPr>
        <p:spPr>
          <a:xfrm flipH="1" flipV="1" rot="5400000">
            <a:off x="-571320" y="570600"/>
            <a:ext cx="10287000" cy="9144000"/>
          </a:xfrm>
          <a:prstGeom prst="rect">
            <a:avLst/>
          </a:prstGeom>
          <a:solidFill>
            <a:srgbClr val="219BC3"/>
          </a:solidFill>
          <a:ln w="12600">
            <a:solidFill>
              <a:srgbClr val="15718F"/>
            </a:solidFill>
            <a:miter/>
          </a:ln>
        </p:spPr>
        <p:style>
          <a:lnRef idx="0"/>
          <a:fillRef idx="0"/>
          <a:effectRef idx="0"/>
          <a:fontRef idx="minor"/>
        </p:style>
        <p:txBody>
          <a:bodyPr anchor="ctr">
            <a:noAutofit/>
          </a:bodyPr>
          <a:p>
            <a:pPr algn="ctr">
              <a:tabLst>
                <a:tab pos="0" algn="l"/>
                <a:tab pos="1370160" algn="l"/>
                <a:tab pos="2739960" algn="l"/>
                <a:tab pos="4110120" algn="l"/>
                <a:tab pos="5479920" algn="l"/>
                <a:tab pos="6850080" algn="l"/>
                <a:tab pos="8220240" algn="l"/>
                <a:tab pos="9590040" algn="l"/>
                <a:tab pos="10960200" algn="l"/>
              </a:tabLst>
            </a:pPr>
            <a:endParaRPr lang="en-US" sz="2700" b="0" u="none" strike="noStrike">
              <a:solidFill>
                <a:srgbClr val="0C0B0B"/>
              </a:solidFill>
              <a:effectLst/>
              <a:uFillTx/>
              <a:latin typeface="Franklin Gothic Book"/>
            </a:endParaRPr>
          </a:p>
        </p:txBody>
      </p:sp>
      <p:sp>
        <p:nvSpPr>
          <p:cNvPr id="25" name="TextBox 24"/>
          <p:cNvSpPr txBox="1"/>
          <p:nvPr/>
        </p:nvSpPr>
        <p:spPr>
          <a:xfrm>
            <a:off x="685800" y="3749039"/>
            <a:ext cx="7772400" cy="1828800"/>
          </a:xfrm>
          <a:prstGeom prst="rect">
            <a:avLst/>
          </a:prstGeom>
          <a:noFill/>
        </p:spPr>
        <p:txBody>
          <a:bodyPr wrap="square" lIns="18288" rIns="18288" tIns="0" bIns="0" anchor="ctr">
            <a:spAutoFit/>
          </a:bodyPr>
          <a:lstStyle/>
          <a:p>
            <a:pPr algn="l">
              <a:lnSpc>
                <a:spcPct val="100000"/>
              </a:lnSpc>
              <a:spcBef>
                <a:spcPts val="0"/>
              </a:spcBef>
              <a:spcAft>
                <a:spcPts val="1000"/>
              </a:spcAft>
            </a:pPr>
            <a:r>
              <a:rPr sz="7800" b="0" i="0">
                <a:solidFill>
                  <a:srgbClr val="FFFFFF"/>
                </a:solidFill>
                <a:latin typeface="Arial"/>
              </a:rPr>
              <a:t>ÍNDICE</a:t>
            </a:r>
          </a:p>
          <a:p>
            <a:pPr algn="l">
              <a:lnSpc>
                <a:spcPct val="100000"/>
              </a:lnSpc>
              <a:spcBef>
                <a:spcPts val="0"/>
              </a:spcBef>
              <a:spcAft>
                <a:spcPts val="0"/>
              </a:spcAft>
            </a:pPr>
            <a:r>
              <a:rPr sz="2400" b="0" i="0">
                <a:solidFill>
                  <a:srgbClr val="FFFFFF"/>
                </a:solidFill>
                <a:latin typeface="Arial"/>
              </a:rPr>
              <a:t>30 minutos</a:t>
            </a:r>
          </a:p>
        </p:txBody>
      </p:sp>
      <p:sp>
        <p:nvSpPr>
          <p:cNvPr id="26" name="TextBox 25"/>
          <p:cNvSpPr txBox="1"/>
          <p:nvPr/>
        </p:nvSpPr>
        <p:spPr>
          <a:xfrm>
            <a:off x="10341864" y="2011680"/>
            <a:ext cx="7498079" cy="841248"/>
          </a:xfrm>
          <a:prstGeom prst="rect">
            <a:avLst/>
          </a:prstGeom>
          <a:noFill/>
        </p:spPr>
        <p:txBody>
          <a:bodyPr wrap="square" lIns="18288" rIns="18288" tIns="0" bIns="0" anchor="ctr">
            <a:spAutoFit/>
          </a:bodyPr>
          <a:lstStyle/>
          <a:p>
            <a:pPr algn="l">
              <a:lnSpc>
                <a:spcPct val="100000"/>
              </a:lnSpc>
              <a:spcBef>
                <a:spcPts val="0"/>
              </a:spcBef>
              <a:spcAft>
                <a:spcPts val="0"/>
              </a:spcAft>
            </a:pPr>
            <a:r>
              <a:rPr sz="2900" b="0" i="0">
                <a:solidFill>
                  <a:srgbClr val="C0C0C8"/>
                </a:solidFill>
                <a:latin typeface="Arial"/>
              </a:rPr>
              <a:t>01   </a:t>
            </a:r>
            <a:r>
              <a:rPr sz="2900" b="1" i="0">
                <a:solidFill>
                  <a:srgbClr val="00566C"/>
                </a:solidFill>
                <a:latin typeface="Arial"/>
              </a:rPr>
              <a:t>Introducción y contexto</a:t>
            </a:r>
          </a:p>
          <a:p>
            <a:pPr algn="l">
              <a:lnSpc>
                <a:spcPct val="100000"/>
              </a:lnSpc>
              <a:spcBef>
                <a:spcPts val="0"/>
              </a:spcBef>
              <a:spcAft>
                <a:spcPts val="0"/>
              </a:spcAft>
            </a:pPr>
            <a:r>
              <a:rPr sz="1600" b="0" i="0">
                <a:solidFill>
                  <a:srgbClr val="219BC3"/>
                </a:solidFill>
                <a:latin typeface="Arial"/>
              </a:rPr>
              <a:t>4 min   ·   Christian</a:t>
            </a:r>
          </a:p>
        </p:txBody>
      </p:sp>
      <p:sp>
        <p:nvSpPr>
          <p:cNvPr id="27" name="Rectangle 26"/>
          <p:cNvSpPr/>
          <p:nvPr/>
        </p:nvSpPr>
        <p:spPr>
          <a:xfrm>
            <a:off x="10341864" y="2907792"/>
            <a:ext cx="7406640" cy="10972"/>
          </a:xfrm>
          <a:prstGeom prst="rect">
            <a:avLst/>
          </a:prstGeom>
          <a:solidFill>
            <a:srgbClr val="E6E6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0341864" y="2980944"/>
            <a:ext cx="7498079" cy="841248"/>
          </a:xfrm>
          <a:prstGeom prst="rect">
            <a:avLst/>
          </a:prstGeom>
          <a:noFill/>
        </p:spPr>
        <p:txBody>
          <a:bodyPr wrap="square" lIns="18288" rIns="18288" tIns="0" bIns="0" anchor="ctr">
            <a:spAutoFit/>
          </a:bodyPr>
          <a:lstStyle/>
          <a:p>
            <a:pPr algn="l">
              <a:lnSpc>
                <a:spcPct val="100000"/>
              </a:lnSpc>
              <a:spcBef>
                <a:spcPts val="0"/>
              </a:spcBef>
              <a:spcAft>
                <a:spcPts val="0"/>
              </a:spcAft>
            </a:pPr>
            <a:r>
              <a:rPr sz="2900" b="0" i="0">
                <a:solidFill>
                  <a:srgbClr val="C0C0C8"/>
                </a:solidFill>
                <a:latin typeface="Arial"/>
              </a:rPr>
              <a:t>02   </a:t>
            </a:r>
            <a:r>
              <a:rPr sz="2900" b="1" i="0">
                <a:solidFill>
                  <a:srgbClr val="00566C"/>
                </a:solidFill>
                <a:latin typeface="Arial"/>
              </a:rPr>
              <a:t>Metodología</a:t>
            </a:r>
          </a:p>
          <a:p>
            <a:pPr algn="l">
              <a:lnSpc>
                <a:spcPct val="100000"/>
              </a:lnSpc>
              <a:spcBef>
                <a:spcPts val="0"/>
              </a:spcBef>
              <a:spcAft>
                <a:spcPts val="0"/>
              </a:spcAft>
            </a:pPr>
            <a:r>
              <a:rPr sz="1600" b="0" i="0">
                <a:solidFill>
                  <a:srgbClr val="219BC3"/>
                </a:solidFill>
                <a:latin typeface="Arial"/>
              </a:rPr>
              <a:t>3 min   ·   Christian</a:t>
            </a:r>
          </a:p>
        </p:txBody>
      </p:sp>
      <p:sp>
        <p:nvSpPr>
          <p:cNvPr id="29" name="Rectangle 28"/>
          <p:cNvSpPr/>
          <p:nvPr/>
        </p:nvSpPr>
        <p:spPr>
          <a:xfrm>
            <a:off x="10341864" y="3877056"/>
            <a:ext cx="7406640" cy="10972"/>
          </a:xfrm>
          <a:prstGeom prst="rect">
            <a:avLst/>
          </a:prstGeom>
          <a:solidFill>
            <a:srgbClr val="E6E6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341864" y="3950208"/>
            <a:ext cx="7498079" cy="841248"/>
          </a:xfrm>
          <a:prstGeom prst="rect">
            <a:avLst/>
          </a:prstGeom>
          <a:noFill/>
        </p:spPr>
        <p:txBody>
          <a:bodyPr wrap="square" lIns="18288" rIns="18288" tIns="0" bIns="0" anchor="ctr">
            <a:spAutoFit/>
          </a:bodyPr>
          <a:lstStyle/>
          <a:p>
            <a:pPr algn="l">
              <a:lnSpc>
                <a:spcPct val="100000"/>
              </a:lnSpc>
              <a:spcBef>
                <a:spcPts val="0"/>
              </a:spcBef>
              <a:spcAft>
                <a:spcPts val="0"/>
              </a:spcAft>
            </a:pPr>
            <a:r>
              <a:rPr sz="2900" b="0" i="0">
                <a:solidFill>
                  <a:srgbClr val="C0C0C8"/>
                </a:solidFill>
                <a:latin typeface="Arial"/>
              </a:rPr>
              <a:t>03   </a:t>
            </a:r>
            <a:r>
              <a:rPr sz="2900" b="1" i="0">
                <a:solidFill>
                  <a:srgbClr val="00566C"/>
                </a:solidFill>
                <a:latin typeface="Arial"/>
              </a:rPr>
              <a:t>Comprensión de los datos</a:t>
            </a:r>
          </a:p>
          <a:p>
            <a:pPr algn="l">
              <a:lnSpc>
                <a:spcPct val="100000"/>
              </a:lnSpc>
              <a:spcBef>
                <a:spcPts val="0"/>
              </a:spcBef>
              <a:spcAft>
                <a:spcPts val="0"/>
              </a:spcAft>
            </a:pPr>
            <a:r>
              <a:rPr sz="1600" b="0" i="0">
                <a:solidFill>
                  <a:srgbClr val="219BC3"/>
                </a:solidFill>
                <a:latin typeface="Arial"/>
              </a:rPr>
              <a:t>5 min   ·   Christian</a:t>
            </a:r>
          </a:p>
        </p:txBody>
      </p:sp>
      <p:sp>
        <p:nvSpPr>
          <p:cNvPr id="31" name="Rectangle 30"/>
          <p:cNvSpPr/>
          <p:nvPr/>
        </p:nvSpPr>
        <p:spPr>
          <a:xfrm>
            <a:off x="10341864" y="4846320"/>
            <a:ext cx="7406640" cy="10972"/>
          </a:xfrm>
          <a:prstGeom prst="rect">
            <a:avLst/>
          </a:prstGeom>
          <a:solidFill>
            <a:srgbClr val="E6E6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0341864" y="4919472"/>
            <a:ext cx="7498079" cy="841248"/>
          </a:xfrm>
          <a:prstGeom prst="rect">
            <a:avLst/>
          </a:prstGeom>
          <a:noFill/>
        </p:spPr>
        <p:txBody>
          <a:bodyPr wrap="square" lIns="18288" rIns="18288" tIns="0" bIns="0" anchor="ctr">
            <a:spAutoFit/>
          </a:bodyPr>
          <a:lstStyle/>
          <a:p>
            <a:pPr algn="l">
              <a:lnSpc>
                <a:spcPct val="100000"/>
              </a:lnSpc>
              <a:spcBef>
                <a:spcPts val="0"/>
              </a:spcBef>
              <a:spcAft>
                <a:spcPts val="0"/>
              </a:spcAft>
            </a:pPr>
            <a:r>
              <a:rPr sz="2900" b="0" i="0">
                <a:solidFill>
                  <a:srgbClr val="C0C0C8"/>
                </a:solidFill>
                <a:latin typeface="Arial"/>
              </a:rPr>
              <a:t>04   </a:t>
            </a:r>
            <a:r>
              <a:rPr sz="2900" b="1" i="0">
                <a:solidFill>
                  <a:srgbClr val="00566C"/>
                </a:solidFill>
                <a:latin typeface="Arial"/>
              </a:rPr>
              <a:t>Preparación de los datos</a:t>
            </a:r>
          </a:p>
          <a:p>
            <a:pPr algn="l">
              <a:lnSpc>
                <a:spcPct val="100000"/>
              </a:lnSpc>
              <a:spcBef>
                <a:spcPts val="0"/>
              </a:spcBef>
              <a:spcAft>
                <a:spcPts val="0"/>
              </a:spcAft>
            </a:pPr>
            <a:r>
              <a:rPr sz="1600" b="0" i="0">
                <a:solidFill>
                  <a:srgbClr val="219BC3"/>
                </a:solidFill>
                <a:latin typeface="Arial"/>
              </a:rPr>
              <a:t>3 min   ·   Alvaro</a:t>
            </a:r>
          </a:p>
        </p:txBody>
      </p:sp>
      <p:sp>
        <p:nvSpPr>
          <p:cNvPr id="33" name="Rectangle 32"/>
          <p:cNvSpPr/>
          <p:nvPr/>
        </p:nvSpPr>
        <p:spPr>
          <a:xfrm>
            <a:off x="10341864" y="5815584"/>
            <a:ext cx="7406640" cy="10972"/>
          </a:xfrm>
          <a:prstGeom prst="rect">
            <a:avLst/>
          </a:prstGeom>
          <a:solidFill>
            <a:srgbClr val="E6E6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0341864" y="5888736"/>
            <a:ext cx="7498079" cy="841248"/>
          </a:xfrm>
          <a:prstGeom prst="rect">
            <a:avLst/>
          </a:prstGeom>
          <a:noFill/>
        </p:spPr>
        <p:txBody>
          <a:bodyPr wrap="square" lIns="18288" rIns="18288" tIns="0" bIns="0" anchor="ctr">
            <a:spAutoFit/>
          </a:bodyPr>
          <a:lstStyle/>
          <a:p>
            <a:pPr algn="l">
              <a:lnSpc>
                <a:spcPct val="100000"/>
              </a:lnSpc>
              <a:spcBef>
                <a:spcPts val="0"/>
              </a:spcBef>
              <a:spcAft>
                <a:spcPts val="0"/>
              </a:spcAft>
            </a:pPr>
            <a:r>
              <a:rPr sz="2900" b="0" i="0">
                <a:solidFill>
                  <a:srgbClr val="C0C0C8"/>
                </a:solidFill>
                <a:latin typeface="Arial"/>
              </a:rPr>
              <a:t>05   </a:t>
            </a:r>
            <a:r>
              <a:rPr sz="2900" b="1" i="0">
                <a:solidFill>
                  <a:srgbClr val="00566C"/>
                </a:solidFill>
                <a:latin typeface="Arial"/>
              </a:rPr>
              <a:t>Modelado</a:t>
            </a:r>
          </a:p>
          <a:p>
            <a:pPr algn="l">
              <a:lnSpc>
                <a:spcPct val="100000"/>
              </a:lnSpc>
              <a:spcBef>
                <a:spcPts val="0"/>
              </a:spcBef>
              <a:spcAft>
                <a:spcPts val="0"/>
              </a:spcAft>
            </a:pPr>
            <a:r>
              <a:rPr sz="1600" b="0" i="0">
                <a:solidFill>
                  <a:srgbClr val="219BC3"/>
                </a:solidFill>
                <a:latin typeface="Arial"/>
              </a:rPr>
              <a:t>3 min   ·   Alvaro</a:t>
            </a:r>
          </a:p>
        </p:txBody>
      </p:sp>
      <p:sp>
        <p:nvSpPr>
          <p:cNvPr id="35" name="Rectangle 34"/>
          <p:cNvSpPr/>
          <p:nvPr/>
        </p:nvSpPr>
        <p:spPr>
          <a:xfrm>
            <a:off x="10341864" y="6784848"/>
            <a:ext cx="7406640" cy="10972"/>
          </a:xfrm>
          <a:prstGeom prst="rect">
            <a:avLst/>
          </a:prstGeom>
          <a:solidFill>
            <a:srgbClr val="E6E6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341864" y="6858000"/>
            <a:ext cx="7498079" cy="841248"/>
          </a:xfrm>
          <a:prstGeom prst="rect">
            <a:avLst/>
          </a:prstGeom>
          <a:noFill/>
        </p:spPr>
        <p:txBody>
          <a:bodyPr wrap="square" lIns="18288" rIns="18288" tIns="0" bIns="0" anchor="ctr">
            <a:spAutoFit/>
          </a:bodyPr>
          <a:lstStyle/>
          <a:p>
            <a:pPr algn="l">
              <a:lnSpc>
                <a:spcPct val="100000"/>
              </a:lnSpc>
              <a:spcBef>
                <a:spcPts val="0"/>
              </a:spcBef>
              <a:spcAft>
                <a:spcPts val="0"/>
              </a:spcAft>
            </a:pPr>
            <a:r>
              <a:rPr sz="2900" b="0" i="0">
                <a:solidFill>
                  <a:srgbClr val="C0C0C8"/>
                </a:solidFill>
                <a:latin typeface="Arial"/>
              </a:rPr>
              <a:t>06   </a:t>
            </a:r>
            <a:r>
              <a:rPr sz="2900" b="1" i="0">
                <a:solidFill>
                  <a:srgbClr val="00566C"/>
                </a:solidFill>
                <a:latin typeface="Arial"/>
              </a:rPr>
              <a:t>Evaluación y resultados</a:t>
            </a:r>
          </a:p>
          <a:p>
            <a:pPr algn="l">
              <a:lnSpc>
                <a:spcPct val="100000"/>
              </a:lnSpc>
              <a:spcBef>
                <a:spcPts val="0"/>
              </a:spcBef>
              <a:spcAft>
                <a:spcPts val="0"/>
              </a:spcAft>
            </a:pPr>
            <a:r>
              <a:rPr sz="1600" b="0" i="0">
                <a:solidFill>
                  <a:srgbClr val="219BC3"/>
                </a:solidFill>
                <a:latin typeface="Arial"/>
              </a:rPr>
              <a:t>6 min   ·   Alvaro</a:t>
            </a:r>
          </a:p>
        </p:txBody>
      </p:sp>
      <p:sp>
        <p:nvSpPr>
          <p:cNvPr id="37" name="Rectangle 36"/>
          <p:cNvSpPr/>
          <p:nvPr/>
        </p:nvSpPr>
        <p:spPr>
          <a:xfrm>
            <a:off x="10341864" y="7754112"/>
            <a:ext cx="7406640" cy="10972"/>
          </a:xfrm>
          <a:prstGeom prst="rect">
            <a:avLst/>
          </a:prstGeom>
          <a:solidFill>
            <a:srgbClr val="E6E6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10341864" y="7827264"/>
            <a:ext cx="7498079" cy="841248"/>
          </a:xfrm>
          <a:prstGeom prst="rect">
            <a:avLst/>
          </a:prstGeom>
          <a:noFill/>
        </p:spPr>
        <p:txBody>
          <a:bodyPr wrap="square" lIns="18288" rIns="18288" tIns="0" bIns="0" anchor="ctr">
            <a:spAutoFit/>
          </a:bodyPr>
          <a:lstStyle/>
          <a:p>
            <a:pPr algn="l">
              <a:lnSpc>
                <a:spcPct val="100000"/>
              </a:lnSpc>
              <a:spcBef>
                <a:spcPts val="0"/>
              </a:spcBef>
              <a:spcAft>
                <a:spcPts val="0"/>
              </a:spcAft>
            </a:pPr>
            <a:r>
              <a:rPr sz="2900" b="0" i="0">
                <a:solidFill>
                  <a:srgbClr val="C0C0C8"/>
                </a:solidFill>
                <a:latin typeface="Arial"/>
              </a:rPr>
              <a:t>07   </a:t>
            </a:r>
            <a:r>
              <a:rPr sz="2900" b="1" i="0">
                <a:solidFill>
                  <a:srgbClr val="00566C"/>
                </a:solidFill>
                <a:latin typeface="Arial"/>
              </a:rPr>
              <a:t>Conclusiones y prospectiva</a:t>
            </a:r>
          </a:p>
          <a:p>
            <a:pPr algn="l">
              <a:lnSpc>
                <a:spcPct val="100000"/>
              </a:lnSpc>
              <a:spcBef>
                <a:spcPts val="0"/>
              </a:spcBef>
              <a:spcAft>
                <a:spcPts val="0"/>
              </a:spcAft>
            </a:pPr>
            <a:r>
              <a:rPr sz="1600" b="0" i="0">
                <a:solidFill>
                  <a:srgbClr val="219BC3"/>
                </a:solidFill>
                <a:latin typeface="Arial"/>
              </a:rPr>
              <a:t>2 min   ·   Alvaro</a:t>
            </a:r>
          </a:p>
        </p:txBody>
      </p:sp>
      <p:sp>
        <p:nvSpPr>
          <p:cNvPr id="39" name="TextBox 38"/>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01</a:t>
            </a:r>
          </a:p>
        </p:txBody>
      </p:sp>
    </p:spTree>
  </p:cSld>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TextBox 2"/>
          <p:cNvSpPr/>
          <p:nvPr/>
        </p:nvSpPr>
        <p:spPr>
          <a:xfrm>
            <a:off x="5591160" y="4589640"/>
            <a:ext cx="7105680" cy="1097640"/>
          </a:xfrm>
          <a:prstGeom prst="rect">
            <a:avLst/>
          </a:prstGeom>
          <a:noFill/>
          <a:ln w="0">
            <a:noFill/>
          </a:ln>
        </p:spPr>
        <p:style>
          <a:lnRef idx="0"/>
          <a:fillRef idx="0"/>
          <a:effectRef idx="0"/>
          <a:fontRef idx="minor"/>
        </p:style>
        <p:txBody>
          <a:bodyPr anchor="t">
            <a:spAutoFit/>
          </a:bodyPr>
          <a:p>
            <a:pPr algn="ctr">
              <a:lnSpc>
                <a:spcPct val="100000"/>
              </a:lnSpc>
              <a:tabLst>
                <a:tab pos="0" algn="l"/>
                <a:tab pos="1370160" algn="l"/>
                <a:tab pos="2739960" algn="l"/>
                <a:tab pos="4110120" algn="l"/>
                <a:tab pos="5479920" algn="l"/>
                <a:tab pos="6850080" algn="l"/>
                <a:tab pos="8220240" algn="l"/>
                <a:tab pos="9590040" algn="l"/>
                <a:tab pos="10960200" algn="l"/>
              </a:tabLst>
            </a:pPr>
            <a:r>
              <a:rPr lang="es-ES_tradnl" sz="6600" b="1" u="none" strike="noStrike">
                <a:solidFill>
                  <a:srgbClr val="219BC3"/>
                </a:solidFill>
                <a:effectLst/>
                <a:uFillTx/>
                <a:latin typeface="Arial"/>
                <a:ea typeface="Lato Semibold"/>
              </a:rPr>
              <a:t>muchas </a:t>
            </a:r>
            <a:r>
              <a:rPr lang="es-ES_tradnl" sz="6600" b="1" u="none" strike="noStrike">
                <a:solidFill>
                  <a:srgbClr val="00566C"/>
                </a:solidFill>
                <a:effectLst/>
                <a:uFillTx/>
                <a:latin typeface="Arial"/>
                <a:ea typeface="Lato Semibold"/>
              </a:rPr>
              <a:t>gracias</a:t>
            </a:r>
            <a:endParaRPr lang="en-US" sz="6600" b="0" u="none" strike="noStrike">
              <a:solidFill>
                <a:srgbClr val="0C0B0B"/>
              </a:solidFill>
              <a:effectLst/>
              <a:uFillTx/>
              <a:latin typeface="Franklin Gothic Book"/>
            </a:endParaRPr>
          </a:p>
        </p:txBody>
      </p:sp>
      <p:grpSp>
        <p:nvGrpSpPr>
          <p:cNvPr id="105" name="Group 3"/>
          <p:cNvGrpSpPr/>
          <p:nvPr/>
        </p:nvGrpSpPr>
        <p:grpSpPr>
          <a:xfrm>
            <a:off x="5510160" y="4457520"/>
            <a:ext cx="685800" cy="685800"/>
            <a:chOff x="5510160" y="4457520"/>
            <a:chExt cx="685800" cy="685800"/>
          </a:xfrm>
        </p:grpSpPr>
        <p:sp>
          <p:nvSpPr>
            <p:cNvPr id="106" name="Straight Connector 5"/>
            <p:cNvSpPr/>
            <p:nvPr/>
          </p:nvSpPr>
          <p:spPr>
            <a:xfrm flipV="1">
              <a:off x="5510160" y="4457520"/>
              <a:ext cx="0" cy="685800"/>
            </a:xfrm>
            <a:prstGeom prst="line">
              <a:avLst/>
            </a:prstGeom>
            <a:ln cap="sq" w="38160">
              <a:solidFill>
                <a:srgbClr val="219BC3"/>
              </a:solidFill>
              <a:bevel/>
            </a:ln>
          </p:spPr>
          <p:style>
            <a:lnRef idx="0"/>
            <a:fillRef idx="0"/>
            <a:effectRef idx="0"/>
            <a:fontRef idx="minor"/>
          </p:style>
          <p:txBody>
            <a:bodyPr lIns="90000" tIns="46800" rIns="90000" bIns="46800" anchor="t">
              <a:noAutofit/>
            </a:bodyPr>
            <a:p>
              <a:endParaRPr lang="en-US" sz="2700" b="0" u="none" strike="noStrike">
                <a:solidFill>
                  <a:srgbClr val="0C0B0B"/>
                </a:solidFill>
                <a:effectLst/>
                <a:uFillTx/>
                <a:latin typeface="Franklin Gothic Book"/>
              </a:endParaRPr>
            </a:p>
          </p:txBody>
        </p:sp>
        <p:sp>
          <p:nvSpPr>
            <p:cNvPr id="107" name="Straight Connector 6"/>
            <p:cNvSpPr/>
            <p:nvPr/>
          </p:nvSpPr>
          <p:spPr>
            <a:xfrm>
              <a:off x="5510160" y="4457880"/>
              <a:ext cx="685800" cy="0"/>
            </a:xfrm>
            <a:prstGeom prst="line">
              <a:avLst/>
            </a:prstGeom>
            <a:ln cap="sq" w="38160">
              <a:solidFill>
                <a:srgbClr val="219BC3"/>
              </a:solidFill>
              <a:bevel/>
            </a:ln>
          </p:spPr>
          <p:style>
            <a:lnRef idx="0"/>
            <a:fillRef idx="0"/>
            <a:effectRef idx="0"/>
            <a:fontRef idx="minor"/>
          </p:style>
          <p:txBody>
            <a:bodyPr lIns="90000" tIns="-46800" rIns="90000" bIns="-46800" anchor="t">
              <a:noAutofit/>
            </a:bodyPr>
            <a:p>
              <a:endParaRPr lang="en-US" sz="2700" b="0" u="none" strike="noStrike">
                <a:solidFill>
                  <a:srgbClr val="0C0B0B"/>
                </a:solidFill>
                <a:effectLst/>
                <a:uFillTx/>
                <a:latin typeface="Franklin Gothic Book"/>
              </a:endParaRPr>
            </a:p>
          </p:txBody>
        </p:sp>
      </p:grpSp>
      <p:grpSp>
        <p:nvGrpSpPr>
          <p:cNvPr id="108" name="Group 7"/>
          <p:cNvGrpSpPr/>
          <p:nvPr/>
        </p:nvGrpSpPr>
        <p:grpSpPr>
          <a:xfrm>
            <a:off x="12010680" y="5143680"/>
            <a:ext cx="685800" cy="685800"/>
            <a:chOff x="12010680" y="5143680"/>
            <a:chExt cx="685800" cy="685800"/>
          </a:xfrm>
        </p:grpSpPr>
        <p:sp>
          <p:nvSpPr>
            <p:cNvPr id="109" name="Straight Connector 8"/>
            <p:cNvSpPr/>
            <p:nvPr/>
          </p:nvSpPr>
          <p:spPr>
            <a:xfrm>
              <a:off x="12696480" y="5143680"/>
              <a:ext cx="0" cy="685800"/>
            </a:xfrm>
            <a:prstGeom prst="line">
              <a:avLst/>
            </a:prstGeom>
            <a:ln cap="sq" w="38160">
              <a:solidFill>
                <a:srgbClr val="219BC3"/>
              </a:solidFill>
              <a:bevel/>
            </a:ln>
          </p:spPr>
          <p:style>
            <a:lnRef idx="0"/>
            <a:fillRef idx="0"/>
            <a:effectRef idx="0"/>
            <a:fontRef idx="minor"/>
          </p:style>
          <p:txBody>
            <a:bodyPr lIns="90000" tIns="46800" rIns="90000" bIns="46800" anchor="t">
              <a:noAutofit/>
            </a:bodyPr>
            <a:p>
              <a:endParaRPr lang="en-US" sz="2700" b="0" u="none" strike="noStrike">
                <a:solidFill>
                  <a:srgbClr val="0C0B0B"/>
                </a:solidFill>
                <a:effectLst/>
                <a:uFillTx/>
                <a:latin typeface="Franklin Gothic Book"/>
              </a:endParaRPr>
            </a:p>
          </p:txBody>
        </p:sp>
        <p:sp>
          <p:nvSpPr>
            <p:cNvPr id="110" name="Straight Connector 9"/>
            <p:cNvSpPr/>
            <p:nvPr/>
          </p:nvSpPr>
          <p:spPr>
            <a:xfrm flipH="1">
              <a:off x="12010680" y="5829120"/>
              <a:ext cx="685800" cy="0"/>
            </a:xfrm>
            <a:prstGeom prst="line">
              <a:avLst/>
            </a:prstGeom>
            <a:ln cap="sq" w="38160">
              <a:solidFill>
                <a:srgbClr val="219BC3"/>
              </a:solidFill>
              <a:bevel/>
            </a:ln>
          </p:spPr>
          <p:style>
            <a:lnRef idx="0"/>
            <a:fillRef idx="0"/>
            <a:effectRef idx="0"/>
            <a:fontRef idx="minor"/>
          </p:style>
          <p:txBody>
            <a:bodyPr lIns="90000" tIns="-46800" rIns="90000" bIns="-46800" anchor="t">
              <a:noAutofit/>
            </a:bodyPr>
            <a:p>
              <a:endParaRPr lang="en-US" sz="2700" b="0" u="none" strike="noStrike">
                <a:solidFill>
                  <a:srgbClr val="0C0B0B"/>
                </a:solidFill>
                <a:effectLst/>
                <a:uFillTx/>
                <a:latin typeface="Franklin Gothic Book"/>
              </a:endParaRPr>
            </a:p>
          </p:txBody>
        </p:sp>
      </p:grpSp>
      <p:sp>
        <p:nvSpPr>
          <p:cNvPr id="111" name="TextBox 110"/>
          <p:cNvSpPr txBox="1"/>
          <p:nvPr/>
        </p:nvSpPr>
        <p:spPr>
          <a:xfrm>
            <a:off x="2834640" y="5989320"/>
            <a:ext cx="12618720" cy="1737360"/>
          </a:xfrm>
          <a:prstGeom prst="rect">
            <a:avLst/>
          </a:prstGeom>
          <a:noFill/>
        </p:spPr>
        <p:txBody>
          <a:bodyPr wrap="square" lIns="18288" rIns="18288" tIns="0" bIns="0" anchor="t">
            <a:spAutoFit/>
          </a:bodyPr>
          <a:lstStyle/>
          <a:p>
            <a:pPr algn="ctr">
              <a:lnSpc>
                <a:spcPct val="105000"/>
              </a:lnSpc>
              <a:spcBef>
                <a:spcPts val="0"/>
              </a:spcBef>
              <a:spcAft>
                <a:spcPts val="1400"/>
              </a:spcAft>
            </a:pPr>
            <a:r>
              <a:rPr sz="2400" b="1" i="0">
                <a:solidFill>
                  <a:srgbClr val="00566C"/>
                </a:solidFill>
                <a:latin typeface="Arial"/>
              </a:rPr>
              <a:t>Evaluación comparativa de SVM y DenseNet201 para la clasificación automática de enfermedades dermatológicas</a:t>
            </a:r>
          </a:p>
          <a:p>
            <a:pPr algn="ctr">
              <a:lnSpc>
                <a:spcPct val="105000"/>
              </a:lnSpc>
              <a:spcBef>
                <a:spcPts val="0"/>
              </a:spcBef>
              <a:spcAft>
                <a:spcPts val="800"/>
              </a:spcAft>
            </a:pPr>
            <a:r>
              <a:rPr sz="2100" b="0" i="0">
                <a:solidFill>
                  <a:srgbClr val="858591"/>
                </a:solidFill>
                <a:latin typeface="Arial"/>
              </a:rPr>
              <a:t>Christian Marcelo Gutiérrez Gutiérrez     ·     Alvaro Marcelo Gutiérrez Burbano</a:t>
            </a:r>
          </a:p>
          <a:p>
            <a:pPr algn="ctr">
              <a:lnSpc>
                <a:spcPct val="105000"/>
              </a:lnSpc>
              <a:spcBef>
                <a:spcPts val="0"/>
              </a:spcBef>
              <a:spcAft>
                <a:spcPts val="0"/>
              </a:spcAft>
            </a:pPr>
            <a:r>
              <a:rPr sz="1800" b="0" i="0">
                <a:solidFill>
                  <a:srgbClr val="219BC3"/>
                </a:solidFill>
                <a:latin typeface="Arial"/>
              </a:rPr>
              <a:t>Director: Víctor D. Díaz Suárez     ·     github.com/marzo27/UNIR_TFM_HAM10000</a:t>
            </a:r>
          </a:p>
        </p:txBody>
      </p:sp>
      <p:sp>
        <p:nvSpPr>
          <p:cNvPr id="112" name="TextBox 11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33</a:t>
            </a:r>
          </a:p>
        </p:txBody>
      </p:sp>
    </p:spTree>
  </p:cSld>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9015984"/>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015984"/>
            <a:ext cx="18288000" cy="12725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2103120" y="2788920"/>
            <a:ext cx="82296"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2615184" y="2697480"/>
            <a:ext cx="12344400" cy="1417320"/>
          </a:xfrm>
          <a:prstGeom prst="rect">
            <a:avLst/>
          </a:prstGeom>
          <a:noFill/>
        </p:spPr>
        <p:txBody>
          <a:bodyPr wrap="square" lIns="18288" rIns="18288" tIns="0" bIns="0" anchor="t">
            <a:spAutoFit/>
          </a:bodyPr>
          <a:lstStyle/>
          <a:p>
            <a:pPr algn="l">
              <a:spcBef>
                <a:spcPts val="0"/>
              </a:spcBef>
              <a:spcAft>
                <a:spcPts val="0"/>
              </a:spcAft>
            </a:pPr>
            <a:r>
              <a:rPr sz="9600" b="1" i="0">
                <a:solidFill>
                  <a:srgbClr val="FFFFFF"/>
                </a:solidFill>
                <a:latin typeface="Arial"/>
              </a:rPr>
              <a:t>01</a:t>
            </a:r>
          </a:p>
        </p:txBody>
      </p:sp>
      <p:sp>
        <p:nvSpPr>
          <p:cNvPr id="6" name="TextBox 5"/>
          <p:cNvSpPr txBox="1"/>
          <p:nvPr/>
        </p:nvSpPr>
        <p:spPr>
          <a:xfrm>
            <a:off x="2651760" y="4160520"/>
            <a:ext cx="13716000" cy="1234440"/>
          </a:xfrm>
          <a:prstGeom prst="rect">
            <a:avLst/>
          </a:prstGeom>
          <a:noFill/>
        </p:spPr>
        <p:txBody>
          <a:bodyPr wrap="square" lIns="18288" rIns="18288" tIns="0" bIns="0" anchor="t">
            <a:spAutoFit/>
          </a:bodyPr>
          <a:lstStyle/>
          <a:p>
            <a:pPr algn="l">
              <a:lnSpc>
                <a:spcPct val="95000"/>
              </a:lnSpc>
              <a:spcBef>
                <a:spcPts val="0"/>
              </a:spcBef>
              <a:spcAft>
                <a:spcPts val="0"/>
              </a:spcAft>
            </a:pPr>
            <a:r>
              <a:rPr sz="5400" b="1" i="0">
                <a:solidFill>
                  <a:srgbClr val="FFFFFF"/>
                </a:solidFill>
                <a:latin typeface="Arial"/>
              </a:rPr>
              <a:t>Introducción y contexto</a:t>
            </a:r>
          </a:p>
        </p:txBody>
      </p:sp>
      <p:sp>
        <p:nvSpPr>
          <p:cNvPr id="7" name="TextBox 6"/>
          <p:cNvSpPr txBox="1"/>
          <p:nvPr/>
        </p:nvSpPr>
        <p:spPr>
          <a:xfrm>
            <a:off x="2651760" y="5440680"/>
            <a:ext cx="13258800" cy="822960"/>
          </a:xfrm>
          <a:prstGeom prst="rect">
            <a:avLst/>
          </a:prstGeom>
          <a:noFill/>
        </p:spPr>
        <p:txBody>
          <a:bodyPr wrap="square" lIns="18288" rIns="18288" tIns="0" bIns="0" anchor="t">
            <a:spAutoFit/>
          </a:bodyPr>
          <a:lstStyle/>
          <a:p>
            <a:pPr algn="l">
              <a:spcBef>
                <a:spcPts val="0"/>
              </a:spcBef>
              <a:spcAft>
                <a:spcPts val="0"/>
              </a:spcAft>
            </a:pPr>
            <a:r>
              <a:rPr sz="2400" b="0" i="0">
                <a:solidFill>
                  <a:srgbClr val="FFFFFF"/>
                </a:solidFill>
                <a:latin typeface="Arial"/>
              </a:rPr>
              <a:t>El problema clínico, el estado del arte y la pregunta de investigación</a:t>
            </a:r>
          </a:p>
        </p:txBody>
      </p:sp>
      <p:sp>
        <p:nvSpPr>
          <p:cNvPr id="8" name="TextBox 7"/>
          <p:cNvSpPr txBox="1"/>
          <p:nvPr/>
        </p:nvSpPr>
        <p:spPr>
          <a:xfrm>
            <a:off x="2651760" y="6446520"/>
            <a:ext cx="13258800" cy="457200"/>
          </a:xfrm>
          <a:prstGeom prst="rect">
            <a:avLst/>
          </a:prstGeom>
          <a:noFill/>
        </p:spPr>
        <p:txBody>
          <a:bodyPr wrap="square" lIns="18288" rIns="18288" tIns="0" bIns="0" anchor="t">
            <a:spAutoFit/>
          </a:bodyPr>
          <a:lstStyle/>
          <a:p>
            <a:pPr algn="l">
              <a:spcBef>
                <a:spcPts val="0"/>
              </a:spcBef>
              <a:spcAft>
                <a:spcPts val="0"/>
              </a:spcAft>
            </a:pPr>
            <a:r>
              <a:rPr sz="1900" b="1" i="0">
                <a:solidFill>
                  <a:srgbClr val="FFFFFF"/>
                </a:solidFill>
                <a:latin typeface="Arial"/>
              </a:rPr>
              <a:t>4 minutos</a:t>
            </a:r>
            <a:r>
              <a:rPr sz="1900" b="0" i="0">
                <a:solidFill>
                  <a:srgbClr val="FFFFFF"/>
                </a:solidFill>
                <a:latin typeface="Arial"/>
              </a:rPr>
              <a:t>     ·     </a:t>
            </a:r>
            <a:r>
              <a:rPr sz="1900" b="0" i="0">
                <a:solidFill>
                  <a:srgbClr val="FFFFFF"/>
                </a:solidFill>
                <a:latin typeface="Arial"/>
              </a:rPr>
              <a:t>Expone: Christian</a:t>
            </a:r>
          </a:p>
        </p:txBody>
      </p:sp>
      <p:sp>
        <p:nvSpPr>
          <p:cNvPr id="9" name="TextBox 8"/>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03</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INTRODUCCIÓN Y CONTEXTO</a:t>
            </a:r>
          </a:p>
          <a:p>
            <a:pPr algn="l">
              <a:lnSpc>
                <a:spcPct val="92000"/>
              </a:lnSpc>
              <a:spcBef>
                <a:spcPts val="0"/>
              </a:spcBef>
              <a:spcAft>
                <a:spcPts val="0"/>
              </a:spcAft>
            </a:pPr>
            <a:r>
              <a:rPr sz="4000" b="1" i="0">
                <a:solidFill>
                  <a:srgbClr val="00566C"/>
                </a:solidFill>
                <a:latin typeface="Arial"/>
              </a:rPr>
              <a:t>Un problema de salud pública con un cuello de botella logístico</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La incidencia crece, el diagnóstico precoz decide el pronóstico y el sistema sanitario no llega a tiempo</a:t>
            </a:r>
          </a:p>
        </p:txBody>
      </p:sp>
      <p:sp>
        <p:nvSpPr>
          <p:cNvPr id="5" name="Rectangle 4"/>
          <p:cNvSpPr/>
          <p:nvPr/>
        </p:nvSpPr>
        <p:spPr>
          <a:xfrm>
            <a:off x="877824" y="2514600"/>
            <a:ext cx="3845051" cy="23317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877824" y="2514600"/>
            <a:ext cx="384505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88720" y="2697480"/>
            <a:ext cx="3223259" cy="1965960"/>
          </a:xfrm>
          <a:prstGeom prst="rect">
            <a:avLst/>
          </a:prstGeom>
          <a:noFill/>
        </p:spPr>
        <p:txBody>
          <a:bodyPr wrap="square" lIns="18288" rIns="18288" tIns="0" bIns="0" anchor="ctr">
            <a:spAutoFit/>
          </a:bodyPr>
          <a:lstStyle/>
          <a:p>
            <a:pPr algn="l">
              <a:lnSpc>
                <a:spcPct val="95000"/>
              </a:lnSpc>
              <a:spcBef>
                <a:spcPts val="0"/>
              </a:spcBef>
              <a:spcAft>
                <a:spcPts val="400"/>
              </a:spcAft>
            </a:pPr>
            <a:r>
              <a:rPr sz="4800" b="1" i="0">
                <a:solidFill>
                  <a:srgbClr val="219BC3"/>
                </a:solidFill>
                <a:latin typeface="Arial"/>
              </a:rPr>
              <a:t>+330.000</a:t>
            </a:r>
          </a:p>
          <a:p>
            <a:pPr algn="l">
              <a:lnSpc>
                <a:spcPct val="95000"/>
              </a:lnSpc>
              <a:spcBef>
                <a:spcPts val="0"/>
              </a:spcBef>
              <a:spcAft>
                <a:spcPts val="200"/>
              </a:spcAft>
            </a:pPr>
            <a:r>
              <a:rPr sz="1900" b="1" i="0">
                <a:solidFill>
                  <a:srgbClr val="00566C"/>
                </a:solidFill>
                <a:latin typeface="Arial"/>
              </a:rPr>
              <a:t>Nuevos casos de melanoma al año</a:t>
            </a:r>
          </a:p>
          <a:p>
            <a:pPr algn="l">
              <a:lnSpc>
                <a:spcPct val="95000"/>
              </a:lnSpc>
              <a:spcBef>
                <a:spcPts val="0"/>
              </a:spcBef>
              <a:spcAft>
                <a:spcPts val="0"/>
              </a:spcAft>
            </a:pPr>
            <a:r>
              <a:rPr sz="1500" b="0" i="0">
                <a:solidFill>
                  <a:srgbClr val="858591"/>
                </a:solidFill>
                <a:latin typeface="Arial"/>
              </a:rPr>
              <a:t>en el mundo (Langselius et al., 2025)</a:t>
            </a:r>
          </a:p>
        </p:txBody>
      </p:sp>
      <p:sp>
        <p:nvSpPr>
          <p:cNvPr id="8" name="Rectangle 7"/>
          <p:cNvSpPr/>
          <p:nvPr/>
        </p:nvSpPr>
        <p:spPr>
          <a:xfrm>
            <a:off x="5106923" y="2514600"/>
            <a:ext cx="3845051" cy="23317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106923" y="2514600"/>
            <a:ext cx="384505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17819" y="2697480"/>
            <a:ext cx="3223259" cy="1965960"/>
          </a:xfrm>
          <a:prstGeom prst="rect">
            <a:avLst/>
          </a:prstGeom>
          <a:noFill/>
        </p:spPr>
        <p:txBody>
          <a:bodyPr wrap="square" lIns="18288" rIns="18288" tIns="0" bIns="0" anchor="ctr">
            <a:spAutoFit/>
          </a:bodyPr>
          <a:lstStyle/>
          <a:p>
            <a:pPr algn="l">
              <a:lnSpc>
                <a:spcPct val="95000"/>
              </a:lnSpc>
              <a:spcBef>
                <a:spcPts val="0"/>
              </a:spcBef>
              <a:spcAft>
                <a:spcPts val="400"/>
              </a:spcAft>
            </a:pPr>
            <a:r>
              <a:rPr sz="4800" b="1" i="0">
                <a:solidFill>
                  <a:srgbClr val="219BC3"/>
                </a:solidFill>
                <a:latin typeface="Arial"/>
              </a:rPr>
              <a:t>&gt; 99 %</a:t>
            </a:r>
          </a:p>
          <a:p>
            <a:pPr algn="l">
              <a:lnSpc>
                <a:spcPct val="95000"/>
              </a:lnSpc>
              <a:spcBef>
                <a:spcPts val="0"/>
              </a:spcBef>
              <a:spcAft>
                <a:spcPts val="200"/>
              </a:spcAft>
            </a:pPr>
            <a:r>
              <a:rPr sz="1900" b="1" i="0">
                <a:solidFill>
                  <a:srgbClr val="00566C"/>
                </a:solidFill>
                <a:latin typeface="Arial"/>
              </a:rPr>
              <a:t>Supervivencia relativa a 5 años</a:t>
            </a:r>
          </a:p>
          <a:p>
            <a:pPr algn="l">
              <a:lnSpc>
                <a:spcPct val="95000"/>
              </a:lnSpc>
              <a:spcBef>
                <a:spcPts val="0"/>
              </a:spcBef>
              <a:spcAft>
                <a:spcPts val="0"/>
              </a:spcAft>
            </a:pPr>
            <a:r>
              <a:rPr sz="1500" b="0" i="0">
                <a:solidFill>
                  <a:srgbClr val="858591"/>
                </a:solidFill>
                <a:latin typeface="Arial"/>
              </a:rPr>
              <a:t>si se detecta en fase localizada (ACS, 2026)</a:t>
            </a:r>
          </a:p>
        </p:txBody>
      </p:sp>
      <p:sp>
        <p:nvSpPr>
          <p:cNvPr id="11" name="Rectangle 10"/>
          <p:cNvSpPr/>
          <p:nvPr/>
        </p:nvSpPr>
        <p:spPr>
          <a:xfrm>
            <a:off x="9336023" y="2514600"/>
            <a:ext cx="3845051" cy="23317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9336023" y="2514600"/>
            <a:ext cx="384505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46919" y="2697480"/>
            <a:ext cx="3223259" cy="1965960"/>
          </a:xfrm>
          <a:prstGeom prst="rect">
            <a:avLst/>
          </a:prstGeom>
          <a:noFill/>
        </p:spPr>
        <p:txBody>
          <a:bodyPr wrap="square" lIns="18288" rIns="18288" tIns="0" bIns="0" anchor="ctr">
            <a:spAutoFit/>
          </a:bodyPr>
          <a:lstStyle/>
          <a:p>
            <a:pPr algn="l">
              <a:lnSpc>
                <a:spcPct val="95000"/>
              </a:lnSpc>
              <a:spcBef>
                <a:spcPts val="0"/>
              </a:spcBef>
              <a:spcAft>
                <a:spcPts val="400"/>
              </a:spcAft>
            </a:pPr>
            <a:r>
              <a:rPr sz="4800" b="1" i="0">
                <a:solidFill>
                  <a:srgbClr val="219BC3"/>
                </a:solidFill>
                <a:latin typeface="Arial"/>
              </a:rPr>
              <a:t>131 días</a:t>
            </a:r>
          </a:p>
          <a:p>
            <a:pPr algn="l">
              <a:lnSpc>
                <a:spcPct val="95000"/>
              </a:lnSpc>
              <a:spcBef>
                <a:spcPts val="0"/>
              </a:spcBef>
              <a:spcAft>
                <a:spcPts val="200"/>
              </a:spcAft>
            </a:pPr>
            <a:r>
              <a:rPr sz="1900" b="1" i="0">
                <a:solidFill>
                  <a:srgbClr val="00566C"/>
                </a:solidFill>
                <a:latin typeface="Arial"/>
              </a:rPr>
              <a:t>Espera media a primera consulta</a:t>
            </a:r>
          </a:p>
          <a:p>
            <a:pPr algn="l">
              <a:lnSpc>
                <a:spcPct val="95000"/>
              </a:lnSpc>
              <a:spcBef>
                <a:spcPts val="0"/>
              </a:spcBef>
              <a:spcAft>
                <a:spcPts val="0"/>
              </a:spcAft>
            </a:pPr>
            <a:r>
              <a:rPr sz="1500" b="0" i="0">
                <a:solidFill>
                  <a:srgbClr val="858591"/>
                </a:solidFill>
                <a:latin typeface="Arial"/>
              </a:rPr>
              <a:t>de dermatología (Min. Sanidad, 2025)</a:t>
            </a:r>
          </a:p>
        </p:txBody>
      </p:sp>
      <p:sp>
        <p:nvSpPr>
          <p:cNvPr id="14" name="Rectangle 13"/>
          <p:cNvSpPr/>
          <p:nvPr/>
        </p:nvSpPr>
        <p:spPr>
          <a:xfrm>
            <a:off x="13565123" y="2514600"/>
            <a:ext cx="3845051" cy="23317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3565123" y="2514600"/>
            <a:ext cx="384505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3876019" y="2697480"/>
            <a:ext cx="3223259" cy="1965960"/>
          </a:xfrm>
          <a:prstGeom prst="rect">
            <a:avLst/>
          </a:prstGeom>
          <a:noFill/>
        </p:spPr>
        <p:txBody>
          <a:bodyPr wrap="square" lIns="18288" rIns="18288" tIns="0" bIns="0" anchor="ctr">
            <a:spAutoFit/>
          </a:bodyPr>
          <a:lstStyle/>
          <a:p>
            <a:pPr algn="l">
              <a:lnSpc>
                <a:spcPct val="95000"/>
              </a:lnSpc>
              <a:spcBef>
                <a:spcPts val="0"/>
              </a:spcBef>
              <a:spcAft>
                <a:spcPts val="400"/>
              </a:spcAft>
            </a:pPr>
            <a:r>
              <a:rPr sz="4800" b="1" i="0">
                <a:solidFill>
                  <a:srgbClr val="219BC3"/>
                </a:solidFill>
                <a:latin typeface="Arial"/>
              </a:rPr>
              <a:t>+250 %</a:t>
            </a:r>
          </a:p>
          <a:p>
            <a:pPr algn="l">
              <a:lnSpc>
                <a:spcPct val="95000"/>
              </a:lnSpc>
              <a:spcBef>
                <a:spcPts val="0"/>
              </a:spcBef>
              <a:spcAft>
                <a:spcPts val="200"/>
              </a:spcAft>
            </a:pPr>
            <a:r>
              <a:rPr sz="1900" b="1" i="0">
                <a:solidFill>
                  <a:srgbClr val="00566C"/>
                </a:solidFill>
                <a:latin typeface="Arial"/>
              </a:rPr>
              <a:t>Aumento de incidencia</a:t>
            </a:r>
          </a:p>
          <a:p>
            <a:pPr algn="l">
              <a:lnSpc>
                <a:spcPct val="95000"/>
              </a:lnSpc>
              <a:spcBef>
                <a:spcPts val="0"/>
              </a:spcBef>
              <a:spcAft>
                <a:spcPts val="0"/>
              </a:spcAft>
            </a:pPr>
            <a:r>
              <a:rPr sz="1500" b="0" i="0">
                <a:solidFill>
                  <a:srgbClr val="858591"/>
                </a:solidFill>
                <a:latin typeface="Arial"/>
              </a:rPr>
              <a:t>de melanoma en la región andina (Zhou et al., 2026)</a:t>
            </a:r>
          </a:p>
        </p:txBody>
      </p:sp>
      <p:sp>
        <p:nvSpPr>
          <p:cNvPr id="17" name="Rectangle 16"/>
          <p:cNvSpPr/>
          <p:nvPr/>
        </p:nvSpPr>
        <p:spPr>
          <a:xfrm>
            <a:off x="877824" y="5230368"/>
            <a:ext cx="8074152" cy="269748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77824" y="5230368"/>
            <a:ext cx="8074152"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170432" y="5468112"/>
            <a:ext cx="7507224" cy="2240280"/>
          </a:xfrm>
          <a:prstGeom prst="rect">
            <a:avLst/>
          </a:prstGeom>
          <a:noFill/>
        </p:spPr>
        <p:txBody>
          <a:bodyPr wrap="square" lIns="18288" rIns="18288" tIns="0" bIns="0" anchor="t">
            <a:spAutoFit/>
          </a:bodyPr>
          <a:lstStyle/>
          <a:p>
            <a:pPr algn="l">
              <a:lnSpc>
                <a:spcPct val="100000"/>
              </a:lnSpc>
              <a:spcBef>
                <a:spcPts val="0"/>
              </a:spcBef>
              <a:spcAft>
                <a:spcPts val="800"/>
              </a:spcAft>
            </a:pPr>
            <a:r>
              <a:rPr sz="2200" b="1" i="0">
                <a:solidFill>
                  <a:srgbClr val="00566C"/>
                </a:solidFill>
                <a:latin typeface="Arial"/>
              </a:rPr>
              <a:t>La variabilidad del diagnóstico visual</a:t>
            </a:r>
          </a:p>
          <a:p>
            <a:pPr algn="l" marL="384048" indent="-384048">
              <a:lnSpc>
                <a:spcPct val="100000"/>
              </a:lnSpc>
              <a:spcBef>
                <a:spcPts val="0"/>
              </a:spcBef>
              <a:spcAft>
                <a:spcPts val="600"/>
              </a:spcAft>
              <a:buClr>
                <a:srgbClr val="219BC3"/>
              </a:buClr>
              <a:buFont typeface="Arial"/>
              <a:buChar char="▪"/>
            </a:pPr>
            <a:r>
              <a:rPr sz="1800" b="0" i="0">
                <a:solidFill>
                  <a:srgbClr val="858591"/>
                </a:solidFill>
                <a:latin typeface="Arial"/>
              </a:rPr>
              <a:t>Criterios heterogéneos entre especialistas y solapamiento morfológico entre lesiones benignas y malignas.</a:t>
            </a:r>
          </a:p>
          <a:p>
            <a:pPr algn="l" marL="384048" indent="-384048">
              <a:lnSpc>
                <a:spcPct val="100000"/>
              </a:lnSpc>
              <a:spcBef>
                <a:spcPts val="0"/>
              </a:spcBef>
              <a:spcAft>
                <a:spcPts val="600"/>
              </a:spcAft>
              <a:buClr>
                <a:srgbClr val="219BC3"/>
              </a:buClr>
              <a:buFont typeface="Arial"/>
              <a:buChar char="▪"/>
            </a:pPr>
            <a:r>
              <a:rPr sz="1800" b="0" i="0">
                <a:solidFill>
                  <a:srgbClr val="858591"/>
                </a:solidFill>
                <a:latin typeface="Arial"/>
              </a:rPr>
              <a:t>El rendimiento clínico se degrada con la fatiga y la saturación asistencial.</a:t>
            </a:r>
          </a:p>
        </p:txBody>
      </p:sp>
      <p:sp>
        <p:nvSpPr>
          <p:cNvPr id="20" name="Rectangle 19"/>
          <p:cNvSpPr/>
          <p:nvPr/>
        </p:nvSpPr>
        <p:spPr>
          <a:xfrm>
            <a:off x="9336024" y="5230368"/>
            <a:ext cx="8074152" cy="269748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9336024" y="5230368"/>
            <a:ext cx="8074152"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28632" y="5468112"/>
            <a:ext cx="7507224" cy="2240280"/>
          </a:xfrm>
          <a:prstGeom prst="rect">
            <a:avLst/>
          </a:prstGeom>
          <a:noFill/>
        </p:spPr>
        <p:txBody>
          <a:bodyPr wrap="square" lIns="18288" rIns="18288" tIns="0" bIns="0" anchor="t">
            <a:spAutoFit/>
          </a:bodyPr>
          <a:lstStyle/>
          <a:p>
            <a:pPr algn="l">
              <a:lnSpc>
                <a:spcPct val="100000"/>
              </a:lnSpc>
              <a:spcBef>
                <a:spcPts val="0"/>
              </a:spcBef>
              <a:spcAft>
                <a:spcPts val="800"/>
              </a:spcAft>
            </a:pPr>
            <a:r>
              <a:rPr sz="2200" b="1" i="0">
                <a:solidFill>
                  <a:srgbClr val="00566C"/>
                </a:solidFill>
                <a:latin typeface="Arial"/>
              </a:rPr>
              <a:t>La oportunidad: sistemas de soporte (CDSS)</a:t>
            </a:r>
          </a:p>
          <a:p>
            <a:pPr algn="l" marL="384048" indent="-384048">
              <a:lnSpc>
                <a:spcPct val="100000"/>
              </a:lnSpc>
              <a:spcBef>
                <a:spcPts val="0"/>
              </a:spcBef>
              <a:spcAft>
                <a:spcPts val="600"/>
              </a:spcAft>
              <a:buClr>
                <a:srgbClr val="219BC3"/>
              </a:buClr>
              <a:buFont typeface="Arial"/>
              <a:buChar char="▪"/>
            </a:pPr>
            <a:r>
              <a:rPr sz="1800" b="0" i="0">
                <a:solidFill>
                  <a:srgbClr val="858591"/>
                </a:solidFill>
                <a:latin typeface="Arial"/>
              </a:rPr>
              <a:t>El algoritmo no sustituye al facultativo: lo potencia con una segunda opinión reproducible y disponible en segundos.</a:t>
            </a:r>
          </a:p>
          <a:p>
            <a:pPr algn="l" marL="384048" indent="-384048">
              <a:lnSpc>
                <a:spcPct val="100000"/>
              </a:lnSpc>
              <a:spcBef>
                <a:spcPts val="0"/>
              </a:spcBef>
              <a:spcAft>
                <a:spcPts val="600"/>
              </a:spcAft>
              <a:buClr>
                <a:srgbClr val="219BC3"/>
              </a:buClr>
              <a:buFont typeface="Arial"/>
              <a:buChar char="▪"/>
            </a:pPr>
            <a:r>
              <a:rPr sz="1800" b="0" i="0">
                <a:solidFill>
                  <a:srgbClr val="858591"/>
                </a:solidFill>
                <a:latin typeface="Arial"/>
              </a:rPr>
              <a:t>Repositorios masivos abiertos como HAM10000 hacen viable entrenar y validar estos sistemas.</a:t>
            </a:r>
          </a:p>
        </p:txBody>
      </p:sp>
      <p:sp>
        <p:nvSpPr>
          <p:cNvPr id="23" name="Rectangle 22"/>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El diagnóstico precoz es el factor más determinante para la supervivencia — y es precisamente donde el sistema falla por saturación.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04</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INTRODUCCIÓN Y CONTEXTO</a:t>
            </a:r>
          </a:p>
          <a:p>
            <a:pPr algn="l">
              <a:lnSpc>
                <a:spcPct val="92000"/>
              </a:lnSpc>
              <a:spcBef>
                <a:spcPts val="0"/>
              </a:spcBef>
              <a:spcAft>
                <a:spcPts val="0"/>
              </a:spcAft>
            </a:pPr>
            <a:r>
              <a:rPr sz="4000" b="1" i="0">
                <a:solidFill>
                  <a:srgbClr val="00566C"/>
                </a:solidFill>
                <a:latin typeface="Arial"/>
              </a:rPr>
              <a:t>El planteamiento: no todos los errores cuestan lo mismo</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La asimetría del coste clínico es la que fija el criterio de éxito de todo el trabajo</a:t>
            </a:r>
          </a:p>
        </p:txBody>
      </p:sp>
      <p:sp>
        <p:nvSpPr>
          <p:cNvPr id="5" name="Rectangle 4"/>
          <p:cNvSpPr/>
          <p:nvPr/>
        </p:nvSpPr>
        <p:spPr>
          <a:xfrm>
            <a:off x="877824" y="2560320"/>
            <a:ext cx="7973568" cy="3063240"/>
          </a:xfrm>
          <a:prstGeom prst="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877824" y="2560320"/>
            <a:ext cx="7973568" cy="82296"/>
          </a:xfrm>
          <a:prstGeom prst="rect">
            <a:avLst/>
          </a:prstGeom>
          <a:solidFill>
            <a:srgbClr val="C03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261872" y="2798064"/>
            <a:ext cx="7223760" cy="2606040"/>
          </a:xfrm>
          <a:prstGeom prst="rect">
            <a:avLst/>
          </a:prstGeom>
          <a:noFill/>
        </p:spPr>
        <p:txBody>
          <a:bodyPr wrap="square" lIns="18288" rIns="18288" tIns="0" bIns="0" anchor="t">
            <a:spAutoFit/>
          </a:bodyPr>
          <a:lstStyle/>
          <a:p>
            <a:pPr algn="l">
              <a:lnSpc>
                <a:spcPct val="105000"/>
              </a:lnSpc>
              <a:spcBef>
                <a:spcPts val="0"/>
              </a:spcBef>
              <a:spcAft>
                <a:spcPts val="800"/>
              </a:spcAft>
            </a:pPr>
            <a:r>
              <a:rPr sz="3000" b="1" i="0">
                <a:solidFill>
                  <a:srgbClr val="C0393B"/>
                </a:solidFill>
                <a:latin typeface="Arial"/>
              </a:rPr>
              <a:t>Falso negativo</a:t>
            </a:r>
          </a:p>
          <a:p>
            <a:pPr algn="l">
              <a:lnSpc>
                <a:spcPct val="105000"/>
              </a:lnSpc>
              <a:spcBef>
                <a:spcPts val="0"/>
              </a:spcBef>
              <a:spcAft>
                <a:spcPts val="1000"/>
              </a:spcAft>
            </a:pPr>
            <a:r>
              <a:rPr sz="2100" b="0" i="0">
                <a:solidFill>
                  <a:srgbClr val="0C0B0B"/>
                </a:solidFill>
                <a:latin typeface="Arial"/>
              </a:rPr>
              <a:t>Una lesión maligna clasificada como benigna.</a:t>
            </a:r>
          </a:p>
          <a:p>
            <a:pPr algn="l">
              <a:lnSpc>
                <a:spcPct val="105000"/>
              </a:lnSpc>
              <a:spcBef>
                <a:spcPts val="0"/>
              </a:spcBef>
              <a:spcAft>
                <a:spcPts val="0"/>
              </a:spcAft>
            </a:pPr>
            <a:r>
              <a:rPr sz="2000" b="0" i="0">
                <a:solidFill>
                  <a:srgbClr val="858591"/>
                </a:solidFill>
                <a:latin typeface="Arial"/>
              </a:rPr>
              <a:t>Retrasa la intervención sobre un tumor que puede hacer metástasis. El coste es la vida del paciente. Es un error inasumible.</a:t>
            </a:r>
          </a:p>
        </p:txBody>
      </p:sp>
      <p:sp>
        <p:nvSpPr>
          <p:cNvPr id="8" name="Rectangle 7"/>
          <p:cNvSpPr/>
          <p:nvPr/>
        </p:nvSpPr>
        <p:spPr>
          <a:xfrm>
            <a:off x="9436608" y="2560320"/>
            <a:ext cx="7973568" cy="306324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9436608" y="2560320"/>
            <a:ext cx="7973568" cy="82296"/>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820655" y="2798064"/>
            <a:ext cx="7223760" cy="2606040"/>
          </a:xfrm>
          <a:prstGeom prst="rect">
            <a:avLst/>
          </a:prstGeom>
          <a:noFill/>
        </p:spPr>
        <p:txBody>
          <a:bodyPr wrap="square" lIns="18288" rIns="18288" tIns="0" bIns="0" anchor="t">
            <a:spAutoFit/>
          </a:bodyPr>
          <a:lstStyle/>
          <a:p>
            <a:pPr algn="l">
              <a:lnSpc>
                <a:spcPct val="105000"/>
              </a:lnSpc>
              <a:spcBef>
                <a:spcPts val="0"/>
              </a:spcBef>
              <a:spcAft>
                <a:spcPts val="800"/>
              </a:spcAft>
            </a:pPr>
            <a:r>
              <a:rPr sz="3000" b="1" i="0">
                <a:solidFill>
                  <a:srgbClr val="219BC3"/>
                </a:solidFill>
                <a:latin typeface="Arial"/>
              </a:rPr>
              <a:t>Falso positivo</a:t>
            </a:r>
          </a:p>
          <a:p>
            <a:pPr algn="l">
              <a:lnSpc>
                <a:spcPct val="105000"/>
              </a:lnSpc>
              <a:spcBef>
                <a:spcPts val="0"/>
              </a:spcBef>
              <a:spcAft>
                <a:spcPts val="1000"/>
              </a:spcAft>
            </a:pPr>
            <a:r>
              <a:rPr sz="2100" b="0" i="0">
                <a:solidFill>
                  <a:srgbClr val="0C0B0B"/>
                </a:solidFill>
                <a:latin typeface="Arial"/>
              </a:rPr>
              <a:t>Una lesión benigna marcada como sospechosa.</a:t>
            </a:r>
          </a:p>
          <a:p>
            <a:pPr algn="l">
              <a:lnSpc>
                <a:spcPct val="105000"/>
              </a:lnSpc>
              <a:spcBef>
                <a:spcPts val="0"/>
              </a:spcBef>
              <a:spcAft>
                <a:spcPts val="0"/>
              </a:spcAft>
            </a:pPr>
            <a:r>
              <a:rPr sz="2000" b="0" i="0">
                <a:solidFill>
                  <a:srgbClr val="858591"/>
                </a:solidFill>
                <a:latin typeface="Arial"/>
              </a:rPr>
              <a:t>Genera una derivación o una prueba adicional. Consume recursos, pero es un coste recuperable.</a:t>
            </a:r>
          </a:p>
        </p:txBody>
      </p:sp>
      <p:sp>
        <p:nvSpPr>
          <p:cNvPr id="11" name="TextBox 10"/>
          <p:cNvSpPr txBox="1"/>
          <p:nvPr/>
        </p:nvSpPr>
        <p:spPr>
          <a:xfrm>
            <a:off x="877824" y="5989320"/>
            <a:ext cx="16532351" cy="502920"/>
          </a:xfrm>
          <a:prstGeom prst="rect">
            <a:avLst/>
          </a:prstGeom>
          <a:noFill/>
        </p:spPr>
        <p:txBody>
          <a:bodyPr wrap="square" lIns="18288" rIns="18288" tIns="0" bIns="0" anchor="t">
            <a:spAutoFit/>
          </a:bodyPr>
          <a:lstStyle/>
          <a:p>
            <a:pPr algn="l">
              <a:spcBef>
                <a:spcPts val="0"/>
              </a:spcBef>
              <a:spcAft>
                <a:spcPts val="0"/>
              </a:spcAft>
            </a:pPr>
            <a:r>
              <a:rPr sz="2300" b="1" i="0">
                <a:solidFill>
                  <a:srgbClr val="00566C"/>
                </a:solidFill>
                <a:latin typeface="Arial"/>
              </a:rPr>
              <a:t>Consecuencia sobre el diseño de la comparativa</a:t>
            </a:r>
          </a:p>
        </p:txBody>
      </p:sp>
      <p:sp>
        <p:nvSpPr>
          <p:cNvPr id="12" name="Rectangle 11"/>
          <p:cNvSpPr/>
          <p:nvPr/>
        </p:nvSpPr>
        <p:spPr>
          <a:xfrm>
            <a:off x="877824" y="6583680"/>
            <a:ext cx="3858768" cy="1298448"/>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77824" y="6583680"/>
            <a:ext cx="64008" cy="129844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133856" y="6711696"/>
            <a:ext cx="3401568" cy="1060704"/>
          </a:xfrm>
          <a:prstGeom prst="rect">
            <a:avLst/>
          </a:prstGeom>
          <a:noFill/>
        </p:spPr>
        <p:txBody>
          <a:bodyPr wrap="square" lIns="18288" rIns="18288" tIns="0" bIns="0" anchor="t">
            <a:spAutoFit/>
          </a:bodyPr>
          <a:lstStyle/>
          <a:p>
            <a:pPr algn="l">
              <a:lnSpc>
                <a:spcPct val="102000"/>
              </a:lnSpc>
              <a:spcBef>
                <a:spcPts val="0"/>
              </a:spcBef>
              <a:spcAft>
                <a:spcPts val="500"/>
              </a:spcAft>
            </a:pPr>
            <a:r>
              <a:rPr sz="1900" b="1" i="0">
                <a:solidFill>
                  <a:srgbClr val="00566C"/>
                </a:solidFill>
                <a:latin typeface="Arial"/>
              </a:rPr>
              <a:t>Sensibilidad (Recall)</a:t>
            </a:r>
          </a:p>
          <a:p>
            <a:pPr algn="l">
              <a:lnSpc>
                <a:spcPct val="102000"/>
              </a:lnSpc>
              <a:spcBef>
                <a:spcPts val="0"/>
              </a:spcBef>
              <a:spcAft>
                <a:spcPts val="0"/>
              </a:spcAft>
            </a:pPr>
            <a:r>
              <a:rPr sz="1500" b="0" i="0">
                <a:solidFill>
                  <a:srgbClr val="858591"/>
                </a:solidFill>
                <a:latin typeface="Arial"/>
              </a:rPr>
              <a:t>Métrica principal: proporción de lesiones malignas realmente detectadas.</a:t>
            </a:r>
          </a:p>
        </p:txBody>
      </p:sp>
      <p:sp>
        <p:nvSpPr>
          <p:cNvPr id="15" name="Rectangle 14"/>
          <p:cNvSpPr/>
          <p:nvPr/>
        </p:nvSpPr>
        <p:spPr>
          <a:xfrm>
            <a:off x="5010912" y="6583680"/>
            <a:ext cx="3858768" cy="1298448"/>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010912" y="6583680"/>
            <a:ext cx="64008" cy="129844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266944" y="6711696"/>
            <a:ext cx="3401568" cy="1060704"/>
          </a:xfrm>
          <a:prstGeom prst="rect">
            <a:avLst/>
          </a:prstGeom>
          <a:noFill/>
        </p:spPr>
        <p:txBody>
          <a:bodyPr wrap="square" lIns="18288" rIns="18288" tIns="0" bIns="0" anchor="t">
            <a:spAutoFit/>
          </a:bodyPr>
          <a:lstStyle/>
          <a:p>
            <a:pPr algn="l">
              <a:lnSpc>
                <a:spcPct val="102000"/>
              </a:lnSpc>
              <a:spcBef>
                <a:spcPts val="0"/>
              </a:spcBef>
              <a:spcAft>
                <a:spcPts val="500"/>
              </a:spcAft>
            </a:pPr>
            <a:r>
              <a:rPr sz="1900" b="1" i="0">
                <a:solidFill>
                  <a:srgbClr val="00566C"/>
                </a:solidFill>
                <a:latin typeface="Arial"/>
              </a:rPr>
              <a:t>F1-Score macro</a:t>
            </a:r>
          </a:p>
          <a:p>
            <a:pPr algn="l">
              <a:lnSpc>
                <a:spcPct val="102000"/>
              </a:lnSpc>
              <a:spcBef>
                <a:spcPts val="0"/>
              </a:spcBef>
              <a:spcAft>
                <a:spcPts val="0"/>
              </a:spcAft>
            </a:pPr>
            <a:r>
              <a:rPr sz="1500" b="0" i="0">
                <a:solidFill>
                  <a:srgbClr val="858591"/>
                </a:solidFill>
                <a:latin typeface="Arial"/>
              </a:rPr>
              <a:t>Equilibra precisión y recall sin dejarse dominar por la clase mayoritaria.</a:t>
            </a:r>
          </a:p>
        </p:txBody>
      </p:sp>
      <p:sp>
        <p:nvSpPr>
          <p:cNvPr id="18" name="Rectangle 17"/>
          <p:cNvSpPr/>
          <p:nvPr/>
        </p:nvSpPr>
        <p:spPr>
          <a:xfrm>
            <a:off x="9144000" y="6583680"/>
            <a:ext cx="3858768" cy="1298448"/>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9144000" y="6583680"/>
            <a:ext cx="64008" cy="129844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400032" y="6711696"/>
            <a:ext cx="3401568" cy="1060704"/>
          </a:xfrm>
          <a:prstGeom prst="rect">
            <a:avLst/>
          </a:prstGeom>
          <a:noFill/>
        </p:spPr>
        <p:txBody>
          <a:bodyPr wrap="square" lIns="18288" rIns="18288" tIns="0" bIns="0" anchor="t">
            <a:spAutoFit/>
          </a:bodyPr>
          <a:lstStyle/>
          <a:p>
            <a:pPr algn="l">
              <a:lnSpc>
                <a:spcPct val="102000"/>
              </a:lnSpc>
              <a:spcBef>
                <a:spcPts val="0"/>
              </a:spcBef>
              <a:spcAft>
                <a:spcPts val="500"/>
              </a:spcAft>
            </a:pPr>
            <a:r>
              <a:rPr sz="1900" b="1" i="0">
                <a:solidFill>
                  <a:srgbClr val="00566C"/>
                </a:solidFill>
                <a:latin typeface="Arial"/>
              </a:rPr>
              <a:t>AUC-ROC (OvR)</a:t>
            </a:r>
          </a:p>
          <a:p>
            <a:pPr algn="l">
              <a:lnSpc>
                <a:spcPct val="102000"/>
              </a:lnSpc>
              <a:spcBef>
                <a:spcPts val="0"/>
              </a:spcBef>
              <a:spcAft>
                <a:spcPts val="0"/>
              </a:spcAft>
            </a:pPr>
            <a:r>
              <a:rPr sz="1500" b="0" i="0">
                <a:solidFill>
                  <a:srgbClr val="858591"/>
                </a:solidFill>
                <a:latin typeface="Arial"/>
              </a:rPr>
              <a:t>Capacidad de discriminación con independencia del umbral de decisión.</a:t>
            </a:r>
          </a:p>
        </p:txBody>
      </p:sp>
      <p:sp>
        <p:nvSpPr>
          <p:cNvPr id="21" name="Rectangle 20"/>
          <p:cNvSpPr/>
          <p:nvPr/>
        </p:nvSpPr>
        <p:spPr>
          <a:xfrm>
            <a:off x="13277088" y="6583680"/>
            <a:ext cx="3858768" cy="1298448"/>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13277088" y="6583680"/>
            <a:ext cx="64008" cy="1298448"/>
          </a:xfrm>
          <a:prstGeom prst="rect">
            <a:avLst/>
          </a:prstGeom>
          <a:solidFill>
            <a:srgbClr val="C0C0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3533119" y="6711696"/>
            <a:ext cx="3401568" cy="1060704"/>
          </a:xfrm>
          <a:prstGeom prst="rect">
            <a:avLst/>
          </a:prstGeom>
          <a:noFill/>
        </p:spPr>
        <p:txBody>
          <a:bodyPr wrap="square" lIns="18288" rIns="18288" tIns="0" bIns="0" anchor="t">
            <a:spAutoFit/>
          </a:bodyPr>
          <a:lstStyle/>
          <a:p>
            <a:pPr algn="l">
              <a:lnSpc>
                <a:spcPct val="102000"/>
              </a:lnSpc>
              <a:spcBef>
                <a:spcPts val="0"/>
              </a:spcBef>
              <a:spcAft>
                <a:spcPts val="500"/>
              </a:spcAft>
            </a:pPr>
            <a:r>
              <a:rPr sz="1900" b="1" i="0">
                <a:solidFill>
                  <a:srgbClr val="858591"/>
                </a:solidFill>
                <a:latin typeface="Arial"/>
              </a:rPr>
              <a:t>Accuracy</a:t>
            </a:r>
          </a:p>
          <a:p>
            <a:pPr algn="l">
              <a:lnSpc>
                <a:spcPct val="102000"/>
              </a:lnSpc>
              <a:spcBef>
                <a:spcPts val="0"/>
              </a:spcBef>
              <a:spcAft>
                <a:spcPts val="0"/>
              </a:spcAft>
            </a:pPr>
            <a:r>
              <a:rPr sz="1500" b="0" i="0">
                <a:solidFill>
                  <a:srgbClr val="858591"/>
                </a:solidFill>
                <a:latin typeface="Arial"/>
              </a:rPr>
              <a:t>Se reporta solo como referencia secundaria: con desbalance severo, engaña.</a:t>
            </a:r>
          </a:p>
        </p:txBody>
      </p:sp>
      <p:sp>
        <p:nvSpPr>
          <p:cNvPr id="24" name="Rectangle 23"/>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Pregunta de investigación: ¿qué paradigma —ML clásico o Deep Learning— detecta más lesiones malignas sin degradar de forma inaceptable el resto de métricas?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05</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INTRODUCCIÓN Y CONTEXTO</a:t>
            </a:r>
          </a:p>
          <a:p>
            <a:pPr algn="l">
              <a:lnSpc>
                <a:spcPct val="92000"/>
              </a:lnSpc>
              <a:spcBef>
                <a:spcPts val="0"/>
              </a:spcBef>
              <a:spcAft>
                <a:spcPts val="0"/>
              </a:spcAft>
            </a:pPr>
            <a:r>
              <a:rPr sz="4000" b="1" i="0">
                <a:solidFill>
                  <a:srgbClr val="00566C"/>
                </a:solidFill>
                <a:latin typeface="Arial"/>
              </a:rPr>
              <a:t>Estado del arte: qué se ha hecho y qué hueco deja</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Cinco trabajos de referencia sobre HAM10000 y arquitecturas comparables</a:t>
            </a:r>
          </a:p>
        </p:txBody>
      </p:sp>
      <p:graphicFrame>
        <p:nvGraphicFramePr>
          <p:cNvPr id="5" name="Table 4"/>
          <p:cNvGraphicFramePr>
            <a:graphicFrameLocks noGrp="1"/>
          </p:cNvGraphicFramePr>
          <p:nvPr/>
        </p:nvGraphicFramePr>
        <p:xfrm>
          <a:off x="877824" y="2487168"/>
          <a:ext cx="16532350" cy="4681728"/>
        </p:xfrm>
        <a:graphic>
          <a:graphicData uri="http://schemas.openxmlformats.org/drawingml/2006/table">
            <a:tbl>
              <a:tblPr>
                <a:tableStyleId>{5C22544A-7EE6-4342-B048-85BDC9FD1C3A}</a:tableStyleId>
              </a:tblPr>
              <a:tblGrid>
                <a:gridCol w="2755392"/>
                <a:gridCol w="2534960"/>
                <a:gridCol w="3747333"/>
                <a:gridCol w="2424744"/>
                <a:gridCol w="5069921"/>
              </a:tblGrid>
              <a:tr h="566928">
                <a:tc>
                  <a:txBody>
                    <a:bodyPr wrap="square"/>
                    <a:lstStyle/>
                    <a:p>
                      <a:pPr algn="l"/>
                      <a:r>
                        <a:rPr sz="1700" b="1">
                          <a:solidFill>
                            <a:srgbClr val="FFFFFF"/>
                          </a:solidFill>
                          <a:latin typeface="Arial"/>
                        </a:rPr>
                        <a:t>Autor (año)</a:t>
                      </a:r>
                    </a:p>
                  </a:txBody>
                  <a:tcPr marL="128016" marR="91440" marT="27432" marB="27432" anchor="ctr">
                    <a:solidFill>
                      <a:srgbClr val="219BC3"/>
                    </a:solidFill>
                  </a:tcPr>
                </a:tc>
                <a:tc>
                  <a:txBody>
                    <a:bodyPr wrap="square"/>
                    <a:lstStyle/>
                    <a:p>
                      <a:pPr algn="l"/>
                      <a:r>
                        <a:rPr sz="1700" b="1">
                          <a:solidFill>
                            <a:srgbClr val="FFFFFF"/>
                          </a:solidFill>
                          <a:latin typeface="Arial"/>
                        </a:rPr>
                        <a:t>Dataset</a:t>
                      </a:r>
                    </a:p>
                  </a:txBody>
                  <a:tcPr marL="128016" marR="91440" marT="27432" marB="27432" anchor="ctr">
                    <a:solidFill>
                      <a:srgbClr val="219BC3"/>
                    </a:solidFill>
                  </a:tcPr>
                </a:tc>
                <a:tc>
                  <a:txBody>
                    <a:bodyPr wrap="square"/>
                    <a:lstStyle/>
                    <a:p>
                      <a:pPr algn="l"/>
                      <a:r>
                        <a:rPr sz="1700" b="1">
                          <a:solidFill>
                            <a:srgbClr val="FFFFFF"/>
                          </a:solidFill>
                          <a:latin typeface="Arial"/>
                        </a:rPr>
                        <a:t>Modelo</a:t>
                      </a:r>
                    </a:p>
                  </a:txBody>
                  <a:tcPr marL="128016" marR="91440" marT="27432" marB="27432" anchor="ctr">
                    <a:solidFill>
                      <a:srgbClr val="219BC3"/>
                    </a:solidFill>
                  </a:tcPr>
                </a:tc>
                <a:tc>
                  <a:txBody>
                    <a:bodyPr wrap="square"/>
                    <a:lstStyle/>
                    <a:p>
                      <a:pPr algn="l"/>
                      <a:r>
                        <a:rPr sz="1700" b="1">
                          <a:solidFill>
                            <a:srgbClr val="FFFFFF"/>
                          </a:solidFill>
                          <a:latin typeface="Arial"/>
                        </a:rPr>
                        <a:t>Métrica principal</a:t>
                      </a:r>
                    </a:p>
                  </a:txBody>
                  <a:tcPr marL="128016" marR="91440" marT="27432" marB="27432" anchor="ctr">
                    <a:solidFill>
                      <a:srgbClr val="219BC3"/>
                    </a:solidFill>
                  </a:tcPr>
                </a:tc>
                <a:tc>
                  <a:txBody>
                    <a:bodyPr wrap="square"/>
                    <a:lstStyle/>
                    <a:p>
                      <a:pPr algn="l"/>
                      <a:r>
                        <a:rPr sz="1700" b="1">
                          <a:solidFill>
                            <a:srgbClr val="FFFFFF"/>
                          </a:solidFill>
                          <a:latin typeface="Arial"/>
                        </a:rPr>
                        <a:t>Aportación / relación con este TFM</a:t>
                      </a:r>
                    </a:p>
                  </a:txBody>
                  <a:tcPr marL="128016" marR="91440" marT="27432" marB="27432" anchor="ctr">
                    <a:solidFill>
                      <a:srgbClr val="219BC3"/>
                    </a:solidFill>
                  </a:tcPr>
                </a:tc>
              </a:tr>
              <a:tr h="822960">
                <a:tc>
                  <a:txBody>
                    <a:bodyPr wrap="square"/>
                    <a:lstStyle/>
                    <a:p>
                      <a:pPr algn="l"/>
                      <a:r>
                        <a:rPr sz="1600" b="1">
                          <a:solidFill>
                            <a:srgbClr val="00566C"/>
                          </a:solidFill>
                          <a:latin typeface="Arial"/>
                        </a:rPr>
                        <a:t>Bechelli y Delhommelle (2022)</a:t>
                      </a:r>
                    </a:p>
                  </a:txBody>
                  <a:tcPr marL="128016" marR="91440" marT="27432" marB="27432" anchor="ctr">
                    <a:solidFill>
                      <a:srgbClr val="FFFFFF"/>
                    </a:solidFill>
                  </a:tcPr>
                </a:tc>
                <a:tc>
                  <a:txBody>
                    <a:bodyPr wrap="square"/>
                    <a:lstStyle/>
                    <a:p>
                      <a:pPr algn="l"/>
                      <a:r>
                        <a:rPr sz="1600" b="0">
                          <a:solidFill>
                            <a:srgbClr val="0C0B0B"/>
                          </a:solidFill>
                          <a:latin typeface="Arial"/>
                        </a:rPr>
                        <a:t>Kaggle + HAM10000</a:t>
                      </a:r>
                    </a:p>
                  </a:txBody>
                  <a:tcPr marL="128016" marR="91440" marT="27432" marB="27432" anchor="ctr">
                    <a:solidFill>
                      <a:srgbClr val="FFFFFF"/>
                    </a:solidFill>
                  </a:tcPr>
                </a:tc>
                <a:tc>
                  <a:txBody>
                    <a:bodyPr wrap="square"/>
                    <a:lstStyle/>
                    <a:p>
                      <a:pPr algn="l"/>
                      <a:r>
                        <a:rPr sz="1600" b="0">
                          <a:solidFill>
                            <a:srgbClr val="0C0B0B"/>
                          </a:solidFill>
                          <a:latin typeface="Arial"/>
                        </a:rPr>
                        <a:t>ResNet50 / VGG16 vs. RF / SVM</a:t>
                      </a:r>
                    </a:p>
                  </a:txBody>
                  <a:tcPr marL="128016" marR="91440" marT="27432" marB="27432" anchor="ctr">
                    <a:solidFill>
                      <a:srgbClr val="FFFFFF"/>
                    </a:solidFill>
                  </a:tcPr>
                </a:tc>
                <a:tc>
                  <a:txBody>
                    <a:bodyPr wrap="square"/>
                    <a:lstStyle/>
                    <a:p>
                      <a:pPr algn="l"/>
                      <a:r>
                        <a:rPr sz="1600" b="1">
                          <a:solidFill>
                            <a:srgbClr val="00566C"/>
                          </a:solidFill>
                          <a:latin typeface="Arial"/>
                        </a:rPr>
                        <a:t>Accuracy 83,6 %</a:t>
                      </a:r>
                    </a:p>
                  </a:txBody>
                  <a:tcPr marL="128016" marR="91440" marT="27432" marB="27432" anchor="ctr">
                    <a:solidFill>
                      <a:srgbClr val="FFFFFF"/>
                    </a:solidFill>
                  </a:tcPr>
                </a:tc>
                <a:tc>
                  <a:txBody>
                    <a:bodyPr wrap="square"/>
                    <a:lstStyle/>
                    <a:p>
                      <a:pPr algn="l"/>
                      <a:r>
                        <a:rPr sz="1600" b="0">
                          <a:solidFill>
                            <a:srgbClr val="0C0B0B"/>
                          </a:solidFill>
                          <a:latin typeface="Arial"/>
                        </a:rPr>
                        <a:t>DL supera a ML clásico en precisión global</a:t>
                      </a:r>
                    </a:p>
                  </a:txBody>
                  <a:tcPr marL="128016" marR="91440" marT="27432" marB="27432" anchor="ctr">
                    <a:solidFill>
                      <a:srgbClr val="FFFFFF"/>
                    </a:solidFill>
                  </a:tcPr>
                </a:tc>
              </a:tr>
              <a:tr h="822960">
                <a:tc>
                  <a:txBody>
                    <a:bodyPr wrap="square"/>
                    <a:lstStyle/>
                    <a:p>
                      <a:pPr algn="l"/>
                      <a:r>
                        <a:rPr sz="1600" b="1">
                          <a:solidFill>
                            <a:srgbClr val="00566C"/>
                          </a:solidFill>
                          <a:latin typeface="Arial"/>
                        </a:rPr>
                        <a:t>Sönmez et al. (2023)</a:t>
                      </a:r>
                    </a:p>
                  </a:txBody>
                  <a:tcPr marL="128016" marR="91440" marT="27432" marB="27432" anchor="ctr">
                    <a:solidFill>
                      <a:srgbClr val="F2F2F5"/>
                    </a:solidFill>
                  </a:tcPr>
                </a:tc>
                <a:tc>
                  <a:txBody>
                    <a:bodyPr wrap="square"/>
                    <a:lstStyle/>
                    <a:p>
                      <a:pPr algn="l"/>
                      <a:r>
                        <a:rPr sz="1600" b="0">
                          <a:solidFill>
                            <a:srgbClr val="0C0B0B"/>
                          </a:solidFill>
                          <a:latin typeface="Arial"/>
                        </a:rPr>
                        <a:t>HAM10000</a:t>
                      </a:r>
                    </a:p>
                  </a:txBody>
                  <a:tcPr marL="128016" marR="91440" marT="27432" marB="27432" anchor="ctr">
                    <a:solidFill>
                      <a:srgbClr val="F2F2F5"/>
                    </a:solidFill>
                  </a:tcPr>
                </a:tc>
                <a:tc>
                  <a:txBody>
                    <a:bodyPr wrap="square"/>
                    <a:lstStyle/>
                    <a:p>
                      <a:pPr algn="l"/>
                      <a:r>
                        <a:rPr sz="1600" b="0">
                          <a:solidFill>
                            <a:srgbClr val="0C0B0B"/>
                          </a:solidFill>
                          <a:latin typeface="Arial"/>
                        </a:rPr>
                        <a:t>MobileNetV2 (mejor de 4 CNN)</a:t>
                      </a:r>
                    </a:p>
                  </a:txBody>
                  <a:tcPr marL="128016" marR="91440" marT="27432" marB="27432" anchor="ctr">
                    <a:solidFill>
                      <a:srgbClr val="F2F2F5"/>
                    </a:solidFill>
                  </a:tcPr>
                </a:tc>
                <a:tc>
                  <a:txBody>
                    <a:bodyPr wrap="square"/>
                    <a:lstStyle/>
                    <a:p>
                      <a:pPr algn="l"/>
                      <a:r>
                        <a:rPr sz="1600" b="1">
                          <a:solidFill>
                            <a:srgbClr val="00566C"/>
                          </a:solidFill>
                          <a:latin typeface="Arial"/>
                        </a:rPr>
                        <a:t>Accuracy 80,79 %</a:t>
                      </a:r>
                    </a:p>
                  </a:txBody>
                  <a:tcPr marL="128016" marR="91440" marT="27432" marB="27432" anchor="ctr">
                    <a:solidFill>
                      <a:srgbClr val="F2F2F5"/>
                    </a:solidFill>
                  </a:tcPr>
                </a:tc>
                <a:tc>
                  <a:txBody>
                    <a:bodyPr wrap="square"/>
                    <a:lstStyle/>
                    <a:p>
                      <a:pPr algn="l"/>
                      <a:r>
                        <a:rPr sz="1600" b="0">
                          <a:solidFill>
                            <a:srgbClr val="0C0B0B"/>
                          </a:solidFill>
                          <a:latin typeface="Arial"/>
                        </a:rPr>
                        <a:t>Data augmentation frente al submuestreo de este TFM</a:t>
                      </a:r>
                    </a:p>
                  </a:txBody>
                  <a:tcPr marL="128016" marR="91440" marT="27432" marB="27432" anchor="ctr">
                    <a:solidFill>
                      <a:srgbClr val="F2F2F5"/>
                    </a:solidFill>
                  </a:tcPr>
                </a:tc>
              </a:tr>
              <a:tr h="822960">
                <a:tc>
                  <a:txBody>
                    <a:bodyPr wrap="square"/>
                    <a:lstStyle/>
                    <a:p>
                      <a:pPr algn="l"/>
                      <a:r>
                        <a:rPr sz="1600" b="1">
                          <a:solidFill>
                            <a:srgbClr val="00566C"/>
                          </a:solidFill>
                          <a:latin typeface="Arial"/>
                        </a:rPr>
                        <a:t>Çevik y Zengin (2019)</a:t>
                      </a:r>
                    </a:p>
                  </a:txBody>
                  <a:tcPr marL="128016" marR="91440" marT="27432" marB="27432" anchor="ctr">
                    <a:solidFill>
                      <a:srgbClr val="FFFFFF"/>
                    </a:solidFill>
                  </a:tcPr>
                </a:tc>
                <a:tc>
                  <a:txBody>
                    <a:bodyPr wrap="square"/>
                    <a:lstStyle/>
                    <a:p>
                      <a:pPr algn="l"/>
                      <a:r>
                        <a:rPr sz="1600" b="0">
                          <a:solidFill>
                            <a:srgbClr val="0C0B0B"/>
                          </a:solidFill>
                          <a:latin typeface="Arial"/>
                        </a:rPr>
                        <a:t>HAM10000</a:t>
                      </a:r>
                    </a:p>
                  </a:txBody>
                  <a:tcPr marL="128016" marR="91440" marT="27432" marB="27432" anchor="ctr">
                    <a:solidFill>
                      <a:srgbClr val="FFFFFF"/>
                    </a:solidFill>
                  </a:tcPr>
                </a:tc>
                <a:tc>
                  <a:txBody>
                    <a:bodyPr wrap="square"/>
                    <a:lstStyle/>
                    <a:p>
                      <a:pPr algn="l"/>
                      <a:r>
                        <a:rPr sz="1600" b="0">
                          <a:solidFill>
                            <a:srgbClr val="0C0B0B"/>
                          </a:solidFill>
                          <a:latin typeface="Arial"/>
                        </a:rPr>
                        <a:t>VGGNET (CNN personalizada)</a:t>
                      </a:r>
                    </a:p>
                  </a:txBody>
                  <a:tcPr marL="128016" marR="91440" marT="27432" marB="27432" anchor="ctr">
                    <a:solidFill>
                      <a:srgbClr val="FFFFFF"/>
                    </a:solidFill>
                  </a:tcPr>
                </a:tc>
                <a:tc>
                  <a:txBody>
                    <a:bodyPr wrap="square"/>
                    <a:lstStyle/>
                    <a:p>
                      <a:pPr algn="l"/>
                      <a:r>
                        <a:rPr sz="1600" b="1">
                          <a:solidFill>
                            <a:srgbClr val="00566C"/>
                          </a:solidFill>
                          <a:latin typeface="Arial"/>
                        </a:rPr>
                        <a:t>Accuracy 85,62 %</a:t>
                      </a:r>
                    </a:p>
                  </a:txBody>
                  <a:tcPr marL="128016" marR="91440" marT="27432" marB="27432" anchor="ctr">
                    <a:solidFill>
                      <a:srgbClr val="FFFFFF"/>
                    </a:solidFill>
                  </a:tcPr>
                </a:tc>
                <a:tc>
                  <a:txBody>
                    <a:bodyPr wrap="square"/>
                    <a:lstStyle/>
                    <a:p>
                      <a:pPr algn="l"/>
                      <a:r>
                        <a:rPr sz="1600" b="0">
                          <a:solidFill>
                            <a:srgbClr val="0C0B0B"/>
                          </a:solidFill>
                          <a:latin typeface="Arial"/>
                        </a:rPr>
                        <a:t>Valida ReLU + Adam, empleados también aquí</a:t>
                      </a:r>
                    </a:p>
                  </a:txBody>
                  <a:tcPr marL="128016" marR="91440" marT="27432" marB="27432" anchor="ctr">
                    <a:solidFill>
                      <a:srgbClr val="FFFFFF"/>
                    </a:solidFill>
                  </a:tcPr>
                </a:tc>
              </a:tr>
              <a:tr h="822960">
                <a:tc>
                  <a:txBody>
                    <a:bodyPr wrap="square"/>
                    <a:lstStyle/>
                    <a:p>
                      <a:pPr algn="l"/>
                      <a:r>
                        <a:rPr sz="1600" b="1">
                          <a:solidFill>
                            <a:srgbClr val="00566C"/>
                          </a:solidFill>
                          <a:latin typeface="Arial"/>
                        </a:rPr>
                        <a:t>Sánchez Sánchez (2024)</a:t>
                      </a:r>
                    </a:p>
                  </a:txBody>
                  <a:tcPr marL="128016" marR="91440" marT="27432" marB="27432" anchor="ctr">
                    <a:solidFill>
                      <a:srgbClr val="F2F2F5"/>
                    </a:solidFill>
                  </a:tcPr>
                </a:tc>
                <a:tc>
                  <a:txBody>
                    <a:bodyPr wrap="square"/>
                    <a:lstStyle/>
                    <a:p>
                      <a:pPr algn="l"/>
                      <a:r>
                        <a:rPr sz="1600" b="0">
                          <a:solidFill>
                            <a:srgbClr val="0C0B0B"/>
                          </a:solidFill>
                          <a:latin typeface="Arial"/>
                        </a:rPr>
                        <a:t>HAM10000 (ISIC 2018)</a:t>
                      </a:r>
                    </a:p>
                  </a:txBody>
                  <a:tcPr marL="128016" marR="91440" marT="27432" marB="27432" anchor="ctr">
                    <a:solidFill>
                      <a:srgbClr val="F2F2F5"/>
                    </a:solidFill>
                  </a:tcPr>
                </a:tc>
                <a:tc>
                  <a:txBody>
                    <a:bodyPr wrap="square"/>
                    <a:lstStyle/>
                    <a:p>
                      <a:pPr algn="l"/>
                      <a:r>
                        <a:rPr sz="1600" b="0">
                          <a:solidFill>
                            <a:srgbClr val="0C0B0B"/>
                          </a:solidFill>
                          <a:latin typeface="Arial"/>
                        </a:rPr>
                        <a:t>Ensamblado EfficientNet + DenseNet121 + NASNet</a:t>
                      </a:r>
                    </a:p>
                  </a:txBody>
                  <a:tcPr marL="128016" marR="91440" marT="27432" marB="27432" anchor="ctr">
                    <a:solidFill>
                      <a:srgbClr val="F2F2F5"/>
                    </a:solidFill>
                  </a:tcPr>
                </a:tc>
                <a:tc>
                  <a:txBody>
                    <a:bodyPr wrap="square"/>
                    <a:lstStyle/>
                    <a:p>
                      <a:pPr algn="l"/>
                      <a:r>
                        <a:rPr sz="1600" b="1">
                          <a:solidFill>
                            <a:srgbClr val="00566C"/>
                          </a:solidFill>
                          <a:latin typeface="Arial"/>
                        </a:rPr>
                        <a:t>BMA 0,7645</a:t>
                      </a:r>
                    </a:p>
                  </a:txBody>
                  <a:tcPr marL="128016" marR="91440" marT="27432" marB="27432" anchor="ctr">
                    <a:solidFill>
                      <a:srgbClr val="F2F2F5"/>
                    </a:solidFill>
                  </a:tcPr>
                </a:tc>
                <a:tc>
                  <a:txBody>
                    <a:bodyPr wrap="square"/>
                    <a:lstStyle/>
                    <a:p>
                      <a:pPr algn="l"/>
                      <a:r>
                        <a:rPr sz="1600" b="0">
                          <a:solidFill>
                            <a:srgbClr val="0C0B0B"/>
                          </a:solidFill>
                          <a:latin typeface="Arial"/>
                        </a:rPr>
                        <a:t>Antecedente más cercano: también prioriza recall en clases malignas</a:t>
                      </a:r>
                    </a:p>
                  </a:txBody>
                  <a:tcPr marL="128016" marR="91440" marT="27432" marB="27432" anchor="ctr">
                    <a:solidFill>
                      <a:srgbClr val="F2F2F5"/>
                    </a:solidFill>
                  </a:tcPr>
                </a:tc>
              </a:tr>
              <a:tr h="822960">
                <a:tc>
                  <a:txBody>
                    <a:bodyPr wrap="square"/>
                    <a:lstStyle/>
                    <a:p>
                      <a:pPr algn="l"/>
                      <a:r>
                        <a:rPr sz="1600" b="1">
                          <a:solidFill>
                            <a:srgbClr val="00566C"/>
                          </a:solidFill>
                          <a:latin typeface="Arial"/>
                        </a:rPr>
                        <a:t>Goceri (2021)</a:t>
                      </a:r>
                    </a:p>
                  </a:txBody>
                  <a:tcPr marL="128016" marR="91440" marT="27432" marB="27432" anchor="ctr">
                    <a:solidFill>
                      <a:srgbClr val="FFFFFF"/>
                    </a:solidFill>
                  </a:tcPr>
                </a:tc>
                <a:tc>
                  <a:txBody>
                    <a:bodyPr wrap="square"/>
                    <a:lstStyle/>
                    <a:p>
                      <a:pPr algn="l"/>
                      <a:r>
                        <a:rPr sz="1600" b="0">
                          <a:solidFill>
                            <a:srgbClr val="0C0B0B"/>
                          </a:solidFill>
                          <a:latin typeface="Arial"/>
                        </a:rPr>
                        <a:t>DermNet / DermQuest</a:t>
                      </a:r>
                    </a:p>
                  </a:txBody>
                  <a:tcPr marL="128016" marR="91440" marT="27432" marB="27432" anchor="ctr">
                    <a:solidFill>
                      <a:srgbClr val="FFFFFF"/>
                    </a:solidFill>
                  </a:tcPr>
                </a:tc>
                <a:tc>
                  <a:txBody>
                    <a:bodyPr wrap="square"/>
                    <a:lstStyle/>
                    <a:p>
                      <a:pPr algn="l"/>
                      <a:r>
                        <a:rPr sz="1600" b="0">
                          <a:solidFill>
                            <a:srgbClr val="0C0B0B"/>
                          </a:solidFill>
                          <a:latin typeface="Arial"/>
                        </a:rPr>
                        <a:t>Segmentación level-set + DenseNet201</a:t>
                      </a:r>
                    </a:p>
                  </a:txBody>
                  <a:tcPr marL="128016" marR="91440" marT="27432" marB="27432" anchor="ctr">
                    <a:solidFill>
                      <a:srgbClr val="FFFFFF"/>
                    </a:solidFill>
                  </a:tcPr>
                </a:tc>
                <a:tc>
                  <a:txBody>
                    <a:bodyPr wrap="square"/>
                    <a:lstStyle/>
                    <a:p>
                      <a:pPr algn="l"/>
                      <a:r>
                        <a:rPr sz="1600" b="1">
                          <a:solidFill>
                            <a:srgbClr val="00566C"/>
                          </a:solidFill>
                          <a:latin typeface="Arial"/>
                        </a:rPr>
                        <a:t>Accuracy 95,24 %</a:t>
                      </a:r>
                    </a:p>
                  </a:txBody>
                  <a:tcPr marL="128016" marR="91440" marT="27432" marB="27432" anchor="ctr">
                    <a:solidFill>
                      <a:srgbClr val="FFFFFF"/>
                    </a:solidFill>
                  </a:tcPr>
                </a:tc>
                <a:tc>
                  <a:txBody>
                    <a:bodyPr wrap="square"/>
                    <a:lstStyle/>
                    <a:p>
                      <a:pPr algn="l"/>
                      <a:r>
                        <a:rPr sz="1600" b="0">
                          <a:solidFill>
                            <a:srgbClr val="0C0B0B"/>
                          </a:solidFill>
                          <a:latin typeface="Arial"/>
                        </a:rPr>
                        <a:t>Mismo backbone; segmentación previa en lugar de clasificación directa</a:t>
                      </a:r>
                    </a:p>
                  </a:txBody>
                  <a:tcPr marL="128016" marR="91440" marT="27432" marB="27432" anchor="ctr">
                    <a:solidFill>
                      <a:srgbClr val="FFFFFF"/>
                    </a:solidFill>
                  </a:tcPr>
                </a:tc>
              </a:tr>
            </a:tbl>
          </a:graphicData>
        </a:graphic>
      </p:graphicFrame>
      <p:sp>
        <p:nvSpPr>
          <p:cNvPr id="6" name="Rectangle 5"/>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El hueco: casi todos los trabajos optimizan Accuracy sobre 7 clases. Ninguno compara el mismo backbone bajo dos estrategias de datos priorizando la sensibilidad clínica.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06</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INTRODUCCIÓN Y CONTEXTO</a:t>
            </a:r>
          </a:p>
          <a:p>
            <a:pPr algn="l">
              <a:lnSpc>
                <a:spcPct val="92000"/>
              </a:lnSpc>
              <a:spcBef>
                <a:spcPts val="0"/>
              </a:spcBef>
              <a:spcAft>
                <a:spcPts val="0"/>
              </a:spcAft>
            </a:pPr>
            <a:r>
              <a:rPr sz="4000" b="1" i="0">
                <a:solidFill>
                  <a:srgbClr val="00566C"/>
                </a:solidFill>
                <a:latin typeface="Arial"/>
              </a:rPr>
              <a:t>Objetivos</a:t>
            </a:r>
          </a:p>
        </p:txBody>
      </p:sp>
      <p:sp>
        <p:nvSpPr>
          <p:cNvPr id="4" name="Rectangle 3"/>
          <p:cNvSpPr/>
          <p:nvPr/>
        </p:nvSpPr>
        <p:spPr>
          <a:xfrm>
            <a:off x="877824" y="2212848"/>
            <a:ext cx="16532351" cy="16276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77824" y="2212848"/>
            <a:ext cx="82296" cy="16276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289304" y="2359152"/>
            <a:ext cx="15709392" cy="1417320"/>
          </a:xfrm>
          <a:prstGeom prst="rect">
            <a:avLst/>
          </a:prstGeom>
          <a:noFill/>
        </p:spPr>
        <p:txBody>
          <a:bodyPr wrap="square" lIns="18288" rIns="18288" tIns="0" bIns="0" anchor="t">
            <a:spAutoFit/>
          </a:bodyPr>
          <a:lstStyle/>
          <a:p>
            <a:pPr algn="l">
              <a:lnSpc>
                <a:spcPct val="106000"/>
              </a:lnSpc>
              <a:spcBef>
                <a:spcPts val="0"/>
              </a:spcBef>
              <a:spcAft>
                <a:spcPts val="700"/>
              </a:spcAft>
            </a:pPr>
            <a:r>
              <a:rPr sz="1700" b="1" i="0">
                <a:solidFill>
                  <a:srgbClr val="219BC3"/>
                </a:solidFill>
                <a:latin typeface="Arial"/>
              </a:rPr>
              <a:t>OBJETIVO GENERAL</a:t>
            </a:r>
          </a:p>
          <a:p>
            <a:pPr algn="l">
              <a:lnSpc>
                <a:spcPct val="106000"/>
              </a:lnSpc>
              <a:spcBef>
                <a:spcPts val="0"/>
              </a:spcBef>
              <a:spcAft>
                <a:spcPts val="0"/>
              </a:spcAft>
            </a:pPr>
            <a:r>
              <a:rPr sz="2200" b="0" i="0">
                <a:solidFill>
                  <a:srgbClr val="0C0B0B"/>
                </a:solidFill>
                <a:latin typeface="Arial"/>
              </a:rPr>
              <a:t>Desarrollar y evaluar una comparativa de soluciones basada en Inteligencia Artificial para la clasificación automática de enfermedades dermatológicas a partir de imágenes, contrastando SVM frente a DenseNet201, con el fin de determinar el modelo óptimo y escalable en entornos orientados a la salud.</a:t>
            </a:r>
          </a:p>
        </p:txBody>
      </p:sp>
      <p:sp>
        <p:nvSpPr>
          <p:cNvPr id="7" name="TextBox 6"/>
          <p:cNvSpPr txBox="1"/>
          <p:nvPr/>
        </p:nvSpPr>
        <p:spPr>
          <a:xfrm>
            <a:off x="877824" y="4133087"/>
            <a:ext cx="16532351" cy="411480"/>
          </a:xfrm>
          <a:prstGeom prst="rect">
            <a:avLst/>
          </a:prstGeom>
          <a:noFill/>
        </p:spPr>
        <p:txBody>
          <a:bodyPr wrap="square" lIns="18288" rIns="18288" tIns="0" bIns="0" anchor="t">
            <a:spAutoFit/>
          </a:bodyPr>
          <a:lstStyle/>
          <a:p>
            <a:pPr algn="l">
              <a:spcBef>
                <a:spcPts val="0"/>
              </a:spcBef>
              <a:spcAft>
                <a:spcPts val="0"/>
              </a:spcAft>
            </a:pPr>
            <a:r>
              <a:rPr sz="2400" b="1" i="0">
                <a:solidFill>
                  <a:srgbClr val="00566C"/>
                </a:solidFill>
                <a:latin typeface="Arial"/>
              </a:rPr>
              <a:t>Objetivos específicos</a:t>
            </a:r>
          </a:p>
        </p:txBody>
      </p:sp>
      <p:sp>
        <p:nvSpPr>
          <p:cNvPr id="8" name="Rectangle 7"/>
          <p:cNvSpPr/>
          <p:nvPr/>
        </p:nvSpPr>
        <p:spPr>
          <a:xfrm>
            <a:off x="877824" y="4681728"/>
            <a:ext cx="3043123" cy="320040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77824" y="4681728"/>
            <a:ext cx="3043123"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152144" y="4901184"/>
            <a:ext cx="2494483" cy="2788920"/>
          </a:xfrm>
          <a:prstGeom prst="rect">
            <a:avLst/>
          </a:prstGeom>
          <a:noFill/>
        </p:spPr>
        <p:txBody>
          <a:bodyPr wrap="square" lIns="18288" rIns="18288" tIns="0" bIns="0" anchor="t">
            <a:spAutoFit/>
          </a:bodyPr>
          <a:lstStyle/>
          <a:p>
            <a:pPr algn="l">
              <a:lnSpc>
                <a:spcPct val="105000"/>
              </a:lnSpc>
              <a:spcBef>
                <a:spcPts val="0"/>
              </a:spcBef>
              <a:spcAft>
                <a:spcPts val="800"/>
              </a:spcAft>
            </a:pPr>
            <a:r>
              <a:rPr sz="3000" b="1" i="0">
                <a:solidFill>
                  <a:srgbClr val="219BC3"/>
                </a:solidFill>
                <a:latin typeface="Arial"/>
              </a:rPr>
              <a:t>01</a:t>
            </a:r>
          </a:p>
          <a:p>
            <a:pPr algn="l">
              <a:lnSpc>
                <a:spcPct val="105000"/>
              </a:lnSpc>
              <a:spcBef>
                <a:spcPts val="0"/>
              </a:spcBef>
              <a:spcAft>
                <a:spcPts val="800"/>
              </a:spcAft>
            </a:pPr>
            <a:r>
              <a:rPr sz="2000" b="1" i="0">
                <a:solidFill>
                  <a:srgbClr val="00566C"/>
                </a:solidFill>
                <a:latin typeface="Arial"/>
              </a:rPr>
              <a:t>Análisis Exploratorio de Datos</a:t>
            </a:r>
          </a:p>
          <a:p>
            <a:pPr algn="l">
              <a:lnSpc>
                <a:spcPct val="105000"/>
              </a:lnSpc>
              <a:spcBef>
                <a:spcPts val="0"/>
              </a:spcBef>
              <a:spcAft>
                <a:spcPts val="0"/>
              </a:spcAft>
            </a:pPr>
            <a:r>
              <a:rPr sz="1700" b="0" i="0">
                <a:solidFill>
                  <a:srgbClr val="858591"/>
                </a:solidFill>
                <a:latin typeface="Arial"/>
              </a:rPr>
              <a:t>Identificar sesgos y distribuciones de clase sobre HAM10000.</a:t>
            </a:r>
          </a:p>
        </p:txBody>
      </p:sp>
      <p:sp>
        <p:nvSpPr>
          <p:cNvPr id="11" name="Rectangle 10"/>
          <p:cNvSpPr/>
          <p:nvPr/>
        </p:nvSpPr>
        <p:spPr>
          <a:xfrm>
            <a:off x="4250131" y="4681728"/>
            <a:ext cx="3043123" cy="320040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250131" y="4681728"/>
            <a:ext cx="3043123"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24451" y="4901184"/>
            <a:ext cx="2494483" cy="2788920"/>
          </a:xfrm>
          <a:prstGeom prst="rect">
            <a:avLst/>
          </a:prstGeom>
          <a:noFill/>
        </p:spPr>
        <p:txBody>
          <a:bodyPr wrap="square" lIns="18288" rIns="18288" tIns="0" bIns="0" anchor="t">
            <a:spAutoFit/>
          </a:bodyPr>
          <a:lstStyle/>
          <a:p>
            <a:pPr algn="l">
              <a:lnSpc>
                <a:spcPct val="105000"/>
              </a:lnSpc>
              <a:spcBef>
                <a:spcPts val="0"/>
              </a:spcBef>
              <a:spcAft>
                <a:spcPts val="800"/>
              </a:spcAft>
            </a:pPr>
            <a:r>
              <a:rPr sz="3000" b="1" i="0">
                <a:solidFill>
                  <a:srgbClr val="219BC3"/>
                </a:solidFill>
                <a:latin typeface="Arial"/>
              </a:rPr>
              <a:t>02</a:t>
            </a:r>
          </a:p>
          <a:p>
            <a:pPr algn="l">
              <a:lnSpc>
                <a:spcPct val="105000"/>
              </a:lnSpc>
              <a:spcBef>
                <a:spcPts val="0"/>
              </a:spcBef>
              <a:spcAft>
                <a:spcPts val="800"/>
              </a:spcAft>
            </a:pPr>
            <a:r>
              <a:rPr sz="2000" b="1" i="0">
                <a:solidFill>
                  <a:srgbClr val="00566C"/>
                </a:solidFill>
                <a:latin typeface="Arial"/>
              </a:rPr>
              <a:t>Pipeline de preprocesamiento</a:t>
            </a:r>
          </a:p>
          <a:p>
            <a:pPr algn="l">
              <a:lnSpc>
                <a:spcPct val="105000"/>
              </a:lnSpc>
              <a:spcBef>
                <a:spcPts val="0"/>
              </a:spcBef>
              <a:spcAft>
                <a:spcPts val="0"/>
              </a:spcAft>
            </a:pPr>
            <a:r>
              <a:rPr sz="1700" b="0" i="0">
                <a:solidFill>
                  <a:srgbClr val="858591"/>
                </a:solidFill>
                <a:latin typeface="Arial"/>
              </a:rPr>
              <a:t>Redimensionado, normalización y técnicas de balanceo de clases.</a:t>
            </a:r>
          </a:p>
        </p:txBody>
      </p:sp>
      <p:sp>
        <p:nvSpPr>
          <p:cNvPr id="14" name="Rectangle 13"/>
          <p:cNvSpPr/>
          <p:nvPr/>
        </p:nvSpPr>
        <p:spPr>
          <a:xfrm>
            <a:off x="7622438" y="4681728"/>
            <a:ext cx="3043123" cy="320040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622438" y="4681728"/>
            <a:ext cx="3043123"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896758" y="4901184"/>
            <a:ext cx="2494483" cy="2788920"/>
          </a:xfrm>
          <a:prstGeom prst="rect">
            <a:avLst/>
          </a:prstGeom>
          <a:noFill/>
        </p:spPr>
        <p:txBody>
          <a:bodyPr wrap="square" lIns="18288" rIns="18288" tIns="0" bIns="0" anchor="t">
            <a:spAutoFit/>
          </a:bodyPr>
          <a:lstStyle/>
          <a:p>
            <a:pPr algn="l">
              <a:lnSpc>
                <a:spcPct val="105000"/>
              </a:lnSpc>
              <a:spcBef>
                <a:spcPts val="0"/>
              </a:spcBef>
              <a:spcAft>
                <a:spcPts val="800"/>
              </a:spcAft>
            </a:pPr>
            <a:r>
              <a:rPr sz="3000" b="1" i="0">
                <a:solidFill>
                  <a:srgbClr val="219BC3"/>
                </a:solidFill>
                <a:latin typeface="Arial"/>
              </a:rPr>
              <a:t>03</a:t>
            </a:r>
          </a:p>
          <a:p>
            <a:pPr algn="l">
              <a:lnSpc>
                <a:spcPct val="105000"/>
              </a:lnSpc>
              <a:spcBef>
                <a:spcPts val="0"/>
              </a:spcBef>
              <a:spcAft>
                <a:spcPts val="800"/>
              </a:spcAft>
            </a:pPr>
            <a:r>
              <a:rPr sz="2000" b="1" i="0">
                <a:solidFill>
                  <a:srgbClr val="00566C"/>
                </a:solidFill>
                <a:latin typeface="Arial"/>
              </a:rPr>
              <a:t>Pipeline de ML tradicional</a:t>
            </a:r>
          </a:p>
          <a:p>
            <a:pPr algn="l">
              <a:lnSpc>
                <a:spcPct val="105000"/>
              </a:lnSpc>
              <a:spcBef>
                <a:spcPts val="0"/>
              </a:spcBef>
              <a:spcAft>
                <a:spcPts val="0"/>
              </a:spcAft>
            </a:pPr>
            <a:r>
              <a:rPr sz="1700" b="0" i="0">
                <a:solidFill>
                  <a:srgbClr val="858591"/>
                </a:solidFill>
                <a:latin typeface="Arial"/>
              </a:rPr>
              <a:t>Extracción paramétrica de características y clasificador SVM.</a:t>
            </a:r>
          </a:p>
        </p:txBody>
      </p:sp>
      <p:sp>
        <p:nvSpPr>
          <p:cNvPr id="17" name="Rectangle 16"/>
          <p:cNvSpPr/>
          <p:nvPr/>
        </p:nvSpPr>
        <p:spPr>
          <a:xfrm>
            <a:off x="10994745" y="4681728"/>
            <a:ext cx="3043123" cy="320040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0994745" y="4681728"/>
            <a:ext cx="3043123"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1269065" y="4901184"/>
            <a:ext cx="2494483" cy="2788920"/>
          </a:xfrm>
          <a:prstGeom prst="rect">
            <a:avLst/>
          </a:prstGeom>
          <a:noFill/>
        </p:spPr>
        <p:txBody>
          <a:bodyPr wrap="square" lIns="18288" rIns="18288" tIns="0" bIns="0" anchor="t">
            <a:spAutoFit/>
          </a:bodyPr>
          <a:lstStyle/>
          <a:p>
            <a:pPr algn="l">
              <a:lnSpc>
                <a:spcPct val="105000"/>
              </a:lnSpc>
              <a:spcBef>
                <a:spcPts val="0"/>
              </a:spcBef>
              <a:spcAft>
                <a:spcPts val="800"/>
              </a:spcAft>
            </a:pPr>
            <a:r>
              <a:rPr sz="3000" b="1" i="0">
                <a:solidFill>
                  <a:srgbClr val="219BC3"/>
                </a:solidFill>
                <a:latin typeface="Arial"/>
              </a:rPr>
              <a:t>04</a:t>
            </a:r>
          </a:p>
          <a:p>
            <a:pPr algn="l">
              <a:lnSpc>
                <a:spcPct val="105000"/>
              </a:lnSpc>
              <a:spcBef>
                <a:spcPts val="0"/>
              </a:spcBef>
              <a:spcAft>
                <a:spcPts val="800"/>
              </a:spcAft>
            </a:pPr>
            <a:r>
              <a:rPr sz="2000" b="1" i="0">
                <a:solidFill>
                  <a:srgbClr val="00566C"/>
                </a:solidFill>
                <a:latin typeface="Arial"/>
              </a:rPr>
              <a:t>Pipeline de Deep Learning</a:t>
            </a:r>
          </a:p>
          <a:p>
            <a:pPr algn="l">
              <a:lnSpc>
                <a:spcPct val="105000"/>
              </a:lnSpc>
              <a:spcBef>
                <a:spcPts val="0"/>
              </a:spcBef>
              <a:spcAft>
                <a:spcPts val="0"/>
              </a:spcAft>
            </a:pPr>
            <a:r>
              <a:rPr sz="1700" b="0" i="0">
                <a:solidFill>
                  <a:srgbClr val="858591"/>
                </a:solidFill>
                <a:latin typeface="Arial"/>
              </a:rPr>
              <a:t>Red convolucional entrenada mediante Transfer Learning.</a:t>
            </a:r>
          </a:p>
        </p:txBody>
      </p:sp>
      <p:sp>
        <p:nvSpPr>
          <p:cNvPr id="20" name="Rectangle 19"/>
          <p:cNvSpPr/>
          <p:nvPr/>
        </p:nvSpPr>
        <p:spPr>
          <a:xfrm>
            <a:off x="14367052" y="4681728"/>
            <a:ext cx="3043123" cy="320040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4367052" y="4681728"/>
            <a:ext cx="3043123"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4641372" y="4901184"/>
            <a:ext cx="2494483" cy="2788920"/>
          </a:xfrm>
          <a:prstGeom prst="rect">
            <a:avLst/>
          </a:prstGeom>
          <a:noFill/>
        </p:spPr>
        <p:txBody>
          <a:bodyPr wrap="square" lIns="18288" rIns="18288" tIns="0" bIns="0" anchor="t">
            <a:spAutoFit/>
          </a:bodyPr>
          <a:lstStyle/>
          <a:p>
            <a:pPr algn="l">
              <a:lnSpc>
                <a:spcPct val="105000"/>
              </a:lnSpc>
              <a:spcBef>
                <a:spcPts val="0"/>
              </a:spcBef>
              <a:spcAft>
                <a:spcPts val="800"/>
              </a:spcAft>
            </a:pPr>
            <a:r>
              <a:rPr sz="3000" b="1" i="0">
                <a:solidFill>
                  <a:srgbClr val="219BC3"/>
                </a:solidFill>
                <a:latin typeface="Arial"/>
              </a:rPr>
              <a:t>05</a:t>
            </a:r>
          </a:p>
          <a:p>
            <a:pPr algn="l">
              <a:lnSpc>
                <a:spcPct val="105000"/>
              </a:lnSpc>
              <a:spcBef>
                <a:spcPts val="0"/>
              </a:spcBef>
              <a:spcAft>
                <a:spcPts val="800"/>
              </a:spcAft>
            </a:pPr>
            <a:r>
              <a:rPr sz="2000" b="1" i="0">
                <a:solidFill>
                  <a:srgbClr val="00566C"/>
                </a:solidFill>
                <a:latin typeface="Arial"/>
              </a:rPr>
              <a:t>Comparativa con criterio clínico</a:t>
            </a:r>
          </a:p>
          <a:p>
            <a:pPr algn="l">
              <a:lnSpc>
                <a:spcPct val="105000"/>
              </a:lnSpc>
              <a:spcBef>
                <a:spcPts val="0"/>
              </a:spcBef>
              <a:spcAft>
                <a:spcPts val="0"/>
              </a:spcAft>
            </a:pPr>
            <a:r>
              <a:rPr sz="1700" b="0" i="0">
                <a:solidFill>
                  <a:srgbClr val="858591"/>
                </a:solidFill>
                <a:latin typeface="Arial"/>
              </a:rPr>
              <a:t>Sensibilidad, F1-Score y AUC-ROC, contrastados con el estado del arte.</a:t>
            </a:r>
          </a:p>
        </p:txBody>
      </p:sp>
      <p:sp>
        <p:nvSpPr>
          <p:cNvPr id="23" name="Rectangle 22"/>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Los cinco objetivos específicos se corresponden, uno a uno, con las fases del ciclo CRISP-DM que estructuran la memoria.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9015984"/>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015984"/>
            <a:ext cx="18288000" cy="12725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2103120" y="2788920"/>
            <a:ext cx="82296"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2615184" y="2697480"/>
            <a:ext cx="12344400" cy="1417320"/>
          </a:xfrm>
          <a:prstGeom prst="rect">
            <a:avLst/>
          </a:prstGeom>
          <a:noFill/>
        </p:spPr>
        <p:txBody>
          <a:bodyPr wrap="square" lIns="18288" rIns="18288" tIns="0" bIns="0" anchor="t">
            <a:spAutoFit/>
          </a:bodyPr>
          <a:lstStyle/>
          <a:p>
            <a:pPr algn="l">
              <a:spcBef>
                <a:spcPts val="0"/>
              </a:spcBef>
              <a:spcAft>
                <a:spcPts val="0"/>
              </a:spcAft>
            </a:pPr>
            <a:r>
              <a:rPr sz="9600" b="1" i="0">
                <a:solidFill>
                  <a:srgbClr val="FFFFFF"/>
                </a:solidFill>
                <a:latin typeface="Arial"/>
              </a:rPr>
              <a:t>02</a:t>
            </a:r>
          </a:p>
        </p:txBody>
      </p:sp>
      <p:sp>
        <p:nvSpPr>
          <p:cNvPr id="6" name="TextBox 5"/>
          <p:cNvSpPr txBox="1"/>
          <p:nvPr/>
        </p:nvSpPr>
        <p:spPr>
          <a:xfrm>
            <a:off x="2651760" y="4160520"/>
            <a:ext cx="13716000" cy="1234440"/>
          </a:xfrm>
          <a:prstGeom prst="rect">
            <a:avLst/>
          </a:prstGeom>
          <a:noFill/>
        </p:spPr>
        <p:txBody>
          <a:bodyPr wrap="square" lIns="18288" rIns="18288" tIns="0" bIns="0" anchor="t">
            <a:spAutoFit/>
          </a:bodyPr>
          <a:lstStyle/>
          <a:p>
            <a:pPr algn="l">
              <a:lnSpc>
                <a:spcPct val="95000"/>
              </a:lnSpc>
              <a:spcBef>
                <a:spcPts val="0"/>
              </a:spcBef>
              <a:spcAft>
                <a:spcPts val="0"/>
              </a:spcAft>
            </a:pPr>
            <a:r>
              <a:rPr sz="5400" b="1" i="0">
                <a:solidFill>
                  <a:srgbClr val="FFFFFF"/>
                </a:solidFill>
                <a:latin typeface="Arial"/>
              </a:rPr>
              <a:t>Metodología</a:t>
            </a:r>
          </a:p>
        </p:txBody>
      </p:sp>
      <p:sp>
        <p:nvSpPr>
          <p:cNvPr id="7" name="TextBox 6"/>
          <p:cNvSpPr txBox="1"/>
          <p:nvPr/>
        </p:nvSpPr>
        <p:spPr>
          <a:xfrm>
            <a:off x="2651760" y="5440680"/>
            <a:ext cx="13258800" cy="822960"/>
          </a:xfrm>
          <a:prstGeom prst="rect">
            <a:avLst/>
          </a:prstGeom>
          <a:noFill/>
        </p:spPr>
        <p:txBody>
          <a:bodyPr wrap="square" lIns="18288" rIns="18288" tIns="0" bIns="0" anchor="t">
            <a:spAutoFit/>
          </a:bodyPr>
          <a:lstStyle/>
          <a:p>
            <a:pPr algn="l">
              <a:spcBef>
                <a:spcPts val="0"/>
              </a:spcBef>
              <a:spcAft>
                <a:spcPts val="0"/>
              </a:spcAft>
            </a:pPr>
            <a:r>
              <a:rPr sz="2400" b="0" i="0">
                <a:solidFill>
                  <a:srgbClr val="FFFFFF"/>
                </a:solidFill>
                <a:latin typeface="Arial"/>
              </a:rPr>
              <a:t>CRISP-DM adaptado a imágenes médicas, diseño experimental y marco normativo</a:t>
            </a:r>
          </a:p>
        </p:txBody>
      </p:sp>
      <p:sp>
        <p:nvSpPr>
          <p:cNvPr id="8" name="TextBox 7"/>
          <p:cNvSpPr txBox="1"/>
          <p:nvPr/>
        </p:nvSpPr>
        <p:spPr>
          <a:xfrm>
            <a:off x="2651760" y="6446520"/>
            <a:ext cx="13258800" cy="457200"/>
          </a:xfrm>
          <a:prstGeom prst="rect">
            <a:avLst/>
          </a:prstGeom>
          <a:noFill/>
        </p:spPr>
        <p:txBody>
          <a:bodyPr wrap="square" lIns="18288" rIns="18288" tIns="0" bIns="0" anchor="t">
            <a:spAutoFit/>
          </a:bodyPr>
          <a:lstStyle/>
          <a:p>
            <a:pPr algn="l">
              <a:spcBef>
                <a:spcPts val="0"/>
              </a:spcBef>
              <a:spcAft>
                <a:spcPts val="0"/>
              </a:spcAft>
            </a:pPr>
            <a:r>
              <a:rPr sz="1900" b="1" i="0">
                <a:solidFill>
                  <a:srgbClr val="FFFFFF"/>
                </a:solidFill>
                <a:latin typeface="Arial"/>
              </a:rPr>
              <a:t>3 minutos</a:t>
            </a:r>
            <a:r>
              <a:rPr sz="1900" b="0" i="0">
                <a:solidFill>
                  <a:srgbClr val="FFFFFF"/>
                </a:solidFill>
                <a:latin typeface="Arial"/>
              </a:rPr>
              <a:t>     ·     </a:t>
            </a:r>
            <a:r>
              <a:rPr sz="1900" b="0" i="0">
                <a:solidFill>
                  <a:srgbClr val="FFFFFF"/>
                </a:solidFill>
                <a:latin typeface="Arial"/>
              </a:rPr>
              <a:t>Expone: Christian</a:t>
            </a:r>
          </a:p>
        </p:txBody>
      </p:sp>
      <p:sp>
        <p:nvSpPr>
          <p:cNvPr id="9" name="TextBox 8"/>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08</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METODOLOGÍA</a:t>
            </a:r>
          </a:p>
          <a:p>
            <a:pPr algn="l">
              <a:lnSpc>
                <a:spcPct val="92000"/>
              </a:lnSpc>
              <a:spcBef>
                <a:spcPts val="0"/>
              </a:spcBef>
              <a:spcAft>
                <a:spcPts val="0"/>
              </a:spcAft>
            </a:pPr>
            <a:r>
              <a:rPr sz="4000" b="1" i="0">
                <a:solidFill>
                  <a:srgbClr val="00566C"/>
                </a:solidFill>
                <a:latin typeface="Arial"/>
              </a:rPr>
              <a:t>CRISP-DM adaptado al análisis de imágenes médicas</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Las cinco fases del ciclo estructuran el capítulo 5 de la memoria y esta presentación</a:t>
            </a:r>
          </a:p>
        </p:txBody>
      </p:sp>
      <p:sp>
        <p:nvSpPr>
          <p:cNvPr id="5" name="Rectangle 4"/>
          <p:cNvSpPr/>
          <p:nvPr/>
        </p:nvSpPr>
        <p:spPr>
          <a:xfrm>
            <a:off x="2125980" y="3017520"/>
            <a:ext cx="14036039" cy="32004"/>
          </a:xfrm>
          <a:prstGeom prst="rect">
            <a:avLst/>
          </a:prstGeom>
          <a:solidFill>
            <a:srgbClr val="D9D9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877824" y="3310128"/>
            <a:ext cx="2496312" cy="41605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877824" y="3310128"/>
            <a:ext cx="2496312"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1851660" y="2761487"/>
            <a:ext cx="548640" cy="548640"/>
          </a:xfrm>
          <a:prstGeom prst="ellipse">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2100" b="1" i="0">
                <a:solidFill>
                  <a:srgbClr val="FFFFFF"/>
                </a:solidFill>
                <a:latin typeface="Arial"/>
              </a:rPr>
              <a:t>1</a:t>
            </a:r>
          </a:p>
        </p:txBody>
      </p:sp>
      <p:sp>
        <p:nvSpPr>
          <p:cNvPr id="9" name="TextBox 8"/>
          <p:cNvSpPr txBox="1"/>
          <p:nvPr/>
        </p:nvSpPr>
        <p:spPr>
          <a:xfrm>
            <a:off x="1060704" y="3584448"/>
            <a:ext cx="2130552" cy="3611880"/>
          </a:xfrm>
          <a:prstGeom prst="rect">
            <a:avLst/>
          </a:prstGeom>
          <a:noFill/>
        </p:spPr>
        <p:txBody>
          <a:bodyPr wrap="square" lIns="18288" rIns="18288" tIns="0" bIns="0" anchor="t">
            <a:spAutoFit/>
          </a:bodyPr>
          <a:lstStyle/>
          <a:p>
            <a:pPr algn="l">
              <a:lnSpc>
                <a:spcPct val="104000"/>
              </a:lnSpc>
              <a:spcBef>
                <a:spcPts val="0"/>
              </a:spcBef>
              <a:spcAft>
                <a:spcPts val="1000"/>
              </a:spcAft>
            </a:pPr>
            <a:r>
              <a:rPr sz="1900" b="1" i="0">
                <a:solidFill>
                  <a:srgbClr val="00566C"/>
                </a:solidFill>
                <a:latin typeface="Arial"/>
              </a:rPr>
              <a:t>Comprensión
del negocio</a:t>
            </a:r>
          </a:p>
          <a:p>
            <a:pPr algn="l">
              <a:lnSpc>
                <a:spcPct val="104000"/>
              </a:lnSpc>
              <a:spcBef>
                <a:spcPts val="0"/>
              </a:spcBef>
              <a:spcAft>
                <a:spcPts val="1000"/>
              </a:spcAft>
            </a:pPr>
            <a:r>
              <a:rPr sz="1600" b="0" i="0">
                <a:solidFill>
                  <a:srgbClr val="858591"/>
                </a:solidFill>
                <a:latin typeface="Arial"/>
              </a:rPr>
              <a:t>Criterios de éxito clínicos y descripción de la fuente de datos.</a:t>
            </a:r>
          </a:p>
          <a:p>
            <a:pPr algn="l">
              <a:lnSpc>
                <a:spcPct val="104000"/>
              </a:lnSpc>
              <a:spcBef>
                <a:spcPts val="0"/>
              </a:spcBef>
              <a:spcAft>
                <a:spcPts val="0"/>
              </a:spcAft>
            </a:pPr>
            <a:r>
              <a:rPr sz="1400" b="1" i="0">
                <a:solidFill>
                  <a:srgbClr val="219BC3"/>
                </a:solidFill>
                <a:latin typeface="Arial"/>
              </a:rPr>
              <a:t>Apartado 5.1</a:t>
            </a:r>
          </a:p>
        </p:txBody>
      </p:sp>
      <p:sp>
        <p:nvSpPr>
          <p:cNvPr id="10" name="Rectangle 9"/>
          <p:cNvSpPr/>
          <p:nvPr/>
        </p:nvSpPr>
        <p:spPr>
          <a:xfrm>
            <a:off x="3685031" y="3310128"/>
            <a:ext cx="2496312" cy="41605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3685031" y="3310128"/>
            <a:ext cx="2496312"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4658868" y="2761487"/>
            <a:ext cx="548640" cy="548640"/>
          </a:xfrm>
          <a:prstGeom prst="ellipse">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2100" b="1" i="0">
                <a:solidFill>
                  <a:srgbClr val="FFFFFF"/>
                </a:solidFill>
                <a:latin typeface="Arial"/>
              </a:rPr>
              <a:t>2</a:t>
            </a:r>
          </a:p>
        </p:txBody>
      </p:sp>
      <p:sp>
        <p:nvSpPr>
          <p:cNvPr id="13" name="TextBox 12"/>
          <p:cNvSpPr txBox="1"/>
          <p:nvPr/>
        </p:nvSpPr>
        <p:spPr>
          <a:xfrm>
            <a:off x="3867911" y="3584448"/>
            <a:ext cx="2130552" cy="3611880"/>
          </a:xfrm>
          <a:prstGeom prst="rect">
            <a:avLst/>
          </a:prstGeom>
          <a:noFill/>
        </p:spPr>
        <p:txBody>
          <a:bodyPr wrap="square" lIns="18288" rIns="18288" tIns="0" bIns="0" anchor="t">
            <a:spAutoFit/>
          </a:bodyPr>
          <a:lstStyle/>
          <a:p>
            <a:pPr algn="l">
              <a:lnSpc>
                <a:spcPct val="104000"/>
              </a:lnSpc>
              <a:spcBef>
                <a:spcPts val="0"/>
              </a:spcBef>
              <a:spcAft>
                <a:spcPts val="1000"/>
              </a:spcAft>
            </a:pPr>
            <a:r>
              <a:rPr sz="1900" b="1" i="0">
                <a:solidFill>
                  <a:srgbClr val="00566C"/>
                </a:solidFill>
                <a:latin typeface="Arial"/>
              </a:rPr>
              <a:t>Comprensión
de los datos</a:t>
            </a:r>
          </a:p>
          <a:p>
            <a:pPr algn="l">
              <a:lnSpc>
                <a:spcPct val="104000"/>
              </a:lnSpc>
              <a:spcBef>
                <a:spcPts val="0"/>
              </a:spcBef>
              <a:spcAft>
                <a:spcPts val="1000"/>
              </a:spcAft>
            </a:pPr>
            <a:r>
              <a:rPr sz="1600" b="0" i="0">
                <a:solidFill>
                  <a:srgbClr val="858591"/>
                </a:solidFill>
                <a:latin typeface="Arial"/>
              </a:rPr>
              <a:t>EDA univariante, bivariante y de correlaciones sobre HAM10000.</a:t>
            </a:r>
          </a:p>
          <a:p>
            <a:pPr algn="l">
              <a:lnSpc>
                <a:spcPct val="104000"/>
              </a:lnSpc>
              <a:spcBef>
                <a:spcPts val="0"/>
              </a:spcBef>
              <a:spcAft>
                <a:spcPts val="0"/>
              </a:spcAft>
            </a:pPr>
            <a:r>
              <a:rPr sz="1400" b="1" i="0">
                <a:solidFill>
                  <a:srgbClr val="219BC3"/>
                </a:solidFill>
                <a:latin typeface="Arial"/>
              </a:rPr>
              <a:t>Apartado 5.2</a:t>
            </a:r>
          </a:p>
        </p:txBody>
      </p:sp>
      <p:sp>
        <p:nvSpPr>
          <p:cNvPr id="14" name="Rectangle 13"/>
          <p:cNvSpPr/>
          <p:nvPr/>
        </p:nvSpPr>
        <p:spPr>
          <a:xfrm>
            <a:off x="6492240" y="3310128"/>
            <a:ext cx="2496312" cy="41605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492240" y="3310128"/>
            <a:ext cx="2496312"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466075" y="2761487"/>
            <a:ext cx="548640" cy="548640"/>
          </a:xfrm>
          <a:prstGeom prst="ellipse">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2100" b="1" i="0">
                <a:solidFill>
                  <a:srgbClr val="FFFFFF"/>
                </a:solidFill>
                <a:latin typeface="Arial"/>
              </a:rPr>
              <a:t>3</a:t>
            </a:r>
          </a:p>
        </p:txBody>
      </p:sp>
      <p:sp>
        <p:nvSpPr>
          <p:cNvPr id="17" name="TextBox 16"/>
          <p:cNvSpPr txBox="1"/>
          <p:nvPr/>
        </p:nvSpPr>
        <p:spPr>
          <a:xfrm>
            <a:off x="6675120" y="3584448"/>
            <a:ext cx="2130552" cy="3611880"/>
          </a:xfrm>
          <a:prstGeom prst="rect">
            <a:avLst/>
          </a:prstGeom>
          <a:noFill/>
        </p:spPr>
        <p:txBody>
          <a:bodyPr wrap="square" lIns="18288" rIns="18288" tIns="0" bIns="0" anchor="t">
            <a:spAutoFit/>
          </a:bodyPr>
          <a:lstStyle/>
          <a:p>
            <a:pPr algn="l">
              <a:lnSpc>
                <a:spcPct val="104000"/>
              </a:lnSpc>
              <a:spcBef>
                <a:spcPts val="0"/>
              </a:spcBef>
              <a:spcAft>
                <a:spcPts val="1000"/>
              </a:spcAft>
            </a:pPr>
            <a:r>
              <a:rPr sz="1900" b="1" i="0">
                <a:solidFill>
                  <a:srgbClr val="00566C"/>
                </a:solidFill>
                <a:latin typeface="Arial"/>
              </a:rPr>
              <a:t>Preparación
de los datos</a:t>
            </a:r>
          </a:p>
          <a:p>
            <a:pPr algn="l">
              <a:lnSpc>
                <a:spcPct val="104000"/>
              </a:lnSpc>
              <a:spcBef>
                <a:spcPts val="0"/>
              </a:spcBef>
              <a:spcAft>
                <a:spcPts val="1000"/>
              </a:spcAft>
            </a:pPr>
            <a:r>
              <a:rPr sz="1600" b="0" i="0">
                <a:solidFill>
                  <a:srgbClr val="858591"/>
                </a:solidFill>
                <a:latin typeface="Arial"/>
              </a:rPr>
              <a:t>Limpieza, imputación, partición por lesión y balanceo.</a:t>
            </a:r>
          </a:p>
          <a:p>
            <a:pPr algn="l">
              <a:lnSpc>
                <a:spcPct val="104000"/>
              </a:lnSpc>
              <a:spcBef>
                <a:spcPts val="0"/>
              </a:spcBef>
              <a:spcAft>
                <a:spcPts val="0"/>
              </a:spcAft>
            </a:pPr>
            <a:r>
              <a:rPr sz="1400" b="1" i="0">
                <a:solidFill>
                  <a:srgbClr val="219BC3"/>
                </a:solidFill>
                <a:latin typeface="Arial"/>
              </a:rPr>
              <a:t>Apartado 5.3</a:t>
            </a:r>
          </a:p>
        </p:txBody>
      </p:sp>
      <p:sp>
        <p:nvSpPr>
          <p:cNvPr id="18" name="Rectangle 17"/>
          <p:cNvSpPr/>
          <p:nvPr/>
        </p:nvSpPr>
        <p:spPr>
          <a:xfrm>
            <a:off x="9299447" y="3310128"/>
            <a:ext cx="2496312" cy="41605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9299447" y="3310128"/>
            <a:ext cx="2496312"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10273283" y="2761487"/>
            <a:ext cx="548640" cy="548640"/>
          </a:xfrm>
          <a:prstGeom prst="ellipse">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2100" b="1" i="0">
                <a:solidFill>
                  <a:srgbClr val="FFFFFF"/>
                </a:solidFill>
                <a:latin typeface="Arial"/>
              </a:rPr>
              <a:t>4</a:t>
            </a:r>
          </a:p>
        </p:txBody>
      </p:sp>
      <p:sp>
        <p:nvSpPr>
          <p:cNvPr id="21" name="TextBox 20"/>
          <p:cNvSpPr txBox="1"/>
          <p:nvPr/>
        </p:nvSpPr>
        <p:spPr>
          <a:xfrm>
            <a:off x="9482327" y="3584448"/>
            <a:ext cx="2130552" cy="3611880"/>
          </a:xfrm>
          <a:prstGeom prst="rect">
            <a:avLst/>
          </a:prstGeom>
          <a:noFill/>
        </p:spPr>
        <p:txBody>
          <a:bodyPr wrap="square" lIns="18288" rIns="18288" tIns="0" bIns="0" anchor="t">
            <a:spAutoFit/>
          </a:bodyPr>
          <a:lstStyle/>
          <a:p>
            <a:pPr algn="l">
              <a:lnSpc>
                <a:spcPct val="104000"/>
              </a:lnSpc>
              <a:spcBef>
                <a:spcPts val="0"/>
              </a:spcBef>
              <a:spcAft>
                <a:spcPts val="1000"/>
              </a:spcAft>
            </a:pPr>
            <a:r>
              <a:rPr sz="1900" b="1" i="0">
                <a:solidFill>
                  <a:srgbClr val="00566C"/>
                </a:solidFill>
                <a:latin typeface="Arial"/>
              </a:rPr>
              <a:t>Modelado</a:t>
            </a:r>
          </a:p>
          <a:p>
            <a:pPr algn="l">
              <a:lnSpc>
                <a:spcPct val="104000"/>
              </a:lnSpc>
              <a:spcBef>
                <a:spcPts val="0"/>
              </a:spcBef>
              <a:spcAft>
                <a:spcPts val="1000"/>
              </a:spcAft>
            </a:pPr>
            <a:r>
              <a:rPr sz="1600" b="0" i="0">
                <a:solidFill>
                  <a:srgbClr val="858591"/>
                </a:solidFill>
                <a:latin typeface="Arial"/>
              </a:rPr>
              <a:t>SVM y DenseNet201, cada uno en dos escenarios de datos.</a:t>
            </a:r>
          </a:p>
          <a:p>
            <a:pPr algn="l">
              <a:lnSpc>
                <a:spcPct val="104000"/>
              </a:lnSpc>
              <a:spcBef>
                <a:spcPts val="0"/>
              </a:spcBef>
              <a:spcAft>
                <a:spcPts val="0"/>
              </a:spcAft>
            </a:pPr>
            <a:r>
              <a:rPr sz="1400" b="1" i="0">
                <a:solidFill>
                  <a:srgbClr val="219BC3"/>
                </a:solidFill>
                <a:latin typeface="Arial"/>
              </a:rPr>
              <a:t>Apartado 5.4</a:t>
            </a:r>
          </a:p>
        </p:txBody>
      </p:sp>
      <p:sp>
        <p:nvSpPr>
          <p:cNvPr id="22" name="Rectangle 21"/>
          <p:cNvSpPr/>
          <p:nvPr/>
        </p:nvSpPr>
        <p:spPr>
          <a:xfrm>
            <a:off x="12106655" y="3310128"/>
            <a:ext cx="2496312" cy="41605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2106655" y="3310128"/>
            <a:ext cx="2496312"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13080491" y="2761487"/>
            <a:ext cx="548640" cy="548640"/>
          </a:xfrm>
          <a:prstGeom prst="ellipse">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2100" b="1" i="0">
                <a:solidFill>
                  <a:srgbClr val="FFFFFF"/>
                </a:solidFill>
                <a:latin typeface="Arial"/>
              </a:rPr>
              <a:t>5</a:t>
            </a:r>
          </a:p>
        </p:txBody>
      </p:sp>
      <p:sp>
        <p:nvSpPr>
          <p:cNvPr id="25" name="TextBox 24"/>
          <p:cNvSpPr txBox="1"/>
          <p:nvPr/>
        </p:nvSpPr>
        <p:spPr>
          <a:xfrm>
            <a:off x="12289535" y="3584448"/>
            <a:ext cx="2130552" cy="3611880"/>
          </a:xfrm>
          <a:prstGeom prst="rect">
            <a:avLst/>
          </a:prstGeom>
          <a:noFill/>
        </p:spPr>
        <p:txBody>
          <a:bodyPr wrap="square" lIns="18288" rIns="18288" tIns="0" bIns="0" anchor="t">
            <a:spAutoFit/>
          </a:bodyPr>
          <a:lstStyle/>
          <a:p>
            <a:pPr algn="l">
              <a:lnSpc>
                <a:spcPct val="104000"/>
              </a:lnSpc>
              <a:spcBef>
                <a:spcPts val="0"/>
              </a:spcBef>
              <a:spcAft>
                <a:spcPts val="1000"/>
              </a:spcAft>
            </a:pPr>
            <a:r>
              <a:rPr sz="1900" b="1" i="0">
                <a:solidFill>
                  <a:srgbClr val="00566C"/>
                </a:solidFill>
                <a:latin typeface="Arial"/>
              </a:rPr>
              <a:t>Evaluación</a:t>
            </a:r>
          </a:p>
          <a:p>
            <a:pPr algn="l">
              <a:lnSpc>
                <a:spcPct val="104000"/>
              </a:lnSpc>
              <a:spcBef>
                <a:spcPts val="0"/>
              </a:spcBef>
              <a:spcAft>
                <a:spcPts val="1000"/>
              </a:spcAft>
            </a:pPr>
            <a:r>
              <a:rPr sz="1600" b="0" i="0">
                <a:solidFill>
                  <a:srgbClr val="858591"/>
                </a:solidFill>
                <a:latin typeface="Arial"/>
              </a:rPr>
              <a:t>Métricas clínicas, validación cruzada y comparativa global.</a:t>
            </a:r>
          </a:p>
          <a:p>
            <a:pPr algn="l">
              <a:lnSpc>
                <a:spcPct val="104000"/>
              </a:lnSpc>
              <a:spcBef>
                <a:spcPts val="0"/>
              </a:spcBef>
              <a:spcAft>
                <a:spcPts val="0"/>
              </a:spcAft>
            </a:pPr>
            <a:r>
              <a:rPr sz="1400" b="1" i="0">
                <a:solidFill>
                  <a:srgbClr val="219BC3"/>
                </a:solidFill>
                <a:latin typeface="Arial"/>
              </a:rPr>
              <a:t>Apartado 5.5</a:t>
            </a:r>
          </a:p>
        </p:txBody>
      </p:sp>
      <p:sp>
        <p:nvSpPr>
          <p:cNvPr id="26" name="Rectangle 25"/>
          <p:cNvSpPr/>
          <p:nvPr/>
        </p:nvSpPr>
        <p:spPr>
          <a:xfrm>
            <a:off x="14913863" y="3310128"/>
            <a:ext cx="2496312" cy="41605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4913863" y="3310128"/>
            <a:ext cx="2496312"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15887699" y="2761487"/>
            <a:ext cx="548640" cy="548640"/>
          </a:xfrm>
          <a:prstGeom prst="ellipse">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2100" b="1" i="0">
                <a:solidFill>
                  <a:srgbClr val="FFFFFF"/>
                </a:solidFill>
                <a:latin typeface="Arial"/>
              </a:rPr>
              <a:t>6</a:t>
            </a:r>
          </a:p>
        </p:txBody>
      </p:sp>
      <p:sp>
        <p:nvSpPr>
          <p:cNvPr id="29" name="TextBox 28"/>
          <p:cNvSpPr txBox="1"/>
          <p:nvPr/>
        </p:nvSpPr>
        <p:spPr>
          <a:xfrm>
            <a:off x="15096743" y="3584448"/>
            <a:ext cx="2130552" cy="3611880"/>
          </a:xfrm>
          <a:prstGeom prst="rect">
            <a:avLst/>
          </a:prstGeom>
          <a:noFill/>
        </p:spPr>
        <p:txBody>
          <a:bodyPr wrap="square" lIns="18288" rIns="18288" tIns="0" bIns="0" anchor="t">
            <a:spAutoFit/>
          </a:bodyPr>
          <a:lstStyle/>
          <a:p>
            <a:pPr algn="l">
              <a:lnSpc>
                <a:spcPct val="104000"/>
              </a:lnSpc>
              <a:spcBef>
                <a:spcPts val="0"/>
              </a:spcBef>
              <a:spcAft>
                <a:spcPts val="1000"/>
              </a:spcAft>
            </a:pPr>
            <a:r>
              <a:rPr sz="1900" b="1" i="0">
                <a:solidFill>
                  <a:srgbClr val="00566C"/>
                </a:solidFill>
                <a:latin typeface="Arial"/>
              </a:rPr>
              <a:t>Implementación</a:t>
            </a:r>
          </a:p>
          <a:p>
            <a:pPr algn="l">
              <a:lnSpc>
                <a:spcPct val="104000"/>
              </a:lnSpc>
              <a:spcBef>
                <a:spcPts val="0"/>
              </a:spcBef>
              <a:spcAft>
                <a:spcPts val="1000"/>
              </a:spcAft>
            </a:pPr>
            <a:r>
              <a:rPr sz="1600" b="0" i="0">
                <a:solidFill>
                  <a:srgbClr val="858591"/>
                </a:solidFill>
                <a:latin typeface="Arial"/>
              </a:rPr>
              <a:t>Código reproducible, salidas versionadas y conformidad LOPDP.</a:t>
            </a:r>
          </a:p>
          <a:p>
            <a:pPr algn="l">
              <a:lnSpc>
                <a:spcPct val="104000"/>
              </a:lnSpc>
              <a:spcBef>
                <a:spcPts val="0"/>
              </a:spcBef>
              <a:spcAft>
                <a:spcPts val="0"/>
              </a:spcAft>
            </a:pPr>
            <a:r>
              <a:rPr sz="1400" b="1" i="0">
                <a:solidFill>
                  <a:srgbClr val="219BC3"/>
                </a:solidFill>
                <a:latin typeface="Arial"/>
              </a:rPr>
              <a:t>Apartado 5.6</a:t>
            </a:r>
          </a:p>
        </p:txBody>
      </p:sp>
      <p:sp>
        <p:nvSpPr>
          <p:cNvPr id="30" name="Rectangle 29"/>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Semilla aleatoria fija (42), mismo equipo y mismos criterios de evaluación en todos los experimentos: las diferencias observadas se atribuyen a la estrategia de datos, no al azar.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09</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METODOLOGÍA</a:t>
            </a:r>
          </a:p>
          <a:p>
            <a:pPr algn="l">
              <a:lnSpc>
                <a:spcPct val="92000"/>
              </a:lnSpc>
              <a:spcBef>
                <a:spcPts val="0"/>
              </a:spcBef>
              <a:spcAft>
                <a:spcPts val="0"/>
              </a:spcAft>
            </a:pPr>
            <a:r>
              <a:rPr sz="4000" b="1" i="0">
                <a:solidFill>
                  <a:srgbClr val="00566C"/>
                </a:solidFill>
                <a:latin typeface="Arial"/>
              </a:rPr>
              <a:t>Diseño experimental: dos algoritmos × dos escenarios de datos</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Cuatro experimentos que aíslan el efecto del algoritmo y el efecto de la estrategia de datos</a:t>
            </a:r>
          </a:p>
        </p:txBody>
      </p:sp>
      <p:sp>
        <p:nvSpPr>
          <p:cNvPr id="5" name="TextBox 4"/>
          <p:cNvSpPr txBox="1"/>
          <p:nvPr/>
        </p:nvSpPr>
        <p:spPr>
          <a:xfrm>
            <a:off x="3931920" y="2578608"/>
            <a:ext cx="6126480" cy="438912"/>
          </a:xfrm>
          <a:prstGeom prst="rect">
            <a:avLst/>
          </a:prstGeom>
          <a:noFill/>
        </p:spPr>
        <p:txBody>
          <a:bodyPr wrap="square" lIns="18288" rIns="18288" tIns="0" bIns="0" anchor="t">
            <a:spAutoFit/>
          </a:bodyPr>
          <a:lstStyle/>
          <a:p>
            <a:pPr algn="ctr">
              <a:spcBef>
                <a:spcPts val="0"/>
              </a:spcBef>
              <a:spcAft>
                <a:spcPts val="0"/>
              </a:spcAft>
            </a:pPr>
            <a:r>
              <a:rPr sz="2100" b="1" i="0">
                <a:solidFill>
                  <a:srgbClr val="00566C"/>
                </a:solidFill>
                <a:latin typeface="Arial"/>
              </a:rPr>
              <a:t>Escenario 1 — dataset multiclase original</a:t>
            </a:r>
          </a:p>
        </p:txBody>
      </p:sp>
      <p:sp>
        <p:nvSpPr>
          <p:cNvPr id="6" name="TextBox 5"/>
          <p:cNvSpPr txBox="1"/>
          <p:nvPr/>
        </p:nvSpPr>
        <p:spPr>
          <a:xfrm>
            <a:off x="10442448" y="2578608"/>
            <a:ext cx="6126480" cy="438912"/>
          </a:xfrm>
          <a:prstGeom prst="rect">
            <a:avLst/>
          </a:prstGeom>
          <a:noFill/>
        </p:spPr>
        <p:txBody>
          <a:bodyPr wrap="square" lIns="18288" rIns="18288" tIns="0" bIns="0" anchor="t">
            <a:spAutoFit/>
          </a:bodyPr>
          <a:lstStyle/>
          <a:p>
            <a:pPr algn="ctr">
              <a:spcBef>
                <a:spcPts val="0"/>
              </a:spcBef>
              <a:spcAft>
                <a:spcPts val="0"/>
              </a:spcAft>
            </a:pPr>
            <a:r>
              <a:rPr sz="2100" b="1" i="0">
                <a:solidFill>
                  <a:srgbClr val="00566C"/>
                </a:solidFill>
                <a:latin typeface="Arial"/>
              </a:rPr>
              <a:t>Escenario 2 — dataset binario balanceado</a:t>
            </a:r>
          </a:p>
        </p:txBody>
      </p:sp>
      <p:sp>
        <p:nvSpPr>
          <p:cNvPr id="7" name="Rectangle 6"/>
          <p:cNvSpPr/>
          <p:nvPr/>
        </p:nvSpPr>
        <p:spPr>
          <a:xfrm>
            <a:off x="3931920" y="3063240"/>
            <a:ext cx="6126480" cy="224028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3931920" y="3063240"/>
            <a:ext cx="68580" cy="22402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315968" y="3319272"/>
            <a:ext cx="5394960" cy="1728216"/>
          </a:xfrm>
          <a:prstGeom prst="rect">
            <a:avLst/>
          </a:prstGeom>
          <a:noFill/>
        </p:spPr>
        <p:txBody>
          <a:bodyPr wrap="square" lIns="18288" rIns="18288" tIns="0" bIns="0" anchor="ctr">
            <a:spAutoFit/>
          </a:bodyPr>
          <a:lstStyle/>
          <a:p>
            <a:pPr algn="l">
              <a:lnSpc>
                <a:spcPct val="105000"/>
              </a:lnSpc>
              <a:spcBef>
                <a:spcPts val="0"/>
              </a:spcBef>
              <a:spcAft>
                <a:spcPts val="600"/>
              </a:spcAft>
            </a:pPr>
            <a:r>
              <a:rPr sz="1900" b="0" i="0">
                <a:solidFill>
                  <a:srgbClr val="0C0B0B"/>
                </a:solidFill>
                <a:latin typeface="Arial"/>
              </a:rPr>
              <a:t>7 clases · 10.015 imágenes</a:t>
            </a:r>
          </a:p>
          <a:p>
            <a:pPr algn="l">
              <a:lnSpc>
                <a:spcPct val="105000"/>
              </a:lnSpc>
              <a:spcBef>
                <a:spcPts val="0"/>
              </a:spcBef>
              <a:spcAft>
                <a:spcPts val="600"/>
              </a:spcAft>
            </a:pPr>
            <a:r>
              <a:rPr sz="1900" b="0" i="0">
                <a:solidFill>
                  <a:srgbClr val="858591"/>
                </a:solidFill>
                <a:latin typeface="Arial"/>
              </a:rPr>
              <a:t>PCA (95 %) + SMOTE</a:t>
            </a:r>
          </a:p>
          <a:p>
            <a:pPr algn="l">
              <a:lnSpc>
                <a:spcPct val="105000"/>
              </a:lnSpc>
              <a:spcBef>
                <a:spcPts val="0"/>
              </a:spcBef>
              <a:spcAft>
                <a:spcPts val="600"/>
              </a:spcAft>
            </a:pPr>
            <a:r>
              <a:rPr sz="1900" b="0" i="0">
                <a:solidFill>
                  <a:srgbClr val="858591"/>
                </a:solidFill>
                <a:latin typeface="Arial"/>
              </a:rPr>
              <a:t>StratifiedKFold 5-fold</a:t>
            </a:r>
          </a:p>
        </p:txBody>
      </p:sp>
      <p:sp>
        <p:nvSpPr>
          <p:cNvPr id="10" name="Rectangle 9"/>
          <p:cNvSpPr/>
          <p:nvPr/>
        </p:nvSpPr>
        <p:spPr>
          <a:xfrm>
            <a:off x="10442448" y="3063240"/>
            <a:ext cx="6126480" cy="224028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0442448" y="3063240"/>
            <a:ext cx="68580" cy="22402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826496" y="3319272"/>
            <a:ext cx="5394960" cy="1728216"/>
          </a:xfrm>
          <a:prstGeom prst="rect">
            <a:avLst/>
          </a:prstGeom>
          <a:noFill/>
        </p:spPr>
        <p:txBody>
          <a:bodyPr wrap="square" lIns="18288" rIns="18288" tIns="0" bIns="0" anchor="ctr">
            <a:spAutoFit/>
          </a:bodyPr>
          <a:lstStyle/>
          <a:p>
            <a:pPr algn="l">
              <a:lnSpc>
                <a:spcPct val="105000"/>
              </a:lnSpc>
              <a:spcBef>
                <a:spcPts val="0"/>
              </a:spcBef>
              <a:spcAft>
                <a:spcPts val="600"/>
              </a:spcAft>
            </a:pPr>
            <a:r>
              <a:rPr sz="1900" b="0" i="0">
                <a:solidFill>
                  <a:srgbClr val="0C0B0B"/>
                </a:solidFill>
                <a:latin typeface="Arial"/>
              </a:rPr>
              <a:t>Benigno/Maligno · 3.908 imágenes</a:t>
            </a:r>
          </a:p>
          <a:p>
            <a:pPr algn="l">
              <a:lnSpc>
                <a:spcPct val="105000"/>
              </a:lnSpc>
              <a:spcBef>
                <a:spcPts val="0"/>
              </a:spcBef>
              <a:spcAft>
                <a:spcPts val="600"/>
              </a:spcAft>
            </a:pPr>
            <a:r>
              <a:rPr sz="1900" b="0" i="0">
                <a:solidFill>
                  <a:srgbClr val="858591"/>
                </a:solidFill>
                <a:latin typeface="Arial"/>
              </a:rPr>
              <a:t>PCA (95 %), sin SMOTE</a:t>
            </a:r>
          </a:p>
          <a:p>
            <a:pPr algn="l">
              <a:lnSpc>
                <a:spcPct val="105000"/>
              </a:lnSpc>
              <a:spcBef>
                <a:spcPts val="0"/>
              </a:spcBef>
              <a:spcAft>
                <a:spcPts val="600"/>
              </a:spcAft>
            </a:pPr>
            <a:r>
              <a:rPr sz="1900" b="0" i="0">
                <a:solidFill>
                  <a:srgbClr val="858591"/>
                </a:solidFill>
                <a:latin typeface="Arial"/>
              </a:rPr>
              <a:t>StratifiedGroupKFold por lesión</a:t>
            </a:r>
          </a:p>
        </p:txBody>
      </p:sp>
      <p:sp>
        <p:nvSpPr>
          <p:cNvPr id="13" name="Rectangle 12"/>
          <p:cNvSpPr/>
          <p:nvPr/>
        </p:nvSpPr>
        <p:spPr>
          <a:xfrm>
            <a:off x="3931920" y="5687568"/>
            <a:ext cx="6126480" cy="224028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931920" y="5687568"/>
            <a:ext cx="68580" cy="22402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315968" y="5943600"/>
            <a:ext cx="5394960" cy="1728216"/>
          </a:xfrm>
          <a:prstGeom prst="rect">
            <a:avLst/>
          </a:prstGeom>
          <a:noFill/>
        </p:spPr>
        <p:txBody>
          <a:bodyPr wrap="square" lIns="18288" rIns="18288" tIns="0" bIns="0" anchor="ctr">
            <a:spAutoFit/>
          </a:bodyPr>
          <a:lstStyle/>
          <a:p>
            <a:pPr algn="l">
              <a:lnSpc>
                <a:spcPct val="105000"/>
              </a:lnSpc>
              <a:spcBef>
                <a:spcPts val="0"/>
              </a:spcBef>
              <a:spcAft>
                <a:spcPts val="600"/>
              </a:spcAft>
            </a:pPr>
            <a:r>
              <a:rPr sz="1900" b="0" i="0">
                <a:solidFill>
                  <a:srgbClr val="0C0B0B"/>
                </a:solidFill>
                <a:latin typeface="Arial"/>
              </a:rPr>
              <a:t>7 clases · 10.015 imágenes</a:t>
            </a:r>
          </a:p>
          <a:p>
            <a:pPr algn="l">
              <a:lnSpc>
                <a:spcPct val="105000"/>
              </a:lnSpc>
              <a:spcBef>
                <a:spcPts val="0"/>
              </a:spcBef>
              <a:spcAft>
                <a:spcPts val="600"/>
              </a:spcAft>
            </a:pPr>
            <a:r>
              <a:rPr sz="1900" b="0" i="0">
                <a:solidFill>
                  <a:srgbClr val="858591"/>
                </a:solidFill>
                <a:latin typeface="Arial"/>
              </a:rPr>
              <a:t>Transfer Learning + Data Augmentation</a:t>
            </a:r>
          </a:p>
          <a:p>
            <a:pPr algn="l">
              <a:lnSpc>
                <a:spcPct val="105000"/>
              </a:lnSpc>
              <a:spcBef>
                <a:spcPts val="0"/>
              </a:spcBef>
              <a:spcAft>
                <a:spcPts val="600"/>
              </a:spcAft>
            </a:pPr>
            <a:r>
              <a:rPr sz="1900" b="0" i="0">
                <a:solidFill>
                  <a:srgbClr val="858591"/>
                </a:solidFill>
                <a:latin typeface="Arial"/>
              </a:rPr>
              <a:t>Weighted Cross-Entropy</a:t>
            </a:r>
          </a:p>
        </p:txBody>
      </p:sp>
      <p:sp>
        <p:nvSpPr>
          <p:cNvPr id="16" name="Rectangle 15"/>
          <p:cNvSpPr/>
          <p:nvPr/>
        </p:nvSpPr>
        <p:spPr>
          <a:xfrm>
            <a:off x="10442448" y="5687568"/>
            <a:ext cx="6126480" cy="224028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0442448" y="5687568"/>
            <a:ext cx="68580" cy="22402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826496" y="5943600"/>
            <a:ext cx="5394960" cy="1728216"/>
          </a:xfrm>
          <a:prstGeom prst="rect">
            <a:avLst/>
          </a:prstGeom>
          <a:noFill/>
        </p:spPr>
        <p:txBody>
          <a:bodyPr wrap="square" lIns="18288" rIns="18288" tIns="0" bIns="0" anchor="ctr">
            <a:spAutoFit/>
          </a:bodyPr>
          <a:lstStyle/>
          <a:p>
            <a:pPr algn="l">
              <a:lnSpc>
                <a:spcPct val="105000"/>
              </a:lnSpc>
              <a:spcBef>
                <a:spcPts val="0"/>
              </a:spcBef>
              <a:spcAft>
                <a:spcPts val="600"/>
              </a:spcAft>
            </a:pPr>
            <a:r>
              <a:rPr sz="1900" b="0" i="0">
                <a:solidFill>
                  <a:srgbClr val="0C0B0B"/>
                </a:solidFill>
                <a:latin typeface="Arial"/>
              </a:rPr>
              <a:t>Benigno/Maligno · 3.908 imágenes</a:t>
            </a:r>
          </a:p>
          <a:p>
            <a:pPr algn="l">
              <a:lnSpc>
                <a:spcPct val="105000"/>
              </a:lnSpc>
              <a:spcBef>
                <a:spcPts val="0"/>
              </a:spcBef>
              <a:spcAft>
                <a:spcPts val="600"/>
              </a:spcAft>
            </a:pPr>
            <a:r>
              <a:rPr sz="1900" b="0" i="0">
                <a:solidFill>
                  <a:srgbClr val="858591"/>
                </a:solidFill>
                <a:latin typeface="Arial"/>
              </a:rPr>
              <a:t>Mismo backbone y mismos hiperparámetros</a:t>
            </a:r>
          </a:p>
          <a:p>
            <a:pPr algn="l">
              <a:lnSpc>
                <a:spcPct val="105000"/>
              </a:lnSpc>
              <a:spcBef>
                <a:spcPts val="0"/>
              </a:spcBef>
              <a:spcAft>
                <a:spcPts val="600"/>
              </a:spcAft>
            </a:pPr>
            <a:r>
              <a:rPr sz="1900" b="0" i="0">
                <a:solidFill>
                  <a:srgbClr val="858591"/>
                </a:solidFill>
                <a:latin typeface="Arial"/>
              </a:rPr>
              <a:t>Sin corrección adicional de desbalance</a:t>
            </a:r>
          </a:p>
        </p:txBody>
      </p:sp>
      <p:sp>
        <p:nvSpPr>
          <p:cNvPr id="19" name="Rectangle 18"/>
          <p:cNvSpPr/>
          <p:nvPr/>
        </p:nvSpPr>
        <p:spPr>
          <a:xfrm>
            <a:off x="877824" y="3063240"/>
            <a:ext cx="2788920" cy="2240280"/>
          </a:xfrm>
          <a:prstGeom prst="rect">
            <a:avLst/>
          </a:prstGeom>
          <a:solidFill>
            <a:srgbClr val="0056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152144" y="3063240"/>
            <a:ext cx="2240280" cy="2240280"/>
          </a:xfrm>
          <a:prstGeom prst="rect">
            <a:avLst/>
          </a:prstGeom>
          <a:noFill/>
        </p:spPr>
        <p:txBody>
          <a:bodyPr wrap="square" lIns="18288" rIns="18288" tIns="0" bIns="0" anchor="ctr">
            <a:spAutoFit/>
          </a:bodyPr>
          <a:lstStyle/>
          <a:p>
            <a:pPr algn="l">
              <a:lnSpc>
                <a:spcPct val="105000"/>
              </a:lnSpc>
              <a:spcBef>
                <a:spcPts val="0"/>
              </a:spcBef>
              <a:spcAft>
                <a:spcPts val="600"/>
              </a:spcAft>
            </a:pPr>
            <a:r>
              <a:rPr sz="2600" b="1" i="0">
                <a:solidFill>
                  <a:srgbClr val="FFFFFF"/>
                </a:solidFill>
                <a:latin typeface="Arial"/>
              </a:rPr>
              <a:t>SVM</a:t>
            </a:r>
          </a:p>
          <a:p>
            <a:pPr algn="l">
              <a:lnSpc>
                <a:spcPct val="105000"/>
              </a:lnSpc>
              <a:spcBef>
                <a:spcPts val="0"/>
              </a:spcBef>
              <a:spcAft>
                <a:spcPts val="0"/>
              </a:spcAft>
            </a:pPr>
            <a:r>
              <a:rPr sz="1600" b="0" i="0">
                <a:solidFill>
                  <a:srgbClr val="BFDEEA"/>
                </a:solidFill>
                <a:latin typeface="Arial"/>
              </a:rPr>
              <a:t>Machine Learning
clásico</a:t>
            </a:r>
          </a:p>
        </p:txBody>
      </p:sp>
      <p:sp>
        <p:nvSpPr>
          <p:cNvPr id="21" name="Rectangle 20"/>
          <p:cNvSpPr/>
          <p:nvPr/>
        </p:nvSpPr>
        <p:spPr>
          <a:xfrm>
            <a:off x="877824" y="5687568"/>
            <a:ext cx="2788920" cy="2240280"/>
          </a:xfrm>
          <a:prstGeom prst="rect">
            <a:avLst/>
          </a:prstGeom>
          <a:solidFill>
            <a:srgbClr val="0056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152144" y="5687568"/>
            <a:ext cx="2240280" cy="2240280"/>
          </a:xfrm>
          <a:prstGeom prst="rect">
            <a:avLst/>
          </a:prstGeom>
          <a:noFill/>
        </p:spPr>
        <p:txBody>
          <a:bodyPr wrap="square" lIns="18288" rIns="18288" tIns="0" bIns="0" anchor="ctr">
            <a:spAutoFit/>
          </a:bodyPr>
          <a:lstStyle/>
          <a:p>
            <a:pPr algn="l">
              <a:lnSpc>
                <a:spcPct val="105000"/>
              </a:lnSpc>
              <a:spcBef>
                <a:spcPts val="0"/>
              </a:spcBef>
              <a:spcAft>
                <a:spcPts val="600"/>
              </a:spcAft>
            </a:pPr>
            <a:r>
              <a:rPr sz="2600" b="1" i="0">
                <a:solidFill>
                  <a:srgbClr val="FFFFFF"/>
                </a:solidFill>
                <a:latin typeface="Arial"/>
              </a:rPr>
              <a:t>DenseNet201</a:t>
            </a:r>
          </a:p>
          <a:p>
            <a:pPr algn="l">
              <a:lnSpc>
                <a:spcPct val="105000"/>
              </a:lnSpc>
              <a:spcBef>
                <a:spcPts val="0"/>
              </a:spcBef>
              <a:spcAft>
                <a:spcPts val="0"/>
              </a:spcAft>
            </a:pPr>
            <a:r>
              <a:rPr sz="1600" b="0" i="0">
                <a:solidFill>
                  <a:srgbClr val="BFDEEA"/>
                </a:solidFill>
                <a:latin typeface="Arial"/>
              </a:rPr>
              <a:t>Deep Learning
(Transfer Learning)</a:t>
            </a:r>
          </a:p>
        </p:txBody>
      </p:sp>
      <p:sp>
        <p:nvSpPr>
          <p:cNvPr id="23" name="Rectangle 22"/>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La comparación decisiva se hace sobre la misma tarea binaria Benigno vs. Maligno: el SVM del Escenario 2 frente a la Cabeza A de DenseNet201.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10</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METODOLOGÍA</a:t>
            </a:r>
          </a:p>
          <a:p>
            <a:pPr algn="l">
              <a:lnSpc>
                <a:spcPct val="92000"/>
              </a:lnSpc>
              <a:spcBef>
                <a:spcPts val="0"/>
              </a:spcBef>
              <a:spcAft>
                <a:spcPts val="0"/>
              </a:spcAft>
            </a:pPr>
            <a:r>
              <a:rPr sz="4000" b="1" i="0">
                <a:solidFill>
                  <a:srgbClr val="00566C"/>
                </a:solidFill>
                <a:latin typeface="Arial"/>
              </a:rPr>
              <a:t>Marco normativo y ético: viabilidad como CDSS en Ecuador</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El trabajo se plantea como Prueba de Concepto académica, pero orientada a su despliegue real</a:t>
            </a:r>
          </a:p>
        </p:txBody>
      </p:sp>
      <p:sp>
        <p:nvSpPr>
          <p:cNvPr id="5" name="Rectangle 4"/>
          <p:cNvSpPr/>
          <p:nvPr/>
        </p:nvSpPr>
        <p:spPr>
          <a:xfrm>
            <a:off x="877824" y="2514600"/>
            <a:ext cx="3858768" cy="534924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877824" y="2514600"/>
            <a:ext cx="3858768" cy="82296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33856" y="2514600"/>
            <a:ext cx="3346703" cy="822960"/>
          </a:xfrm>
          <a:prstGeom prst="rect">
            <a:avLst/>
          </a:prstGeom>
          <a:noFill/>
        </p:spPr>
        <p:txBody>
          <a:bodyPr wrap="square" lIns="18288" rIns="18288" tIns="0" bIns="0" anchor="ctr">
            <a:spAutoFit/>
          </a:bodyPr>
          <a:lstStyle/>
          <a:p>
            <a:pPr algn="l">
              <a:spcBef>
                <a:spcPts val="0"/>
              </a:spcBef>
              <a:spcAft>
                <a:spcPts val="0"/>
              </a:spcAft>
            </a:pPr>
            <a:r>
              <a:rPr sz="2600" b="1" i="0">
                <a:solidFill>
                  <a:srgbClr val="FFFFFF"/>
                </a:solidFill>
                <a:latin typeface="Arial"/>
              </a:rPr>
              <a:t>LOPDP</a:t>
            </a:r>
          </a:p>
        </p:txBody>
      </p:sp>
      <p:sp>
        <p:nvSpPr>
          <p:cNvPr id="8" name="TextBox 7"/>
          <p:cNvSpPr txBox="1"/>
          <p:nvPr/>
        </p:nvSpPr>
        <p:spPr>
          <a:xfrm>
            <a:off x="1133856" y="3566160"/>
            <a:ext cx="3346703" cy="4160520"/>
          </a:xfrm>
          <a:prstGeom prst="rect">
            <a:avLst/>
          </a:prstGeom>
          <a:noFill/>
        </p:spPr>
        <p:txBody>
          <a:bodyPr wrap="square" lIns="18288" rIns="18288" tIns="0" bIns="0" anchor="t">
            <a:spAutoFit/>
          </a:bodyPr>
          <a:lstStyle/>
          <a:p>
            <a:pPr algn="l">
              <a:lnSpc>
                <a:spcPct val="105000"/>
              </a:lnSpc>
              <a:spcBef>
                <a:spcPts val="0"/>
              </a:spcBef>
              <a:spcAft>
                <a:spcPts val="1200"/>
              </a:spcAft>
            </a:pPr>
            <a:r>
              <a:rPr sz="1900" b="1" i="0">
                <a:solidFill>
                  <a:srgbClr val="00566C"/>
                </a:solidFill>
                <a:latin typeface="Arial"/>
              </a:rPr>
              <a:t>Protección de datos</a:t>
            </a:r>
          </a:p>
          <a:p>
            <a:pPr algn="l" marL="384048" indent="-384048">
              <a:lnSpc>
                <a:spcPct val="105000"/>
              </a:lnSpc>
              <a:spcBef>
                <a:spcPts val="0"/>
              </a:spcBef>
              <a:spcAft>
                <a:spcPts val="1000"/>
              </a:spcAft>
              <a:buClr>
                <a:srgbClr val="219BC3"/>
              </a:buClr>
              <a:buFont typeface="Arial"/>
              <a:buChar char="▪"/>
            </a:pPr>
            <a:r>
              <a:rPr sz="1600" b="0" i="0">
                <a:solidFill>
                  <a:srgbClr val="858591"/>
                </a:solidFill>
                <a:latin typeface="Arial"/>
              </a:rPr>
              <a:t>Los datos de salud son datos sensibles (Art. 25, Ley Orgánica de Protección de Datos Personales, Ecuador 2021).</a:t>
            </a:r>
          </a:p>
          <a:p>
            <a:pPr algn="l" marL="384048" indent="-384048">
              <a:lnSpc>
                <a:spcPct val="105000"/>
              </a:lnSpc>
              <a:spcBef>
                <a:spcPts val="0"/>
              </a:spcBef>
              <a:spcAft>
                <a:spcPts val="1000"/>
              </a:spcAft>
              <a:buClr>
                <a:srgbClr val="219BC3"/>
              </a:buClr>
              <a:buFont typeface="Arial"/>
              <a:buChar char="▪"/>
            </a:pPr>
            <a:r>
              <a:rPr sz="1600" b="0" i="0">
                <a:solidFill>
                  <a:srgbClr val="858591"/>
                </a:solidFill>
                <a:latin typeface="Arial"/>
              </a:rPr>
              <a:t>HAM10000 se distribuye con licencia académica abierta y anonimización previa: el riesgo de reidentificación se mitiga casi por completo.</a:t>
            </a:r>
          </a:p>
        </p:txBody>
      </p:sp>
      <p:sp>
        <p:nvSpPr>
          <p:cNvPr id="9" name="Rectangle 8"/>
          <p:cNvSpPr/>
          <p:nvPr/>
        </p:nvSpPr>
        <p:spPr>
          <a:xfrm>
            <a:off x="5102352" y="2514600"/>
            <a:ext cx="3858768" cy="534924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102352" y="2514600"/>
            <a:ext cx="3858768" cy="82296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358384" y="2514600"/>
            <a:ext cx="3346703" cy="822960"/>
          </a:xfrm>
          <a:prstGeom prst="rect">
            <a:avLst/>
          </a:prstGeom>
          <a:noFill/>
        </p:spPr>
        <p:txBody>
          <a:bodyPr wrap="square" lIns="18288" rIns="18288" tIns="0" bIns="0" anchor="ctr">
            <a:spAutoFit/>
          </a:bodyPr>
          <a:lstStyle/>
          <a:p>
            <a:pPr algn="l">
              <a:spcBef>
                <a:spcPts val="0"/>
              </a:spcBef>
              <a:spcAft>
                <a:spcPts val="0"/>
              </a:spcAft>
            </a:pPr>
            <a:r>
              <a:rPr sz="2600" b="1" i="0">
                <a:solidFill>
                  <a:srgbClr val="FFFFFF"/>
                </a:solidFill>
                <a:latin typeface="Arial"/>
              </a:rPr>
              <a:t>ARCSA</a:t>
            </a:r>
          </a:p>
        </p:txBody>
      </p:sp>
      <p:sp>
        <p:nvSpPr>
          <p:cNvPr id="12" name="TextBox 11"/>
          <p:cNvSpPr txBox="1"/>
          <p:nvPr/>
        </p:nvSpPr>
        <p:spPr>
          <a:xfrm>
            <a:off x="5358384" y="3566160"/>
            <a:ext cx="3346703" cy="4160520"/>
          </a:xfrm>
          <a:prstGeom prst="rect">
            <a:avLst/>
          </a:prstGeom>
          <a:noFill/>
        </p:spPr>
        <p:txBody>
          <a:bodyPr wrap="square" lIns="18288" rIns="18288" tIns="0" bIns="0" anchor="t">
            <a:spAutoFit/>
          </a:bodyPr>
          <a:lstStyle/>
          <a:p>
            <a:pPr algn="l">
              <a:lnSpc>
                <a:spcPct val="105000"/>
              </a:lnSpc>
              <a:spcBef>
                <a:spcPts val="0"/>
              </a:spcBef>
              <a:spcAft>
                <a:spcPts val="1200"/>
              </a:spcAft>
            </a:pPr>
            <a:r>
              <a:rPr sz="1900" b="1" i="0">
                <a:solidFill>
                  <a:srgbClr val="00566C"/>
                </a:solidFill>
                <a:latin typeface="Arial"/>
              </a:rPr>
              <a:t>Regulación sanitaria</a:t>
            </a:r>
          </a:p>
          <a:p>
            <a:pPr algn="l" marL="384048" indent="-384048">
              <a:lnSpc>
                <a:spcPct val="105000"/>
              </a:lnSpc>
              <a:spcBef>
                <a:spcPts val="0"/>
              </a:spcBef>
              <a:spcAft>
                <a:spcPts val="1000"/>
              </a:spcAft>
              <a:buClr>
                <a:srgbClr val="219BC3"/>
              </a:buClr>
              <a:buFont typeface="Arial"/>
              <a:buChar char="▪"/>
            </a:pPr>
            <a:r>
              <a:rPr sz="1600" b="0" i="0">
                <a:solidFill>
                  <a:srgbClr val="858591"/>
                </a:solidFill>
                <a:latin typeface="Arial"/>
              </a:rPr>
              <a:t>Un CDSS desplegado en Ecuador requeriría Registro Sanitario de Dispositivo Médico (MSP / ARCSA).</a:t>
            </a:r>
          </a:p>
          <a:p>
            <a:pPr algn="l" marL="384048" indent="-384048">
              <a:lnSpc>
                <a:spcPct val="105000"/>
              </a:lnSpc>
              <a:spcBef>
                <a:spcPts val="0"/>
              </a:spcBef>
              <a:spcAft>
                <a:spcPts val="1000"/>
              </a:spcAft>
              <a:buClr>
                <a:srgbClr val="219BC3"/>
              </a:buClr>
              <a:buFont typeface="Arial"/>
              <a:buChar char="▪"/>
            </a:pPr>
            <a:r>
              <a:rPr sz="1600" b="0" i="0">
                <a:solidFill>
                  <a:srgbClr val="858591"/>
                </a:solidFill>
                <a:latin typeface="Arial"/>
              </a:rPr>
              <a:t>El sistema nunca debe decidir de forma autónoma: siempre bajo criterio final del especialista (human-in-the-loop).</a:t>
            </a:r>
          </a:p>
        </p:txBody>
      </p:sp>
      <p:sp>
        <p:nvSpPr>
          <p:cNvPr id="13" name="Rectangle 12"/>
          <p:cNvSpPr/>
          <p:nvPr/>
        </p:nvSpPr>
        <p:spPr>
          <a:xfrm>
            <a:off x="9326880" y="2514600"/>
            <a:ext cx="3858768" cy="534924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9326880" y="2514600"/>
            <a:ext cx="3858768" cy="82296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582911" y="2514600"/>
            <a:ext cx="3346703" cy="822960"/>
          </a:xfrm>
          <a:prstGeom prst="rect">
            <a:avLst/>
          </a:prstGeom>
          <a:noFill/>
        </p:spPr>
        <p:txBody>
          <a:bodyPr wrap="square" lIns="18288" rIns="18288" tIns="0" bIns="0" anchor="ctr">
            <a:spAutoFit/>
          </a:bodyPr>
          <a:lstStyle/>
          <a:p>
            <a:pPr algn="l">
              <a:spcBef>
                <a:spcPts val="0"/>
              </a:spcBef>
              <a:spcAft>
                <a:spcPts val="0"/>
              </a:spcAft>
            </a:pPr>
            <a:r>
              <a:rPr sz="2600" b="1" i="0">
                <a:solidFill>
                  <a:srgbClr val="FFFFFF"/>
                </a:solidFill>
                <a:latin typeface="Arial"/>
              </a:rPr>
              <a:t>Gobernanza</a:t>
            </a:r>
          </a:p>
        </p:txBody>
      </p:sp>
      <p:sp>
        <p:nvSpPr>
          <p:cNvPr id="16" name="TextBox 15"/>
          <p:cNvSpPr txBox="1"/>
          <p:nvPr/>
        </p:nvSpPr>
        <p:spPr>
          <a:xfrm>
            <a:off x="9582911" y="3566160"/>
            <a:ext cx="3346703" cy="4160520"/>
          </a:xfrm>
          <a:prstGeom prst="rect">
            <a:avLst/>
          </a:prstGeom>
          <a:noFill/>
        </p:spPr>
        <p:txBody>
          <a:bodyPr wrap="square" lIns="18288" rIns="18288" tIns="0" bIns="0" anchor="t">
            <a:spAutoFit/>
          </a:bodyPr>
          <a:lstStyle/>
          <a:p>
            <a:pPr algn="l">
              <a:lnSpc>
                <a:spcPct val="105000"/>
              </a:lnSpc>
              <a:spcBef>
                <a:spcPts val="0"/>
              </a:spcBef>
              <a:spcAft>
                <a:spcPts val="1200"/>
              </a:spcAft>
            </a:pPr>
            <a:r>
              <a:rPr sz="1900" b="1" i="0">
                <a:solidFill>
                  <a:srgbClr val="00566C"/>
                </a:solidFill>
                <a:latin typeface="Arial"/>
              </a:rPr>
              <a:t>Principios constitucionales</a:t>
            </a:r>
          </a:p>
          <a:p>
            <a:pPr algn="l" marL="384048" indent="-384048">
              <a:lnSpc>
                <a:spcPct val="105000"/>
              </a:lnSpc>
              <a:spcBef>
                <a:spcPts val="0"/>
              </a:spcBef>
              <a:spcAft>
                <a:spcPts val="1000"/>
              </a:spcAft>
              <a:buClr>
                <a:srgbClr val="219BC3"/>
              </a:buClr>
              <a:buFont typeface="Arial"/>
              <a:buChar char="▪"/>
            </a:pPr>
            <a:r>
              <a:rPr sz="1600" b="0" i="0">
                <a:solidFill>
                  <a:srgbClr val="858591"/>
                </a:solidFill>
                <a:latin typeface="Arial"/>
              </a:rPr>
              <a:t>Ecuador no dispone aún de una Ley de IA específica.</a:t>
            </a:r>
          </a:p>
          <a:p>
            <a:pPr algn="l" marL="384048" indent="-384048">
              <a:lnSpc>
                <a:spcPct val="105000"/>
              </a:lnSpc>
              <a:spcBef>
                <a:spcPts val="0"/>
              </a:spcBef>
              <a:spcAft>
                <a:spcPts val="1000"/>
              </a:spcAft>
              <a:buClr>
                <a:srgbClr val="219BC3"/>
              </a:buClr>
              <a:buFont typeface="Arial"/>
              <a:buChar char="▪"/>
            </a:pPr>
            <a:r>
              <a:rPr sz="1600" b="0" i="0">
                <a:solidFill>
                  <a:srgbClr val="858591"/>
                </a:solidFill>
                <a:latin typeface="Arial"/>
              </a:rPr>
              <a:t>Aplican el derecho a la salud integral (Art. 32) y el derecho a no ser discriminado (Art. 11) de la Constitución.</a:t>
            </a:r>
          </a:p>
          <a:p>
            <a:pPr algn="l" marL="384048" indent="-384048">
              <a:lnSpc>
                <a:spcPct val="105000"/>
              </a:lnSpc>
              <a:spcBef>
                <a:spcPts val="0"/>
              </a:spcBef>
              <a:spcAft>
                <a:spcPts val="1000"/>
              </a:spcAft>
              <a:buClr>
                <a:srgbClr val="219BC3"/>
              </a:buClr>
              <a:buFont typeface="Arial"/>
              <a:buChar char="▪"/>
            </a:pPr>
            <a:r>
              <a:rPr sz="1600" b="0" i="0">
                <a:solidFill>
                  <a:srgbClr val="858591"/>
                </a:solidFill>
                <a:latin typeface="Arial"/>
              </a:rPr>
              <a:t>De ahí la exigencia de transparencia algorítmica.</a:t>
            </a:r>
          </a:p>
        </p:txBody>
      </p:sp>
      <p:sp>
        <p:nvSpPr>
          <p:cNvPr id="17" name="Rectangle 16"/>
          <p:cNvSpPr/>
          <p:nvPr/>
        </p:nvSpPr>
        <p:spPr>
          <a:xfrm>
            <a:off x="13551408" y="2514600"/>
            <a:ext cx="3858768" cy="534924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3551408" y="2514600"/>
            <a:ext cx="3858768" cy="82296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3807440" y="2514600"/>
            <a:ext cx="3346703" cy="822960"/>
          </a:xfrm>
          <a:prstGeom prst="rect">
            <a:avLst/>
          </a:prstGeom>
          <a:noFill/>
        </p:spPr>
        <p:txBody>
          <a:bodyPr wrap="square" lIns="18288" rIns="18288" tIns="0" bIns="0" anchor="ctr">
            <a:spAutoFit/>
          </a:bodyPr>
          <a:lstStyle/>
          <a:p>
            <a:pPr algn="l">
              <a:spcBef>
                <a:spcPts val="0"/>
              </a:spcBef>
              <a:spcAft>
                <a:spcPts val="0"/>
              </a:spcAft>
            </a:pPr>
            <a:r>
              <a:rPr sz="2600" b="1" i="0">
                <a:solidFill>
                  <a:srgbClr val="FFFFFF"/>
                </a:solidFill>
                <a:latin typeface="Arial"/>
              </a:rPr>
              <a:t>Ética</a:t>
            </a:r>
          </a:p>
        </p:txBody>
      </p:sp>
      <p:sp>
        <p:nvSpPr>
          <p:cNvPr id="20" name="TextBox 19"/>
          <p:cNvSpPr txBox="1"/>
          <p:nvPr/>
        </p:nvSpPr>
        <p:spPr>
          <a:xfrm>
            <a:off x="13807440" y="3566160"/>
            <a:ext cx="3346703" cy="4160520"/>
          </a:xfrm>
          <a:prstGeom prst="rect">
            <a:avLst/>
          </a:prstGeom>
          <a:noFill/>
        </p:spPr>
        <p:txBody>
          <a:bodyPr wrap="square" lIns="18288" rIns="18288" tIns="0" bIns="0" anchor="t">
            <a:spAutoFit/>
          </a:bodyPr>
          <a:lstStyle/>
          <a:p>
            <a:pPr algn="l">
              <a:lnSpc>
                <a:spcPct val="105000"/>
              </a:lnSpc>
              <a:spcBef>
                <a:spcPts val="0"/>
              </a:spcBef>
              <a:spcAft>
                <a:spcPts val="1200"/>
              </a:spcAft>
            </a:pPr>
            <a:r>
              <a:rPr sz="1900" b="1" i="0">
                <a:solidFill>
                  <a:srgbClr val="00566C"/>
                </a:solidFill>
                <a:latin typeface="Arial"/>
              </a:rPr>
              <a:t>Sesgos demográficos</a:t>
            </a:r>
          </a:p>
          <a:p>
            <a:pPr algn="l" marL="384048" indent="-384048">
              <a:lnSpc>
                <a:spcPct val="105000"/>
              </a:lnSpc>
              <a:spcBef>
                <a:spcPts val="0"/>
              </a:spcBef>
              <a:spcAft>
                <a:spcPts val="1000"/>
              </a:spcAft>
              <a:buClr>
                <a:srgbClr val="219BC3"/>
              </a:buClr>
              <a:buFont typeface="Arial"/>
              <a:buChar char="▪"/>
            </a:pPr>
            <a:r>
              <a:rPr sz="1600" b="0" i="0">
                <a:solidFill>
                  <a:srgbClr val="858591"/>
                </a:solidFill>
                <a:latin typeface="Arial"/>
              </a:rPr>
              <a:t>HAM10000 procede mayoritariamente de poblaciones europeas y australianas: fototipos Fitzpatrick I–III.</a:t>
            </a:r>
          </a:p>
          <a:p>
            <a:pPr algn="l" marL="384048" indent="-384048">
              <a:lnSpc>
                <a:spcPct val="105000"/>
              </a:lnSpc>
              <a:spcBef>
                <a:spcPts val="0"/>
              </a:spcBef>
              <a:spcAft>
                <a:spcPts val="1000"/>
              </a:spcAft>
              <a:buClr>
                <a:srgbClr val="219BC3"/>
              </a:buClr>
              <a:buFont typeface="Arial"/>
              <a:buChar char="▪"/>
            </a:pPr>
            <a:r>
              <a:rPr sz="1600" b="0" i="0">
                <a:solidFill>
                  <a:srgbClr val="858591"/>
                </a:solidFill>
                <a:latin typeface="Arial"/>
              </a:rPr>
              <a:t>La demografía ecuatoriana es predominantemente III–V: reconocer el sesgo es parte del resultado, no una nota al pie.</a:t>
            </a:r>
          </a:p>
        </p:txBody>
      </p:sp>
      <p:sp>
        <p:nvSpPr>
          <p:cNvPr id="21" name="Rectangle 20"/>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La conclusión normativa condiciona el resultado técnico: sin validación sobre fototipos locales, el modelo no es desplegable aunque sus métricas sean buenas.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9015984"/>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015984"/>
            <a:ext cx="18288000" cy="12725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2103120" y="2788920"/>
            <a:ext cx="82296"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2615184" y="2697480"/>
            <a:ext cx="12344400" cy="1417320"/>
          </a:xfrm>
          <a:prstGeom prst="rect">
            <a:avLst/>
          </a:prstGeom>
          <a:noFill/>
        </p:spPr>
        <p:txBody>
          <a:bodyPr wrap="square" lIns="18288" rIns="18288" tIns="0" bIns="0" anchor="t">
            <a:spAutoFit/>
          </a:bodyPr>
          <a:lstStyle/>
          <a:p>
            <a:pPr algn="l">
              <a:spcBef>
                <a:spcPts val="0"/>
              </a:spcBef>
              <a:spcAft>
                <a:spcPts val="0"/>
              </a:spcAft>
            </a:pPr>
            <a:r>
              <a:rPr sz="9600" b="1" i="0">
                <a:solidFill>
                  <a:srgbClr val="FFFFFF"/>
                </a:solidFill>
                <a:latin typeface="Arial"/>
              </a:rPr>
              <a:t>03</a:t>
            </a:r>
          </a:p>
        </p:txBody>
      </p:sp>
      <p:sp>
        <p:nvSpPr>
          <p:cNvPr id="6" name="TextBox 5"/>
          <p:cNvSpPr txBox="1"/>
          <p:nvPr/>
        </p:nvSpPr>
        <p:spPr>
          <a:xfrm>
            <a:off x="2651760" y="4160520"/>
            <a:ext cx="13716000" cy="1234440"/>
          </a:xfrm>
          <a:prstGeom prst="rect">
            <a:avLst/>
          </a:prstGeom>
          <a:noFill/>
        </p:spPr>
        <p:txBody>
          <a:bodyPr wrap="square" lIns="18288" rIns="18288" tIns="0" bIns="0" anchor="t">
            <a:spAutoFit/>
          </a:bodyPr>
          <a:lstStyle/>
          <a:p>
            <a:pPr algn="l">
              <a:lnSpc>
                <a:spcPct val="95000"/>
              </a:lnSpc>
              <a:spcBef>
                <a:spcPts val="0"/>
              </a:spcBef>
              <a:spcAft>
                <a:spcPts val="0"/>
              </a:spcAft>
            </a:pPr>
            <a:r>
              <a:rPr sz="5400" b="1" i="0">
                <a:solidFill>
                  <a:srgbClr val="FFFFFF"/>
                </a:solidFill>
                <a:latin typeface="Arial"/>
              </a:rPr>
              <a:t>Comprensión de los datos</a:t>
            </a:r>
          </a:p>
        </p:txBody>
      </p:sp>
      <p:sp>
        <p:nvSpPr>
          <p:cNvPr id="7" name="TextBox 6"/>
          <p:cNvSpPr txBox="1"/>
          <p:nvPr/>
        </p:nvSpPr>
        <p:spPr>
          <a:xfrm>
            <a:off x="2651760" y="5440680"/>
            <a:ext cx="13258800" cy="822960"/>
          </a:xfrm>
          <a:prstGeom prst="rect">
            <a:avLst/>
          </a:prstGeom>
          <a:noFill/>
        </p:spPr>
        <p:txBody>
          <a:bodyPr wrap="square" lIns="18288" rIns="18288" tIns="0" bIns="0" anchor="t">
            <a:spAutoFit/>
          </a:bodyPr>
          <a:lstStyle/>
          <a:p>
            <a:pPr algn="l">
              <a:spcBef>
                <a:spcPts val="0"/>
              </a:spcBef>
              <a:spcAft>
                <a:spcPts val="0"/>
              </a:spcAft>
            </a:pPr>
            <a:r>
              <a:rPr sz="2400" b="0" i="0">
                <a:solidFill>
                  <a:srgbClr val="FFFFFF"/>
                </a:solidFill>
                <a:latin typeface="Arial"/>
              </a:rPr>
              <a:t>Análisis exploratorio de HAM10000 y las decisiones de modelado que se derivan de él</a:t>
            </a:r>
          </a:p>
        </p:txBody>
      </p:sp>
      <p:sp>
        <p:nvSpPr>
          <p:cNvPr id="8" name="TextBox 7"/>
          <p:cNvSpPr txBox="1"/>
          <p:nvPr/>
        </p:nvSpPr>
        <p:spPr>
          <a:xfrm>
            <a:off x="2651760" y="6446520"/>
            <a:ext cx="13258800" cy="457200"/>
          </a:xfrm>
          <a:prstGeom prst="rect">
            <a:avLst/>
          </a:prstGeom>
          <a:noFill/>
        </p:spPr>
        <p:txBody>
          <a:bodyPr wrap="square" lIns="18288" rIns="18288" tIns="0" bIns="0" anchor="t">
            <a:spAutoFit/>
          </a:bodyPr>
          <a:lstStyle/>
          <a:p>
            <a:pPr algn="l">
              <a:spcBef>
                <a:spcPts val="0"/>
              </a:spcBef>
              <a:spcAft>
                <a:spcPts val="0"/>
              </a:spcAft>
            </a:pPr>
            <a:r>
              <a:rPr sz="1900" b="1" i="0">
                <a:solidFill>
                  <a:srgbClr val="FFFFFF"/>
                </a:solidFill>
                <a:latin typeface="Arial"/>
              </a:rPr>
              <a:t>5 minutos</a:t>
            </a:r>
            <a:r>
              <a:rPr sz="1900" b="0" i="0">
                <a:solidFill>
                  <a:srgbClr val="FFFFFF"/>
                </a:solidFill>
                <a:latin typeface="Arial"/>
              </a:rPr>
              <a:t>     ·     </a:t>
            </a:r>
            <a:r>
              <a:rPr sz="1900" b="0" i="0">
                <a:solidFill>
                  <a:srgbClr val="FFFFFF"/>
                </a:solidFill>
                <a:latin typeface="Arial"/>
              </a:rPr>
              <a:t>Expone: Christian</a:t>
            </a:r>
          </a:p>
        </p:txBody>
      </p:sp>
      <p:sp>
        <p:nvSpPr>
          <p:cNvPr id="9" name="TextBox 8"/>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12</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COMPRENSIÓN DE LOS DATOS</a:t>
            </a:r>
          </a:p>
          <a:p>
            <a:pPr algn="l">
              <a:lnSpc>
                <a:spcPct val="92000"/>
              </a:lnSpc>
              <a:spcBef>
                <a:spcPts val="0"/>
              </a:spcBef>
              <a:spcAft>
                <a:spcPts val="0"/>
              </a:spcAft>
            </a:pPr>
            <a:r>
              <a:rPr sz="4000" b="1" i="0">
                <a:solidFill>
                  <a:srgbClr val="00566C"/>
                </a:solidFill>
                <a:latin typeface="Arial"/>
              </a:rPr>
              <a:t>HAM10000: la fuente de datos</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Human Against Machine with 10.000 training images — repositorio dermatoscópico de referencia (ISIC 2018)</a:t>
            </a:r>
          </a:p>
        </p:txBody>
      </p:sp>
      <p:sp>
        <p:nvSpPr>
          <p:cNvPr id="5" name="Rectangle 4"/>
          <p:cNvSpPr/>
          <p:nvPr/>
        </p:nvSpPr>
        <p:spPr>
          <a:xfrm>
            <a:off x="877824" y="2487168"/>
            <a:ext cx="3845051" cy="214884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877824" y="2487168"/>
            <a:ext cx="384505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88720" y="2670048"/>
            <a:ext cx="3223259" cy="1783080"/>
          </a:xfrm>
          <a:prstGeom prst="rect">
            <a:avLst/>
          </a:prstGeom>
          <a:noFill/>
        </p:spPr>
        <p:txBody>
          <a:bodyPr wrap="square" lIns="18288" rIns="18288" tIns="0" bIns="0" anchor="ctr">
            <a:spAutoFit/>
          </a:bodyPr>
          <a:lstStyle/>
          <a:p>
            <a:pPr algn="l">
              <a:lnSpc>
                <a:spcPct val="95000"/>
              </a:lnSpc>
              <a:spcBef>
                <a:spcPts val="0"/>
              </a:spcBef>
              <a:spcAft>
                <a:spcPts val="400"/>
              </a:spcAft>
            </a:pPr>
            <a:r>
              <a:rPr sz="4600" b="1" i="0">
                <a:solidFill>
                  <a:srgbClr val="219BC3"/>
                </a:solidFill>
                <a:latin typeface="Arial"/>
              </a:rPr>
              <a:t>10.015</a:t>
            </a:r>
          </a:p>
          <a:p>
            <a:pPr algn="l">
              <a:lnSpc>
                <a:spcPct val="95000"/>
              </a:lnSpc>
              <a:spcBef>
                <a:spcPts val="0"/>
              </a:spcBef>
              <a:spcAft>
                <a:spcPts val="200"/>
              </a:spcAft>
            </a:pPr>
            <a:r>
              <a:rPr sz="1900" b="1" i="0">
                <a:solidFill>
                  <a:srgbClr val="00566C"/>
                </a:solidFill>
                <a:latin typeface="Arial"/>
              </a:rPr>
              <a:t>Imágenes dermatoscópicas</a:t>
            </a:r>
          </a:p>
          <a:p>
            <a:pPr algn="l">
              <a:lnSpc>
                <a:spcPct val="95000"/>
              </a:lnSpc>
              <a:spcBef>
                <a:spcPts val="0"/>
              </a:spcBef>
              <a:spcAft>
                <a:spcPts val="0"/>
              </a:spcAft>
            </a:pPr>
            <a:r>
              <a:rPr sz="1500" b="0" i="0">
                <a:solidFill>
                  <a:srgbClr val="858591"/>
                </a:solidFill>
                <a:latin typeface="Arial"/>
              </a:rPr>
              <a:t>JPEG en alta resolución</a:t>
            </a:r>
          </a:p>
        </p:txBody>
      </p:sp>
      <p:sp>
        <p:nvSpPr>
          <p:cNvPr id="8" name="Rectangle 7"/>
          <p:cNvSpPr/>
          <p:nvPr/>
        </p:nvSpPr>
        <p:spPr>
          <a:xfrm>
            <a:off x="5106923" y="2487168"/>
            <a:ext cx="3845051" cy="214884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106923" y="2487168"/>
            <a:ext cx="384505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17819" y="2670048"/>
            <a:ext cx="3223259" cy="1783080"/>
          </a:xfrm>
          <a:prstGeom prst="rect">
            <a:avLst/>
          </a:prstGeom>
          <a:noFill/>
        </p:spPr>
        <p:txBody>
          <a:bodyPr wrap="square" lIns="18288" rIns="18288" tIns="0" bIns="0" anchor="ctr">
            <a:spAutoFit/>
          </a:bodyPr>
          <a:lstStyle/>
          <a:p>
            <a:pPr algn="l">
              <a:lnSpc>
                <a:spcPct val="95000"/>
              </a:lnSpc>
              <a:spcBef>
                <a:spcPts val="0"/>
              </a:spcBef>
              <a:spcAft>
                <a:spcPts val="400"/>
              </a:spcAft>
            </a:pPr>
            <a:r>
              <a:rPr sz="4600" b="1" i="0">
                <a:solidFill>
                  <a:srgbClr val="219BC3"/>
                </a:solidFill>
                <a:latin typeface="Arial"/>
              </a:rPr>
              <a:t>7</a:t>
            </a:r>
          </a:p>
          <a:p>
            <a:pPr algn="l">
              <a:lnSpc>
                <a:spcPct val="95000"/>
              </a:lnSpc>
              <a:spcBef>
                <a:spcPts val="0"/>
              </a:spcBef>
              <a:spcAft>
                <a:spcPts val="200"/>
              </a:spcAft>
            </a:pPr>
            <a:r>
              <a:rPr sz="1900" b="1" i="0">
                <a:solidFill>
                  <a:srgbClr val="00566C"/>
                </a:solidFill>
                <a:latin typeface="Arial"/>
              </a:rPr>
              <a:t>Clases diagnósticas</a:t>
            </a:r>
          </a:p>
          <a:p>
            <a:pPr algn="l">
              <a:lnSpc>
                <a:spcPct val="95000"/>
              </a:lnSpc>
              <a:spcBef>
                <a:spcPts val="0"/>
              </a:spcBef>
              <a:spcAft>
                <a:spcPts val="0"/>
              </a:spcAft>
            </a:pPr>
            <a:r>
              <a:rPr sz="1500" b="0" i="0">
                <a:solidFill>
                  <a:srgbClr val="858591"/>
                </a:solidFill>
                <a:latin typeface="Arial"/>
              </a:rPr>
              <a:t>nv · mel · bkl · bcc · akiec · vasc · df</a:t>
            </a:r>
          </a:p>
        </p:txBody>
      </p:sp>
      <p:sp>
        <p:nvSpPr>
          <p:cNvPr id="11" name="Rectangle 10"/>
          <p:cNvSpPr/>
          <p:nvPr/>
        </p:nvSpPr>
        <p:spPr>
          <a:xfrm>
            <a:off x="9336023" y="2487168"/>
            <a:ext cx="3845051" cy="214884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9336023" y="2487168"/>
            <a:ext cx="384505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46919" y="2670048"/>
            <a:ext cx="3223259" cy="1783080"/>
          </a:xfrm>
          <a:prstGeom prst="rect">
            <a:avLst/>
          </a:prstGeom>
          <a:noFill/>
        </p:spPr>
        <p:txBody>
          <a:bodyPr wrap="square" lIns="18288" rIns="18288" tIns="0" bIns="0" anchor="ctr">
            <a:spAutoFit/>
          </a:bodyPr>
          <a:lstStyle/>
          <a:p>
            <a:pPr algn="l">
              <a:lnSpc>
                <a:spcPct val="95000"/>
              </a:lnSpc>
              <a:spcBef>
                <a:spcPts val="0"/>
              </a:spcBef>
              <a:spcAft>
                <a:spcPts val="400"/>
              </a:spcAft>
            </a:pPr>
            <a:r>
              <a:rPr sz="4600" b="1" i="0">
                <a:solidFill>
                  <a:srgbClr val="219BC3"/>
                </a:solidFill>
                <a:latin typeface="Arial"/>
              </a:rPr>
              <a:t>4</a:t>
            </a:r>
          </a:p>
          <a:p>
            <a:pPr algn="l">
              <a:lnSpc>
                <a:spcPct val="95000"/>
              </a:lnSpc>
              <a:spcBef>
                <a:spcPts val="0"/>
              </a:spcBef>
              <a:spcAft>
                <a:spcPts val="200"/>
              </a:spcAft>
            </a:pPr>
            <a:r>
              <a:rPr sz="1900" b="1" i="0">
                <a:solidFill>
                  <a:srgbClr val="00566C"/>
                </a:solidFill>
                <a:latin typeface="Arial"/>
              </a:rPr>
              <a:t>Metadatos clínicos</a:t>
            </a:r>
          </a:p>
          <a:p>
            <a:pPr algn="l">
              <a:lnSpc>
                <a:spcPct val="95000"/>
              </a:lnSpc>
              <a:spcBef>
                <a:spcPts val="0"/>
              </a:spcBef>
              <a:spcAft>
                <a:spcPts val="0"/>
              </a:spcAft>
            </a:pPr>
            <a:r>
              <a:rPr sz="1500" b="0" i="0">
                <a:solidFill>
                  <a:srgbClr val="858591"/>
                </a:solidFill>
                <a:latin typeface="Arial"/>
              </a:rPr>
              <a:t>edad · sexo · localización · dx_type</a:t>
            </a:r>
          </a:p>
        </p:txBody>
      </p:sp>
      <p:sp>
        <p:nvSpPr>
          <p:cNvPr id="14" name="Rectangle 13"/>
          <p:cNvSpPr/>
          <p:nvPr/>
        </p:nvSpPr>
        <p:spPr>
          <a:xfrm>
            <a:off x="13565123" y="2487168"/>
            <a:ext cx="3845051" cy="214884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3565123" y="2487168"/>
            <a:ext cx="384505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3876019" y="2670048"/>
            <a:ext cx="3223259" cy="1783080"/>
          </a:xfrm>
          <a:prstGeom prst="rect">
            <a:avLst/>
          </a:prstGeom>
          <a:noFill/>
        </p:spPr>
        <p:txBody>
          <a:bodyPr wrap="square" lIns="18288" rIns="18288" tIns="0" bIns="0" anchor="ctr">
            <a:spAutoFit/>
          </a:bodyPr>
          <a:lstStyle/>
          <a:p>
            <a:pPr algn="l">
              <a:lnSpc>
                <a:spcPct val="95000"/>
              </a:lnSpc>
              <a:spcBef>
                <a:spcPts val="0"/>
              </a:spcBef>
              <a:spcAft>
                <a:spcPts val="400"/>
              </a:spcAft>
            </a:pPr>
            <a:r>
              <a:rPr sz="4600" b="1" i="0">
                <a:solidFill>
                  <a:srgbClr val="219BC3"/>
                </a:solidFill>
                <a:latin typeface="Arial"/>
              </a:rPr>
              <a:t>1.956</a:t>
            </a:r>
          </a:p>
          <a:p>
            <a:pPr algn="l">
              <a:lnSpc>
                <a:spcPct val="95000"/>
              </a:lnSpc>
              <a:spcBef>
                <a:spcPts val="0"/>
              </a:spcBef>
              <a:spcAft>
                <a:spcPts val="200"/>
              </a:spcAft>
            </a:pPr>
            <a:r>
              <a:rPr sz="1900" b="1" i="0">
                <a:solidFill>
                  <a:srgbClr val="00566C"/>
                </a:solidFill>
                <a:latin typeface="Arial"/>
              </a:rPr>
              <a:t>Lesiones con varias imágenes</a:t>
            </a:r>
          </a:p>
          <a:p>
            <a:pPr algn="l">
              <a:lnSpc>
                <a:spcPct val="95000"/>
              </a:lnSpc>
              <a:spcBef>
                <a:spcPts val="0"/>
              </a:spcBef>
              <a:spcAft>
                <a:spcPts val="0"/>
              </a:spcAft>
            </a:pPr>
            <a:r>
              <a:rPr sz="1500" b="0" i="0">
                <a:solidFill>
                  <a:srgbClr val="858591"/>
                </a:solidFill>
                <a:latin typeface="Arial"/>
              </a:rPr>
              <a:t>exigen partición agrupada por lesion_id</a:t>
            </a:r>
          </a:p>
        </p:txBody>
      </p:sp>
      <p:sp>
        <p:nvSpPr>
          <p:cNvPr id="17" name="Rectangle 16"/>
          <p:cNvSpPr/>
          <p:nvPr/>
        </p:nvSpPr>
        <p:spPr>
          <a:xfrm>
            <a:off x="877824" y="4937760"/>
            <a:ext cx="8074152" cy="292608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77824" y="4937760"/>
            <a:ext cx="8074152"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170432" y="5175504"/>
            <a:ext cx="7507224" cy="2468880"/>
          </a:xfrm>
          <a:prstGeom prst="rect">
            <a:avLst/>
          </a:prstGeom>
          <a:noFill/>
        </p:spPr>
        <p:txBody>
          <a:bodyPr wrap="square" lIns="18288" rIns="18288" tIns="0" bIns="0" anchor="t">
            <a:spAutoFit/>
          </a:bodyPr>
          <a:lstStyle/>
          <a:p>
            <a:pPr algn="l">
              <a:lnSpc>
                <a:spcPct val="100000"/>
              </a:lnSpc>
              <a:spcBef>
                <a:spcPts val="0"/>
              </a:spcBef>
              <a:spcAft>
                <a:spcPts val="800"/>
              </a:spcAft>
            </a:pPr>
            <a:r>
              <a:rPr sz="2200" b="1" i="0">
                <a:solidFill>
                  <a:srgbClr val="00566C"/>
                </a:solidFill>
                <a:latin typeface="Arial"/>
              </a:rPr>
              <a:t>Origen y construcción</a:t>
            </a:r>
          </a:p>
          <a:p>
            <a:pPr algn="l" marL="384048" indent="-384048">
              <a:lnSpc>
                <a:spcPct val="100000"/>
              </a:lnSpc>
              <a:spcBef>
                <a:spcPts val="0"/>
              </a:spcBef>
              <a:spcAft>
                <a:spcPts val="600"/>
              </a:spcAft>
              <a:buClr>
                <a:srgbClr val="219BC3"/>
              </a:buClr>
              <a:buFont typeface="Arial"/>
              <a:buChar char="▪"/>
            </a:pPr>
            <a:r>
              <a:rPr sz="1800" b="0" i="0">
                <a:solidFill>
                  <a:srgbClr val="858591"/>
                </a:solidFill>
                <a:latin typeface="Arial"/>
              </a:rPr>
              <a:t>Recopilado durante 20 años en el Departamento de Dermatología de la Universidad Médica de Viena y en una consulta privada de Queensland (Australia).</a:t>
            </a:r>
          </a:p>
          <a:p>
            <a:pPr algn="l" marL="384048" indent="-384048">
              <a:lnSpc>
                <a:spcPct val="100000"/>
              </a:lnSpc>
              <a:spcBef>
                <a:spcPts val="0"/>
              </a:spcBef>
              <a:spcAft>
                <a:spcPts val="600"/>
              </a:spcAft>
              <a:buClr>
                <a:srgbClr val="219BC3"/>
              </a:buClr>
              <a:buFont typeface="Arial"/>
              <a:buChar char="▪"/>
            </a:pPr>
            <a:r>
              <a:rPr sz="1800" b="0" i="0">
                <a:solidFill>
                  <a:srgbClr val="858591"/>
                </a:solidFill>
                <a:latin typeface="Arial"/>
              </a:rPr>
              <a:t>Las etiquetas se confirman por histopatología, seguimiento clínico, confocal o consenso de expertos — la variable dx_type registra el método.</a:t>
            </a:r>
          </a:p>
        </p:txBody>
      </p:sp>
      <p:sp>
        <p:nvSpPr>
          <p:cNvPr id="20" name="Rectangle 19"/>
          <p:cNvSpPr/>
          <p:nvPr/>
        </p:nvSpPr>
        <p:spPr>
          <a:xfrm>
            <a:off x="9336024" y="4937760"/>
            <a:ext cx="8074152" cy="292608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9336024" y="4937760"/>
            <a:ext cx="8074152"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28632" y="5175504"/>
            <a:ext cx="7507224" cy="2468880"/>
          </a:xfrm>
          <a:prstGeom prst="rect">
            <a:avLst/>
          </a:prstGeom>
          <a:noFill/>
        </p:spPr>
        <p:txBody>
          <a:bodyPr wrap="square" lIns="18288" rIns="18288" tIns="0" bIns="0" anchor="t">
            <a:spAutoFit/>
          </a:bodyPr>
          <a:lstStyle/>
          <a:p>
            <a:pPr algn="l">
              <a:lnSpc>
                <a:spcPct val="100000"/>
              </a:lnSpc>
              <a:spcBef>
                <a:spcPts val="0"/>
              </a:spcBef>
              <a:spcAft>
                <a:spcPts val="800"/>
              </a:spcAft>
            </a:pPr>
            <a:r>
              <a:rPr sz="2200" b="1" i="0">
                <a:solidFill>
                  <a:srgbClr val="00566C"/>
                </a:solidFill>
                <a:latin typeface="Arial"/>
              </a:rPr>
              <a:t>Estructura y relaciones</a:t>
            </a:r>
          </a:p>
          <a:p>
            <a:pPr algn="l" marL="384048" indent="-384048">
              <a:lnSpc>
                <a:spcPct val="100000"/>
              </a:lnSpc>
              <a:spcBef>
                <a:spcPts val="0"/>
              </a:spcBef>
              <a:spcAft>
                <a:spcPts val="600"/>
              </a:spcAft>
              <a:buClr>
                <a:srgbClr val="219BC3"/>
              </a:buClr>
              <a:buFont typeface="Arial"/>
              <a:buChar char="▪"/>
            </a:pPr>
            <a:r>
              <a:rPr sz="1800" b="0" i="0">
                <a:solidFill>
                  <a:srgbClr val="858591"/>
                </a:solidFill>
                <a:latin typeface="Arial"/>
              </a:rPr>
              <a:t>HAM10000_metadata.csv enlaza cada image_id con su lesion_id, su clase dx y los metadatos del paciente.</a:t>
            </a:r>
          </a:p>
          <a:p>
            <a:pPr algn="l" marL="384048" indent="-384048">
              <a:lnSpc>
                <a:spcPct val="100000"/>
              </a:lnSpc>
              <a:spcBef>
                <a:spcPts val="0"/>
              </a:spcBef>
              <a:spcAft>
                <a:spcPts val="600"/>
              </a:spcAft>
              <a:buClr>
                <a:srgbClr val="219BC3"/>
              </a:buClr>
              <a:buFont typeface="Arial"/>
              <a:buChar char="▪"/>
            </a:pPr>
            <a:r>
              <a:rPr sz="1800" b="0" i="0">
                <a:solidFill>
                  <a:srgbClr val="858591"/>
                </a:solidFill>
                <a:latin typeface="Arial"/>
              </a:rPr>
              <a:t>Una misma lesión puede tener varias imágenes: es la relación uno-a-muchos que obliga a controlar la partición para evitar fuga de información.</a:t>
            </a:r>
          </a:p>
        </p:txBody>
      </p:sp>
      <p:sp>
        <p:nvSpPr>
          <p:cNvPr id="23" name="Rectangle 22"/>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Un dataset masivo, público y con etiquetas trazables — pero, como veremos, profundamente desequilibrado.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13</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COMPRENSIÓN DE LOS DATOS</a:t>
            </a:r>
          </a:p>
          <a:p>
            <a:pPr algn="l">
              <a:lnSpc>
                <a:spcPct val="92000"/>
              </a:lnSpc>
              <a:spcBef>
                <a:spcPts val="0"/>
              </a:spcBef>
              <a:spcAft>
                <a:spcPts val="0"/>
              </a:spcAft>
            </a:pPr>
            <a:r>
              <a:rPr sz="4000" b="1" i="0">
                <a:solidFill>
                  <a:srgbClr val="00566C"/>
                </a:solidFill>
                <a:latin typeface="Arial"/>
              </a:rPr>
              <a:t>Hallazgo 1 — Un desbalance severo y clínicamente perverso</a:t>
            </a:r>
          </a:p>
        </p:txBody>
      </p:sp>
      <p:pic>
        <p:nvPicPr>
          <p:cNvPr id="4" name="Picture 3" descr="c1_desbalance.png"/>
          <p:cNvPicPr>
            <a:picLocks noChangeAspect="1"/>
          </p:cNvPicPr>
          <p:nvPr/>
        </p:nvPicPr>
        <p:blipFill>
          <a:blip r:embed="rId2"/>
          <a:stretch>
            <a:fillRect/>
          </a:stretch>
        </p:blipFill>
        <p:spPr>
          <a:xfrm>
            <a:off x="877824" y="2212848"/>
            <a:ext cx="10607040" cy="4574600"/>
          </a:xfrm>
          <a:prstGeom prst="rect">
            <a:avLst/>
          </a:prstGeom>
        </p:spPr>
      </p:pic>
      <p:sp>
        <p:nvSpPr>
          <p:cNvPr id="5" name="Rectangle 4"/>
          <p:cNvSpPr/>
          <p:nvPr/>
        </p:nvSpPr>
        <p:spPr>
          <a:xfrm>
            <a:off x="11942063" y="2331720"/>
            <a:ext cx="5468112" cy="288036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11942063" y="2331720"/>
            <a:ext cx="68580" cy="288036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2252959" y="2560320"/>
            <a:ext cx="4937760" cy="2468880"/>
          </a:xfrm>
          <a:prstGeom prst="rect">
            <a:avLst/>
          </a:prstGeom>
          <a:noFill/>
        </p:spPr>
        <p:txBody>
          <a:bodyPr wrap="square" lIns="18288" rIns="18288" tIns="0" bIns="0" anchor="t">
            <a:spAutoFit/>
          </a:bodyPr>
          <a:lstStyle/>
          <a:p>
            <a:pPr algn="l">
              <a:lnSpc>
                <a:spcPct val="105000"/>
              </a:lnSpc>
              <a:spcBef>
                <a:spcPts val="0"/>
              </a:spcBef>
              <a:spcAft>
                <a:spcPts val="800"/>
              </a:spcAft>
            </a:pPr>
            <a:r>
              <a:rPr sz="2100" b="1" i="0">
                <a:solidFill>
                  <a:srgbClr val="00566C"/>
                </a:solidFill>
                <a:latin typeface="Arial"/>
              </a:rPr>
              <a:t>El problema</a:t>
            </a:r>
          </a:p>
          <a:p>
            <a:pPr algn="l">
              <a:lnSpc>
                <a:spcPct val="105000"/>
              </a:lnSpc>
              <a:spcBef>
                <a:spcPts val="0"/>
              </a:spcBef>
              <a:spcAft>
                <a:spcPts val="0"/>
              </a:spcAft>
            </a:pPr>
            <a:r>
              <a:rPr sz="1800" b="0" i="0">
                <a:solidFill>
                  <a:srgbClr val="858591"/>
                </a:solidFill>
                <a:latin typeface="Arial"/>
              </a:rPr>
              <a:t>Las clases más infrarrepresentadas son precisamente las de mayor relevancia clínica: melanoma (11,1 %), carcinoma basocelular (5,1 %) y queratosis actínica (3,3 %).</a:t>
            </a:r>
          </a:p>
        </p:txBody>
      </p:sp>
      <p:sp>
        <p:nvSpPr>
          <p:cNvPr id="8" name="Rectangle 7"/>
          <p:cNvSpPr/>
          <p:nvPr/>
        </p:nvSpPr>
        <p:spPr>
          <a:xfrm>
            <a:off x="11942063" y="5440680"/>
            <a:ext cx="5468112" cy="2423160"/>
          </a:xfrm>
          <a:prstGeom prst="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11942063" y="5440680"/>
            <a:ext cx="68580" cy="2423160"/>
          </a:xfrm>
          <a:prstGeom prst="rect">
            <a:avLst/>
          </a:prstGeom>
          <a:solidFill>
            <a:srgbClr val="C03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2252959" y="5650992"/>
            <a:ext cx="4937760" cy="2011680"/>
          </a:xfrm>
          <a:prstGeom prst="rect">
            <a:avLst/>
          </a:prstGeom>
          <a:noFill/>
        </p:spPr>
        <p:txBody>
          <a:bodyPr wrap="square" lIns="18288" rIns="18288" tIns="0" bIns="0" anchor="t">
            <a:spAutoFit/>
          </a:bodyPr>
          <a:lstStyle/>
          <a:p>
            <a:pPr algn="l">
              <a:lnSpc>
                <a:spcPct val="105000"/>
              </a:lnSpc>
              <a:spcBef>
                <a:spcPts val="0"/>
              </a:spcBef>
              <a:spcAft>
                <a:spcPts val="800"/>
              </a:spcAft>
            </a:pPr>
            <a:r>
              <a:rPr sz="2100" b="1" i="0">
                <a:solidFill>
                  <a:srgbClr val="C0393B"/>
                </a:solidFill>
                <a:latin typeface="Arial"/>
              </a:rPr>
              <a:t>El clasificador trivial</a:t>
            </a:r>
          </a:p>
          <a:p>
            <a:pPr algn="l">
              <a:lnSpc>
                <a:spcPct val="105000"/>
              </a:lnSpc>
              <a:spcBef>
                <a:spcPts val="0"/>
              </a:spcBef>
              <a:spcAft>
                <a:spcPts val="0"/>
              </a:spcAft>
            </a:pPr>
            <a:r>
              <a:rPr sz="1800" b="0" i="0">
                <a:solidFill>
                  <a:srgbClr val="858591"/>
                </a:solidFill>
                <a:latin typeface="Arial"/>
              </a:rPr>
              <a:t>Un modelo que etiquetase todo como «nevus» alcanzaría un 66,9 % de accuracy sin haber aprendido nada útil.</a:t>
            </a:r>
          </a:p>
        </p:txBody>
      </p:sp>
      <p:sp>
        <p:nvSpPr>
          <p:cNvPr id="11" name="Rectangle 10"/>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La distribución no es un artefacto de recopilación: refleja la prevalencia clínica real. Pero obliga a corregir el desbalance y a desconfiar del accuracy.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14</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COMPRENSIÓN DE LOS DATOS</a:t>
            </a:r>
          </a:p>
          <a:p>
            <a:pPr algn="l">
              <a:lnSpc>
                <a:spcPct val="92000"/>
              </a:lnSpc>
              <a:spcBef>
                <a:spcPts val="0"/>
              </a:spcBef>
              <a:spcAft>
                <a:spcPts val="0"/>
              </a:spcAft>
            </a:pPr>
            <a:r>
              <a:rPr sz="4000" b="1" i="0">
                <a:solidFill>
                  <a:srgbClr val="00566C"/>
                </a:solidFill>
                <a:latin typeface="Arial"/>
              </a:rPr>
              <a:t>Hallazgo 2 — La edad es la covariable más informativa</a:t>
            </a:r>
          </a:p>
        </p:txBody>
      </p:sp>
      <p:pic>
        <p:nvPicPr>
          <p:cNvPr id="4" name="Picture 3" descr="t-001.png"/>
          <p:cNvPicPr>
            <a:picLocks noChangeAspect="1"/>
          </p:cNvPicPr>
          <p:nvPr/>
        </p:nvPicPr>
        <p:blipFill>
          <a:blip r:embed="rId2"/>
          <a:stretch>
            <a:fillRect/>
          </a:stretch>
        </p:blipFill>
        <p:spPr>
          <a:xfrm>
            <a:off x="877824" y="2194560"/>
            <a:ext cx="3294966" cy="5669280"/>
          </a:xfrm>
          <a:prstGeom prst="rect">
            <a:avLst/>
          </a:prstGeom>
        </p:spPr>
      </p:pic>
      <p:sp>
        <p:nvSpPr>
          <p:cNvPr id="5" name="Rectangle 4"/>
          <p:cNvSpPr/>
          <p:nvPr/>
        </p:nvSpPr>
        <p:spPr>
          <a:xfrm>
            <a:off x="5998464" y="2331720"/>
            <a:ext cx="3547871" cy="1874519"/>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998464" y="2331720"/>
            <a:ext cx="354787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309360" y="2514600"/>
            <a:ext cx="2926079" cy="1508760"/>
          </a:xfrm>
          <a:prstGeom prst="rect">
            <a:avLst/>
          </a:prstGeom>
          <a:noFill/>
        </p:spPr>
        <p:txBody>
          <a:bodyPr wrap="square" lIns="18288" rIns="18288" tIns="0" bIns="0" anchor="ctr">
            <a:spAutoFit/>
          </a:bodyPr>
          <a:lstStyle/>
          <a:p>
            <a:pPr algn="l">
              <a:lnSpc>
                <a:spcPct val="95000"/>
              </a:lnSpc>
              <a:spcBef>
                <a:spcPts val="0"/>
              </a:spcBef>
              <a:spcAft>
                <a:spcPts val="400"/>
              </a:spcAft>
            </a:pPr>
            <a:r>
              <a:rPr sz="3800" b="1" i="0">
                <a:solidFill>
                  <a:srgbClr val="219BC3"/>
                </a:solidFill>
                <a:latin typeface="Arial"/>
              </a:rPr>
              <a:t>51,85 años</a:t>
            </a:r>
          </a:p>
          <a:p>
            <a:pPr algn="l">
              <a:lnSpc>
                <a:spcPct val="95000"/>
              </a:lnSpc>
              <a:spcBef>
                <a:spcPts val="0"/>
              </a:spcBef>
              <a:spcAft>
                <a:spcPts val="200"/>
              </a:spcAft>
            </a:pPr>
            <a:r>
              <a:rPr sz="1900" b="1" i="0">
                <a:solidFill>
                  <a:srgbClr val="00566C"/>
                </a:solidFill>
                <a:latin typeface="Arial"/>
              </a:rPr>
              <a:t>Edad media</a:t>
            </a:r>
          </a:p>
          <a:p>
            <a:pPr algn="l">
              <a:lnSpc>
                <a:spcPct val="95000"/>
              </a:lnSpc>
              <a:spcBef>
                <a:spcPts val="0"/>
              </a:spcBef>
              <a:spcAft>
                <a:spcPts val="0"/>
              </a:spcAft>
            </a:pPr>
            <a:r>
              <a:rPr sz="1500" b="0" i="0">
                <a:solidFill>
                  <a:srgbClr val="858591"/>
                </a:solidFill>
                <a:latin typeface="Arial"/>
              </a:rPr>
              <a:t>DE = 16,93 · mediana 50 años</a:t>
            </a:r>
          </a:p>
        </p:txBody>
      </p:sp>
      <p:sp>
        <p:nvSpPr>
          <p:cNvPr id="8" name="Rectangle 7"/>
          <p:cNvSpPr/>
          <p:nvPr/>
        </p:nvSpPr>
        <p:spPr>
          <a:xfrm>
            <a:off x="9930384" y="2331720"/>
            <a:ext cx="3547871" cy="1874519"/>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9930384" y="2331720"/>
            <a:ext cx="354787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241280" y="2514600"/>
            <a:ext cx="2926079" cy="1508760"/>
          </a:xfrm>
          <a:prstGeom prst="rect">
            <a:avLst/>
          </a:prstGeom>
          <a:noFill/>
        </p:spPr>
        <p:txBody>
          <a:bodyPr wrap="square" lIns="18288" rIns="18288" tIns="0" bIns="0" anchor="ctr">
            <a:spAutoFit/>
          </a:bodyPr>
          <a:lstStyle/>
          <a:p>
            <a:pPr algn="l">
              <a:lnSpc>
                <a:spcPct val="95000"/>
              </a:lnSpc>
              <a:spcBef>
                <a:spcPts val="0"/>
              </a:spcBef>
              <a:spcAft>
                <a:spcPts val="400"/>
              </a:spcAft>
            </a:pPr>
            <a:r>
              <a:rPr sz="3800" b="1" i="0">
                <a:solidFill>
                  <a:srgbClr val="219BC3"/>
                </a:solidFill>
                <a:latin typeface="Arial"/>
              </a:rPr>
              <a:t>H = 2.295,31</a:t>
            </a:r>
          </a:p>
          <a:p>
            <a:pPr algn="l">
              <a:lnSpc>
                <a:spcPct val="95000"/>
              </a:lnSpc>
              <a:spcBef>
                <a:spcPts val="0"/>
              </a:spcBef>
              <a:spcAft>
                <a:spcPts val="200"/>
              </a:spcAft>
            </a:pPr>
            <a:r>
              <a:rPr sz="1900" b="1" i="0">
                <a:solidFill>
                  <a:srgbClr val="00566C"/>
                </a:solidFill>
                <a:latin typeface="Arial"/>
              </a:rPr>
              <a:t>Kruskal-Wallis</a:t>
            </a:r>
          </a:p>
          <a:p>
            <a:pPr algn="l">
              <a:lnSpc>
                <a:spcPct val="95000"/>
              </a:lnSpc>
              <a:spcBef>
                <a:spcPts val="0"/>
              </a:spcBef>
              <a:spcAft>
                <a:spcPts val="0"/>
              </a:spcAft>
            </a:pPr>
            <a:r>
              <a:rPr sz="1500" b="0" i="0">
                <a:solidFill>
                  <a:srgbClr val="858591"/>
                </a:solidFill>
                <a:latin typeface="Arial"/>
              </a:rPr>
              <a:t>p &lt; 0,0001 entre las 7 clases</a:t>
            </a:r>
          </a:p>
        </p:txBody>
      </p:sp>
      <p:sp>
        <p:nvSpPr>
          <p:cNvPr id="11" name="Rectangle 10"/>
          <p:cNvSpPr/>
          <p:nvPr/>
        </p:nvSpPr>
        <p:spPr>
          <a:xfrm>
            <a:off x="13862303" y="2331720"/>
            <a:ext cx="3547871" cy="1874519"/>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13862303" y="2331720"/>
            <a:ext cx="354787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4173199" y="2514600"/>
            <a:ext cx="2926079" cy="1508760"/>
          </a:xfrm>
          <a:prstGeom prst="rect">
            <a:avLst/>
          </a:prstGeom>
          <a:noFill/>
        </p:spPr>
        <p:txBody>
          <a:bodyPr wrap="square" lIns="18288" rIns="18288" tIns="0" bIns="0" anchor="ctr">
            <a:spAutoFit/>
          </a:bodyPr>
          <a:lstStyle/>
          <a:p>
            <a:pPr algn="l">
              <a:lnSpc>
                <a:spcPct val="95000"/>
              </a:lnSpc>
              <a:spcBef>
                <a:spcPts val="0"/>
              </a:spcBef>
              <a:spcAft>
                <a:spcPts val="400"/>
              </a:spcAft>
            </a:pPr>
            <a:r>
              <a:rPr sz="3800" b="1" i="0">
                <a:solidFill>
                  <a:srgbClr val="219BC3"/>
                </a:solidFill>
                <a:latin typeface="Arial"/>
              </a:rPr>
              <a:t>r = 0,332</a:t>
            </a:r>
          </a:p>
          <a:p>
            <a:pPr algn="l">
              <a:lnSpc>
                <a:spcPct val="95000"/>
              </a:lnSpc>
              <a:spcBef>
                <a:spcPts val="0"/>
              </a:spcBef>
              <a:spcAft>
                <a:spcPts val="200"/>
              </a:spcAft>
            </a:pPr>
            <a:r>
              <a:rPr sz="1900" b="1" i="0">
                <a:solidFill>
                  <a:srgbClr val="00566C"/>
                </a:solidFill>
                <a:latin typeface="Arial"/>
              </a:rPr>
              <a:t>Correlación con malignidad</a:t>
            </a:r>
          </a:p>
          <a:p>
            <a:pPr algn="l">
              <a:lnSpc>
                <a:spcPct val="95000"/>
              </a:lnSpc>
              <a:spcBef>
                <a:spcPts val="0"/>
              </a:spcBef>
              <a:spcAft>
                <a:spcPts val="0"/>
              </a:spcAft>
            </a:pPr>
            <a:r>
              <a:rPr sz="1500" b="0" i="0">
                <a:solidFill>
                  <a:srgbClr val="858591"/>
                </a:solidFill>
                <a:latin typeface="Arial"/>
              </a:rPr>
              <a:t>moderada pero robusta</a:t>
            </a:r>
          </a:p>
        </p:txBody>
      </p:sp>
      <p:sp>
        <p:nvSpPr>
          <p:cNvPr id="14" name="Rectangle 13"/>
          <p:cNvSpPr/>
          <p:nvPr/>
        </p:nvSpPr>
        <p:spPr>
          <a:xfrm>
            <a:off x="5998464" y="4526280"/>
            <a:ext cx="11411711" cy="3310128"/>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998464" y="4526280"/>
            <a:ext cx="68580" cy="331012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64224" y="4773168"/>
            <a:ext cx="10680191" cy="2834640"/>
          </a:xfrm>
          <a:prstGeom prst="rect">
            <a:avLst/>
          </a:prstGeom>
          <a:noFill/>
        </p:spPr>
        <p:txBody>
          <a:bodyPr wrap="square" lIns="18288" rIns="18288" tIns="0" bIns="0" anchor="t">
            <a:spAutoFit/>
          </a:bodyPr>
          <a:lstStyle/>
          <a:p>
            <a:pPr algn="l">
              <a:lnSpc>
                <a:spcPct val="105000"/>
              </a:lnSpc>
              <a:spcBef>
                <a:spcPts val="0"/>
              </a:spcBef>
              <a:spcAft>
                <a:spcPts val="1000"/>
              </a:spcAft>
            </a:pPr>
            <a:r>
              <a:rPr sz="2200" b="1" i="0">
                <a:solidFill>
                  <a:srgbClr val="00566C"/>
                </a:solidFill>
                <a:latin typeface="Arial"/>
              </a:rPr>
              <a:t>Lectura clínica</a:t>
            </a:r>
          </a:p>
          <a:p>
            <a:pPr algn="l">
              <a:lnSpc>
                <a:spcPct val="105000"/>
              </a:lnSpc>
              <a:spcBef>
                <a:spcPts val="0"/>
              </a:spcBef>
              <a:spcAft>
                <a:spcPts val="1000"/>
              </a:spcAft>
            </a:pPr>
            <a:r>
              <a:rPr sz="1900" b="0" i="0">
                <a:solidFill>
                  <a:srgbClr val="858591"/>
                </a:solidFill>
                <a:latin typeface="Arial"/>
              </a:rPr>
              <a:t>Las clases malignas asociadas a daño solar crónico —carcinoma basocelular y queratosis actínica— presentan una mediana de 70 años, frente a los 45 años del nevus melanocítico.</a:t>
            </a:r>
          </a:p>
          <a:p>
            <a:pPr algn="l">
              <a:lnSpc>
                <a:spcPct val="105000"/>
              </a:lnSpc>
              <a:spcBef>
                <a:spcPts val="0"/>
              </a:spcBef>
              <a:spcAft>
                <a:spcPts val="1000"/>
              </a:spcAft>
            </a:pPr>
            <a:r>
              <a:rPr sz="1900" b="0" i="0">
                <a:solidFill>
                  <a:srgbClr val="858591"/>
                </a:solidFill>
                <a:latin typeface="Arial"/>
              </a:rPr>
              <a:t>La edad acumulada de exposición ultravioleta es uno de los factores de riesgo más robustos para las lesiones malignas de estirpe epidérmica.</a:t>
            </a:r>
          </a:p>
          <a:p>
            <a:pPr algn="l">
              <a:lnSpc>
                <a:spcPct val="105000"/>
              </a:lnSpc>
              <a:spcBef>
                <a:spcPts val="0"/>
              </a:spcBef>
              <a:spcAft>
                <a:spcPts val="0"/>
              </a:spcAft>
            </a:pPr>
            <a:r>
              <a:rPr sz="1900" b="1" i="0">
                <a:solidFill>
                  <a:srgbClr val="00566C"/>
                </a:solidFill>
                <a:latin typeface="Arial"/>
              </a:rPr>
              <a:t>Consecuencia: la arquitectura convolucional, que solo procesa píxeles, deja sin explotar información diagnóstica disponible.</a:t>
            </a:r>
          </a:p>
        </p:txBody>
      </p:sp>
      <p:sp>
        <p:nvSpPr>
          <p:cNvPr id="17" name="Rectangle 16"/>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Este hallazgo se convierte más adelante en una limitación reconocida del modelado y en la primera línea de trabajo futuro: la fusión multimodal imagen + metadatos.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15</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COMPRENSIÓN DE LOS DATOS</a:t>
            </a:r>
          </a:p>
          <a:p>
            <a:pPr algn="l">
              <a:lnSpc>
                <a:spcPct val="92000"/>
              </a:lnSpc>
              <a:spcBef>
                <a:spcPts val="0"/>
              </a:spcBef>
              <a:spcAft>
                <a:spcPts val="0"/>
              </a:spcAft>
            </a:pPr>
            <a:r>
              <a:rPr sz="4000" b="1" i="0">
                <a:solidFill>
                  <a:srgbClr val="00566C"/>
                </a:solidFill>
                <a:latin typeface="Arial"/>
              </a:rPr>
              <a:t>Hallazgo 3 — Asociaciones entre variables y fuga de datos</a:t>
            </a:r>
          </a:p>
        </p:txBody>
      </p:sp>
      <p:pic>
        <p:nvPicPr>
          <p:cNvPr id="4" name="Picture 3" descr="t-008.png"/>
          <p:cNvPicPr>
            <a:picLocks noChangeAspect="1"/>
          </p:cNvPicPr>
          <p:nvPr/>
        </p:nvPicPr>
        <p:blipFill>
          <a:blip r:embed="rId2"/>
          <a:stretch>
            <a:fillRect/>
          </a:stretch>
        </p:blipFill>
        <p:spPr>
          <a:xfrm>
            <a:off x="1152144" y="2267712"/>
            <a:ext cx="6584089" cy="5349240"/>
          </a:xfrm>
          <a:prstGeom prst="rect">
            <a:avLst/>
          </a:prstGeom>
        </p:spPr>
      </p:pic>
      <p:sp>
        <p:nvSpPr>
          <p:cNvPr id="5" name="TextBox 4"/>
          <p:cNvSpPr txBox="1"/>
          <p:nvPr/>
        </p:nvSpPr>
        <p:spPr>
          <a:xfrm>
            <a:off x="9509760" y="2304288"/>
            <a:ext cx="7900415" cy="457200"/>
          </a:xfrm>
          <a:prstGeom prst="rect">
            <a:avLst/>
          </a:prstGeom>
          <a:noFill/>
        </p:spPr>
        <p:txBody>
          <a:bodyPr wrap="square" lIns="18288" rIns="18288" tIns="0" bIns="0" anchor="t">
            <a:spAutoFit/>
          </a:bodyPr>
          <a:lstStyle/>
          <a:p>
            <a:pPr algn="l">
              <a:spcBef>
                <a:spcPts val="0"/>
              </a:spcBef>
              <a:spcAft>
                <a:spcPts val="0"/>
              </a:spcAft>
            </a:pPr>
            <a:r>
              <a:rPr sz="2000" b="1" i="0">
                <a:solidFill>
                  <a:srgbClr val="00566C"/>
                </a:solidFill>
                <a:latin typeface="Arial"/>
              </a:rPr>
              <a:t>Matriz de Cramér's V entre variables categóricas</a:t>
            </a:r>
          </a:p>
        </p:txBody>
      </p:sp>
      <p:sp>
        <p:nvSpPr>
          <p:cNvPr id="6" name="Rectangle 5"/>
          <p:cNvSpPr/>
          <p:nvPr/>
        </p:nvSpPr>
        <p:spPr>
          <a:xfrm>
            <a:off x="9509760" y="2880360"/>
            <a:ext cx="7900415" cy="107899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9509760" y="2880360"/>
            <a:ext cx="64008" cy="107899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820656" y="3008376"/>
            <a:ext cx="7260335" cy="841248"/>
          </a:xfrm>
          <a:prstGeom prst="rect">
            <a:avLst/>
          </a:prstGeom>
          <a:noFill/>
        </p:spPr>
        <p:txBody>
          <a:bodyPr wrap="square" lIns="18288" rIns="18288" tIns="0" bIns="0" anchor="t">
            <a:spAutoFit/>
          </a:bodyPr>
          <a:lstStyle/>
          <a:p>
            <a:pPr algn="l">
              <a:lnSpc>
                <a:spcPct val="103000"/>
              </a:lnSpc>
              <a:spcBef>
                <a:spcPts val="0"/>
              </a:spcBef>
              <a:spcAft>
                <a:spcPts val="0"/>
              </a:spcAft>
            </a:pPr>
            <a:r>
              <a:rPr sz="1900" b="1" i="0">
                <a:solidFill>
                  <a:srgbClr val="00566C"/>
                </a:solidFill>
                <a:latin typeface="Arial"/>
              </a:rPr>
              <a:t>malignidad ↔ dx_type     </a:t>
            </a:r>
            <a:r>
              <a:rPr sz="1900" b="1" i="0">
                <a:solidFill>
                  <a:srgbClr val="219BC3"/>
                </a:solidFill>
                <a:latin typeface="Arial"/>
              </a:rPr>
              <a:t>V = 0,460</a:t>
            </a:r>
          </a:p>
          <a:p>
            <a:pPr algn="l">
              <a:lnSpc>
                <a:spcPct val="103000"/>
              </a:lnSpc>
              <a:spcBef>
                <a:spcPts val="0"/>
              </a:spcBef>
              <a:spcAft>
                <a:spcPts val="0"/>
              </a:spcAft>
            </a:pPr>
            <a:r>
              <a:rPr sz="1600" b="0" i="0">
                <a:solidFill>
                  <a:srgbClr val="858591"/>
                </a:solidFill>
                <a:latin typeface="Arial"/>
              </a:rPr>
              <a:t>El método de confirmación diagnóstica está fuertemente asociado a la malignidad: la calidad de las etiquetas es heterogénea según la clase.</a:t>
            </a:r>
          </a:p>
        </p:txBody>
      </p:sp>
      <p:sp>
        <p:nvSpPr>
          <p:cNvPr id="9" name="Rectangle 8"/>
          <p:cNvSpPr/>
          <p:nvPr/>
        </p:nvSpPr>
        <p:spPr>
          <a:xfrm>
            <a:off x="9509760" y="4105656"/>
            <a:ext cx="7900415" cy="107899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9509760" y="4105656"/>
            <a:ext cx="64008" cy="107899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820656" y="4233672"/>
            <a:ext cx="7260335" cy="841248"/>
          </a:xfrm>
          <a:prstGeom prst="rect">
            <a:avLst/>
          </a:prstGeom>
          <a:noFill/>
        </p:spPr>
        <p:txBody>
          <a:bodyPr wrap="square" lIns="18288" rIns="18288" tIns="0" bIns="0" anchor="t">
            <a:spAutoFit/>
          </a:bodyPr>
          <a:lstStyle/>
          <a:p>
            <a:pPr algn="l">
              <a:lnSpc>
                <a:spcPct val="103000"/>
              </a:lnSpc>
              <a:spcBef>
                <a:spcPts val="0"/>
              </a:spcBef>
              <a:spcAft>
                <a:spcPts val="0"/>
              </a:spcAft>
            </a:pPr>
            <a:r>
              <a:rPr sz="1900" b="1" i="0">
                <a:solidFill>
                  <a:srgbClr val="00566C"/>
                </a:solidFill>
                <a:latin typeface="Arial"/>
              </a:rPr>
              <a:t>dx ↔ dx_type     </a:t>
            </a:r>
            <a:r>
              <a:rPr sz="1900" b="1" i="0">
                <a:solidFill>
                  <a:srgbClr val="219BC3"/>
                </a:solidFill>
                <a:latin typeface="Arial"/>
              </a:rPr>
              <a:t>V = 0,390</a:t>
            </a:r>
          </a:p>
          <a:p>
            <a:pPr algn="l">
              <a:lnSpc>
                <a:spcPct val="103000"/>
              </a:lnSpc>
              <a:spcBef>
                <a:spcPts val="0"/>
              </a:spcBef>
              <a:spcAft>
                <a:spcPts val="0"/>
              </a:spcAft>
            </a:pPr>
            <a:r>
              <a:rPr sz="1600" b="0" i="0">
                <a:solidFill>
                  <a:srgbClr val="858591"/>
                </a:solidFill>
                <a:latin typeface="Arial"/>
              </a:rPr>
              <a:t>Las clases malignas se confirman por histopatología; las benignas, con frecuencia por seguimiento o consenso.</a:t>
            </a:r>
          </a:p>
        </p:txBody>
      </p:sp>
      <p:sp>
        <p:nvSpPr>
          <p:cNvPr id="12" name="Rectangle 11"/>
          <p:cNvSpPr/>
          <p:nvPr/>
        </p:nvSpPr>
        <p:spPr>
          <a:xfrm>
            <a:off x="9509760" y="5330952"/>
            <a:ext cx="7900415" cy="107899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9509760" y="5330952"/>
            <a:ext cx="64008" cy="107899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820656" y="5458968"/>
            <a:ext cx="7260335" cy="841248"/>
          </a:xfrm>
          <a:prstGeom prst="rect">
            <a:avLst/>
          </a:prstGeom>
          <a:noFill/>
        </p:spPr>
        <p:txBody>
          <a:bodyPr wrap="square" lIns="18288" rIns="18288" tIns="0" bIns="0" anchor="t">
            <a:spAutoFit/>
          </a:bodyPr>
          <a:lstStyle/>
          <a:p>
            <a:pPr algn="l">
              <a:lnSpc>
                <a:spcPct val="103000"/>
              </a:lnSpc>
              <a:spcBef>
                <a:spcPts val="0"/>
              </a:spcBef>
              <a:spcAft>
                <a:spcPts val="0"/>
              </a:spcAft>
            </a:pPr>
            <a:r>
              <a:rPr sz="1900" b="1" i="0">
                <a:solidFill>
                  <a:srgbClr val="00566C"/>
                </a:solidFill>
                <a:latin typeface="Arial"/>
              </a:rPr>
              <a:t>malignidad ↔ localización     </a:t>
            </a:r>
            <a:r>
              <a:rPr sz="1900" b="1" i="0">
                <a:solidFill>
                  <a:srgbClr val="219BC3"/>
                </a:solidFill>
                <a:latin typeface="Arial"/>
              </a:rPr>
              <a:t>V = 0,280</a:t>
            </a:r>
          </a:p>
          <a:p>
            <a:pPr algn="l">
              <a:lnSpc>
                <a:spcPct val="103000"/>
              </a:lnSpc>
              <a:spcBef>
                <a:spcPts val="0"/>
              </a:spcBef>
              <a:spcAft>
                <a:spcPts val="0"/>
              </a:spcAft>
            </a:pPr>
            <a:r>
              <a:rPr sz="1600" b="0" i="0">
                <a:solidFill>
                  <a:srgbClr val="858591"/>
                </a:solidFill>
                <a:latin typeface="Arial"/>
              </a:rPr>
              <a:t>Coherente con la etiología: las zonas fotoexpuestas concentran las lesiones por daño solar.</a:t>
            </a:r>
          </a:p>
        </p:txBody>
      </p:sp>
      <p:sp>
        <p:nvSpPr>
          <p:cNvPr id="15" name="Rectangle 14"/>
          <p:cNvSpPr/>
          <p:nvPr/>
        </p:nvSpPr>
        <p:spPr>
          <a:xfrm>
            <a:off x="9509760" y="6556248"/>
            <a:ext cx="7900415" cy="107899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9509760" y="6556248"/>
            <a:ext cx="64008" cy="107899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820656" y="6684264"/>
            <a:ext cx="7260335" cy="841248"/>
          </a:xfrm>
          <a:prstGeom prst="rect">
            <a:avLst/>
          </a:prstGeom>
          <a:noFill/>
        </p:spPr>
        <p:txBody>
          <a:bodyPr wrap="square" lIns="18288" rIns="18288" tIns="0" bIns="0" anchor="t">
            <a:spAutoFit/>
          </a:bodyPr>
          <a:lstStyle/>
          <a:p>
            <a:pPr algn="l">
              <a:lnSpc>
                <a:spcPct val="103000"/>
              </a:lnSpc>
              <a:spcBef>
                <a:spcPts val="0"/>
              </a:spcBef>
              <a:spcAft>
                <a:spcPts val="0"/>
              </a:spcAft>
            </a:pPr>
            <a:r>
              <a:rPr sz="1900" b="1" i="0">
                <a:solidFill>
                  <a:srgbClr val="00566C"/>
                </a:solidFill>
                <a:latin typeface="Arial"/>
              </a:rPr>
              <a:t>malignidad ↔ sexo     </a:t>
            </a:r>
            <a:r>
              <a:rPr sz="1900" b="1" i="0">
                <a:solidFill>
                  <a:srgbClr val="219BC3"/>
                </a:solidFill>
                <a:latin typeface="Arial"/>
              </a:rPr>
              <a:t>V = 0,080</a:t>
            </a:r>
          </a:p>
          <a:p>
            <a:pPr algn="l">
              <a:lnSpc>
                <a:spcPct val="103000"/>
              </a:lnSpc>
              <a:spcBef>
                <a:spcPts val="0"/>
              </a:spcBef>
              <a:spcAft>
                <a:spcPts val="0"/>
              </a:spcAft>
            </a:pPr>
            <a:r>
              <a:rPr sz="1600" b="0" i="0">
                <a:solidFill>
                  <a:srgbClr val="858591"/>
                </a:solidFill>
                <a:latin typeface="Arial"/>
              </a:rPr>
              <a:t>Asociación despreciable: el sexo no aporta capacidad discriminativa relevante.</a:t>
            </a:r>
          </a:p>
        </p:txBody>
      </p:sp>
      <p:sp>
        <p:nvSpPr>
          <p:cNvPr id="18" name="Rectangle 17"/>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1.956 lesiones tienen más de una imagen: sin partición agrupada por lesion_id, las métricas de validación se inflan artificialmente (Combalia et al., 2019).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16</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COMPRENSIÓN DE LOS DATOS</a:t>
            </a:r>
          </a:p>
          <a:p>
            <a:pPr algn="l">
              <a:lnSpc>
                <a:spcPct val="92000"/>
              </a:lnSpc>
              <a:spcBef>
                <a:spcPts val="0"/>
              </a:spcBef>
              <a:spcAft>
                <a:spcPts val="0"/>
              </a:spcAft>
            </a:pPr>
            <a:r>
              <a:rPr sz="4000" b="1" i="0">
                <a:solidFill>
                  <a:srgbClr val="00566C"/>
                </a:solidFill>
                <a:latin typeface="Arial"/>
              </a:rPr>
              <a:t>Del análisis exploratorio a cuatro decisiones de modelado</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Cada hallazgo del EDA se traduce en una decisión concreta que se aplica en las fases siguientes</a:t>
            </a:r>
          </a:p>
        </p:txBody>
      </p:sp>
      <p:sp>
        <p:nvSpPr>
          <p:cNvPr id="5" name="Rectangle 4"/>
          <p:cNvSpPr/>
          <p:nvPr/>
        </p:nvSpPr>
        <p:spPr>
          <a:xfrm>
            <a:off x="877824" y="2514600"/>
            <a:ext cx="3858768" cy="1170432"/>
          </a:xfrm>
          <a:prstGeom prst="rect">
            <a:avLst/>
          </a:prstGeom>
          <a:solidFill>
            <a:srgbClr val="EEEE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33856" y="2514600"/>
            <a:ext cx="3346703" cy="1170432"/>
          </a:xfrm>
          <a:prstGeom prst="rect">
            <a:avLst/>
          </a:prstGeom>
          <a:noFill/>
        </p:spPr>
        <p:txBody>
          <a:bodyPr wrap="square" lIns="18288" rIns="18288" tIns="0" bIns="0" anchor="ctr">
            <a:spAutoFit/>
          </a:bodyPr>
          <a:lstStyle/>
          <a:p>
            <a:pPr algn="l">
              <a:lnSpc>
                <a:spcPct val="100000"/>
              </a:lnSpc>
              <a:spcBef>
                <a:spcPts val="0"/>
              </a:spcBef>
              <a:spcAft>
                <a:spcPts val="500"/>
              </a:spcAft>
            </a:pPr>
            <a:r>
              <a:rPr sz="1300" b="1" i="0">
                <a:solidFill>
                  <a:srgbClr val="858591"/>
                </a:solidFill>
                <a:latin typeface="Arial"/>
              </a:rPr>
              <a:t>HALLAZGO</a:t>
            </a:r>
          </a:p>
          <a:p>
            <a:pPr algn="l">
              <a:lnSpc>
                <a:spcPct val="100000"/>
              </a:lnSpc>
              <a:spcBef>
                <a:spcPts val="0"/>
              </a:spcBef>
              <a:spcAft>
                <a:spcPts val="0"/>
              </a:spcAft>
            </a:pPr>
            <a:r>
              <a:rPr sz="1800" b="1" i="0">
                <a:solidFill>
                  <a:srgbClr val="0C0B0B"/>
                </a:solidFill>
                <a:latin typeface="Arial"/>
              </a:rPr>
              <a:t>Desbalance 4,1:1
y 66,9 % de nv</a:t>
            </a:r>
          </a:p>
        </p:txBody>
      </p:sp>
      <p:sp>
        <p:nvSpPr>
          <p:cNvPr id="7" name="TextBox 6"/>
          <p:cNvSpPr txBox="1"/>
          <p:nvPr/>
        </p:nvSpPr>
        <p:spPr>
          <a:xfrm>
            <a:off x="877824" y="3730752"/>
            <a:ext cx="3858768" cy="384048"/>
          </a:xfrm>
          <a:prstGeom prst="rect">
            <a:avLst/>
          </a:prstGeom>
          <a:noFill/>
        </p:spPr>
        <p:txBody>
          <a:bodyPr wrap="square" lIns="18288" rIns="18288" tIns="0" bIns="0" anchor="t">
            <a:spAutoFit/>
          </a:bodyPr>
          <a:lstStyle/>
          <a:p>
            <a:pPr algn="ctr">
              <a:spcBef>
                <a:spcPts val="0"/>
              </a:spcBef>
              <a:spcAft>
                <a:spcPts val="0"/>
              </a:spcAft>
            </a:pPr>
            <a:r>
              <a:rPr sz="1800" b="0" i="0">
                <a:solidFill>
                  <a:srgbClr val="219BC3"/>
                </a:solidFill>
                <a:latin typeface="Arial"/>
              </a:rPr>
              <a:t>▼</a:t>
            </a:r>
          </a:p>
        </p:txBody>
      </p:sp>
      <p:sp>
        <p:nvSpPr>
          <p:cNvPr id="8" name="Rectangle 7"/>
          <p:cNvSpPr/>
          <p:nvPr/>
        </p:nvSpPr>
        <p:spPr>
          <a:xfrm>
            <a:off x="877824" y="4169663"/>
            <a:ext cx="3858768" cy="361188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77824" y="4169663"/>
            <a:ext cx="3858768"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133856" y="4443984"/>
            <a:ext cx="3346703" cy="3108960"/>
          </a:xfrm>
          <a:prstGeom prst="rect">
            <a:avLst/>
          </a:prstGeom>
          <a:noFill/>
        </p:spPr>
        <p:txBody>
          <a:bodyPr wrap="square" lIns="18288" rIns="18288" tIns="0" bIns="0" anchor="t">
            <a:spAutoFit/>
          </a:bodyPr>
          <a:lstStyle/>
          <a:p>
            <a:pPr algn="l">
              <a:lnSpc>
                <a:spcPct val="105000"/>
              </a:lnSpc>
              <a:spcBef>
                <a:spcPts val="0"/>
              </a:spcBef>
              <a:spcAft>
                <a:spcPts val="700"/>
              </a:spcAft>
            </a:pPr>
            <a:r>
              <a:rPr sz="1300" b="1" i="0">
                <a:solidFill>
                  <a:srgbClr val="219BC3"/>
                </a:solidFill>
                <a:latin typeface="Arial"/>
              </a:rPr>
              <a:t>DECISIÓN 01</a:t>
            </a:r>
          </a:p>
          <a:p>
            <a:pPr algn="l">
              <a:lnSpc>
                <a:spcPct val="105000"/>
              </a:lnSpc>
              <a:spcBef>
                <a:spcPts val="0"/>
              </a:spcBef>
              <a:spcAft>
                <a:spcPts val="1000"/>
              </a:spcAft>
            </a:pPr>
            <a:r>
              <a:rPr sz="2100" b="1" i="0">
                <a:solidFill>
                  <a:srgbClr val="00566C"/>
                </a:solidFill>
                <a:latin typeface="Arial"/>
              </a:rPr>
              <a:t>Partición agrupada
por lesion_id</a:t>
            </a:r>
          </a:p>
          <a:p>
            <a:pPr algn="l">
              <a:lnSpc>
                <a:spcPct val="105000"/>
              </a:lnSpc>
              <a:spcBef>
                <a:spcPts val="0"/>
              </a:spcBef>
              <a:spcAft>
                <a:spcPts val="0"/>
              </a:spcAft>
            </a:pPr>
            <a:r>
              <a:rPr sz="1600" b="0" i="0">
                <a:solidFill>
                  <a:srgbClr val="858591"/>
                </a:solidFill>
                <a:latin typeface="Arial"/>
              </a:rPr>
              <a:t>Ninguna lesión aparece en más de un subconjunto. Se aplica con GroupShuffleSplit y StratifiedGroupKFold.</a:t>
            </a:r>
          </a:p>
        </p:txBody>
      </p:sp>
      <p:sp>
        <p:nvSpPr>
          <p:cNvPr id="11" name="Rectangle 10"/>
          <p:cNvSpPr/>
          <p:nvPr/>
        </p:nvSpPr>
        <p:spPr>
          <a:xfrm>
            <a:off x="5102352" y="2514600"/>
            <a:ext cx="3858768" cy="1170432"/>
          </a:xfrm>
          <a:prstGeom prst="rect">
            <a:avLst/>
          </a:prstGeom>
          <a:solidFill>
            <a:srgbClr val="EEEE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358384" y="2514600"/>
            <a:ext cx="3346703" cy="1170432"/>
          </a:xfrm>
          <a:prstGeom prst="rect">
            <a:avLst/>
          </a:prstGeom>
          <a:noFill/>
        </p:spPr>
        <p:txBody>
          <a:bodyPr wrap="square" lIns="18288" rIns="18288" tIns="0" bIns="0" anchor="ctr">
            <a:spAutoFit/>
          </a:bodyPr>
          <a:lstStyle/>
          <a:p>
            <a:pPr algn="l">
              <a:lnSpc>
                <a:spcPct val="100000"/>
              </a:lnSpc>
              <a:spcBef>
                <a:spcPts val="0"/>
              </a:spcBef>
              <a:spcAft>
                <a:spcPts val="500"/>
              </a:spcAft>
            </a:pPr>
            <a:r>
              <a:rPr sz="1300" b="1" i="0">
                <a:solidFill>
                  <a:srgbClr val="858591"/>
                </a:solidFill>
                <a:latin typeface="Arial"/>
              </a:rPr>
              <a:t>HALLAZGO</a:t>
            </a:r>
          </a:p>
          <a:p>
            <a:pPr algn="l">
              <a:lnSpc>
                <a:spcPct val="100000"/>
              </a:lnSpc>
              <a:spcBef>
                <a:spcPts val="0"/>
              </a:spcBef>
              <a:spcAft>
                <a:spcPts val="0"/>
              </a:spcAft>
            </a:pPr>
            <a:r>
              <a:rPr sz="1800" b="1" i="0">
                <a:solidFill>
                  <a:srgbClr val="0C0B0B"/>
                </a:solidFill>
                <a:latin typeface="Arial"/>
              </a:rPr>
              <a:t>1.956 lesiones con
múltiples imágenes</a:t>
            </a:r>
          </a:p>
        </p:txBody>
      </p:sp>
      <p:sp>
        <p:nvSpPr>
          <p:cNvPr id="13" name="TextBox 12"/>
          <p:cNvSpPr txBox="1"/>
          <p:nvPr/>
        </p:nvSpPr>
        <p:spPr>
          <a:xfrm>
            <a:off x="5102352" y="3730752"/>
            <a:ext cx="3858768" cy="384048"/>
          </a:xfrm>
          <a:prstGeom prst="rect">
            <a:avLst/>
          </a:prstGeom>
          <a:noFill/>
        </p:spPr>
        <p:txBody>
          <a:bodyPr wrap="square" lIns="18288" rIns="18288" tIns="0" bIns="0" anchor="t">
            <a:spAutoFit/>
          </a:bodyPr>
          <a:lstStyle/>
          <a:p>
            <a:pPr algn="ctr">
              <a:spcBef>
                <a:spcPts val="0"/>
              </a:spcBef>
              <a:spcAft>
                <a:spcPts val="0"/>
              </a:spcAft>
            </a:pPr>
            <a:r>
              <a:rPr sz="1800" b="0" i="0">
                <a:solidFill>
                  <a:srgbClr val="219BC3"/>
                </a:solidFill>
                <a:latin typeface="Arial"/>
              </a:rPr>
              <a:t>▼</a:t>
            </a:r>
          </a:p>
        </p:txBody>
      </p:sp>
      <p:sp>
        <p:nvSpPr>
          <p:cNvPr id="14" name="Rectangle 13"/>
          <p:cNvSpPr/>
          <p:nvPr/>
        </p:nvSpPr>
        <p:spPr>
          <a:xfrm>
            <a:off x="5102352" y="4169663"/>
            <a:ext cx="3858768" cy="361188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102352" y="4169663"/>
            <a:ext cx="3858768"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58384" y="4443984"/>
            <a:ext cx="3346703" cy="3108960"/>
          </a:xfrm>
          <a:prstGeom prst="rect">
            <a:avLst/>
          </a:prstGeom>
          <a:noFill/>
        </p:spPr>
        <p:txBody>
          <a:bodyPr wrap="square" lIns="18288" rIns="18288" tIns="0" bIns="0" anchor="t">
            <a:spAutoFit/>
          </a:bodyPr>
          <a:lstStyle/>
          <a:p>
            <a:pPr algn="l">
              <a:lnSpc>
                <a:spcPct val="105000"/>
              </a:lnSpc>
              <a:spcBef>
                <a:spcPts val="0"/>
              </a:spcBef>
              <a:spcAft>
                <a:spcPts val="700"/>
              </a:spcAft>
            </a:pPr>
            <a:r>
              <a:rPr sz="1300" b="1" i="0">
                <a:solidFill>
                  <a:srgbClr val="219BC3"/>
                </a:solidFill>
                <a:latin typeface="Arial"/>
              </a:rPr>
              <a:t>DECISIÓN 02</a:t>
            </a:r>
          </a:p>
          <a:p>
            <a:pPr algn="l">
              <a:lnSpc>
                <a:spcPct val="105000"/>
              </a:lnSpc>
              <a:spcBef>
                <a:spcPts val="0"/>
              </a:spcBef>
              <a:spcAft>
                <a:spcPts val="1000"/>
              </a:spcAft>
            </a:pPr>
            <a:r>
              <a:rPr sz="2100" b="1" i="0">
                <a:solidFill>
                  <a:srgbClr val="00566C"/>
                </a:solidFill>
                <a:latin typeface="Arial"/>
              </a:rPr>
              <a:t>Corrección explícita
del desbalance</a:t>
            </a:r>
          </a:p>
          <a:p>
            <a:pPr algn="l">
              <a:lnSpc>
                <a:spcPct val="105000"/>
              </a:lnSpc>
              <a:spcBef>
                <a:spcPts val="0"/>
              </a:spcBef>
              <a:spcAft>
                <a:spcPts val="0"/>
              </a:spcAft>
            </a:pPr>
            <a:r>
              <a:rPr sz="1600" b="0" i="0">
                <a:solidFill>
                  <a:srgbClr val="858591"/>
                </a:solidFill>
                <a:latin typeface="Arial"/>
              </a:rPr>
              <a:t>SMOTE sobre el train en el Escenario 1; submuestreo estratificado previo en el Escenario 2; pesos de clase en la función de pérdida.</a:t>
            </a:r>
          </a:p>
        </p:txBody>
      </p:sp>
      <p:sp>
        <p:nvSpPr>
          <p:cNvPr id="17" name="Rectangle 16"/>
          <p:cNvSpPr/>
          <p:nvPr/>
        </p:nvSpPr>
        <p:spPr>
          <a:xfrm>
            <a:off x="9326880" y="2514600"/>
            <a:ext cx="3858768" cy="1170432"/>
          </a:xfrm>
          <a:prstGeom prst="rect">
            <a:avLst/>
          </a:prstGeom>
          <a:solidFill>
            <a:srgbClr val="EEEE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582911" y="2514600"/>
            <a:ext cx="3346703" cy="1170432"/>
          </a:xfrm>
          <a:prstGeom prst="rect">
            <a:avLst/>
          </a:prstGeom>
          <a:noFill/>
        </p:spPr>
        <p:txBody>
          <a:bodyPr wrap="square" lIns="18288" rIns="18288" tIns="0" bIns="0" anchor="ctr">
            <a:spAutoFit/>
          </a:bodyPr>
          <a:lstStyle/>
          <a:p>
            <a:pPr algn="l">
              <a:lnSpc>
                <a:spcPct val="100000"/>
              </a:lnSpc>
              <a:spcBef>
                <a:spcPts val="0"/>
              </a:spcBef>
              <a:spcAft>
                <a:spcPts val="500"/>
              </a:spcAft>
            </a:pPr>
            <a:r>
              <a:rPr sz="1300" b="1" i="0">
                <a:solidFill>
                  <a:srgbClr val="858591"/>
                </a:solidFill>
                <a:latin typeface="Arial"/>
              </a:rPr>
              <a:t>HALLAZGO</a:t>
            </a:r>
          </a:p>
          <a:p>
            <a:pPr algn="l">
              <a:lnSpc>
                <a:spcPct val="100000"/>
              </a:lnSpc>
              <a:spcBef>
                <a:spcPts val="0"/>
              </a:spcBef>
              <a:spcAft>
                <a:spcPts val="0"/>
              </a:spcAft>
            </a:pPr>
            <a:r>
              <a:rPr sz="1800" b="1" i="0">
                <a:solidFill>
                  <a:srgbClr val="0C0B0B"/>
                </a:solidFill>
                <a:latin typeface="Arial"/>
              </a:rPr>
              <a:t>Etiquetas de calidad
heterogénea (dx_type)</a:t>
            </a:r>
          </a:p>
        </p:txBody>
      </p:sp>
      <p:sp>
        <p:nvSpPr>
          <p:cNvPr id="19" name="TextBox 18"/>
          <p:cNvSpPr txBox="1"/>
          <p:nvPr/>
        </p:nvSpPr>
        <p:spPr>
          <a:xfrm>
            <a:off x="9326880" y="3730752"/>
            <a:ext cx="3858768" cy="384048"/>
          </a:xfrm>
          <a:prstGeom prst="rect">
            <a:avLst/>
          </a:prstGeom>
          <a:noFill/>
        </p:spPr>
        <p:txBody>
          <a:bodyPr wrap="square" lIns="18288" rIns="18288" tIns="0" bIns="0" anchor="t">
            <a:spAutoFit/>
          </a:bodyPr>
          <a:lstStyle/>
          <a:p>
            <a:pPr algn="ctr">
              <a:spcBef>
                <a:spcPts val="0"/>
              </a:spcBef>
              <a:spcAft>
                <a:spcPts val="0"/>
              </a:spcAft>
            </a:pPr>
            <a:r>
              <a:rPr sz="1800" b="0" i="0">
                <a:solidFill>
                  <a:srgbClr val="219BC3"/>
                </a:solidFill>
                <a:latin typeface="Arial"/>
              </a:rPr>
              <a:t>▼</a:t>
            </a:r>
          </a:p>
        </p:txBody>
      </p:sp>
      <p:sp>
        <p:nvSpPr>
          <p:cNvPr id="20" name="Rectangle 19"/>
          <p:cNvSpPr/>
          <p:nvPr/>
        </p:nvSpPr>
        <p:spPr>
          <a:xfrm>
            <a:off x="9326880" y="4169663"/>
            <a:ext cx="3858768" cy="361188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9326880" y="4169663"/>
            <a:ext cx="3858768"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582911" y="4443984"/>
            <a:ext cx="3346703" cy="3108960"/>
          </a:xfrm>
          <a:prstGeom prst="rect">
            <a:avLst/>
          </a:prstGeom>
          <a:noFill/>
        </p:spPr>
        <p:txBody>
          <a:bodyPr wrap="square" lIns="18288" rIns="18288" tIns="0" bIns="0" anchor="t">
            <a:spAutoFit/>
          </a:bodyPr>
          <a:lstStyle/>
          <a:p>
            <a:pPr algn="l">
              <a:lnSpc>
                <a:spcPct val="105000"/>
              </a:lnSpc>
              <a:spcBef>
                <a:spcPts val="0"/>
              </a:spcBef>
              <a:spcAft>
                <a:spcPts val="700"/>
              </a:spcAft>
            </a:pPr>
            <a:r>
              <a:rPr sz="1300" b="1" i="0">
                <a:solidFill>
                  <a:srgbClr val="219BC3"/>
                </a:solidFill>
                <a:latin typeface="Arial"/>
              </a:rPr>
              <a:t>DECISIÓN 03</a:t>
            </a:r>
          </a:p>
          <a:p>
            <a:pPr algn="l">
              <a:lnSpc>
                <a:spcPct val="105000"/>
              </a:lnSpc>
              <a:spcBef>
                <a:spcPts val="0"/>
              </a:spcBef>
              <a:spcAft>
                <a:spcPts val="1000"/>
              </a:spcAft>
            </a:pPr>
            <a:r>
              <a:rPr sz="2100" b="1" i="0">
                <a:solidFill>
                  <a:srgbClr val="00566C"/>
                </a:solidFill>
                <a:latin typeface="Arial"/>
              </a:rPr>
              <a:t>Métricas con criterio
clínico, no estadístico</a:t>
            </a:r>
          </a:p>
          <a:p>
            <a:pPr algn="l">
              <a:lnSpc>
                <a:spcPct val="105000"/>
              </a:lnSpc>
              <a:spcBef>
                <a:spcPts val="0"/>
              </a:spcBef>
              <a:spcAft>
                <a:spcPts val="0"/>
              </a:spcAft>
            </a:pPr>
            <a:r>
              <a:rPr sz="1600" b="0" i="0">
                <a:solidFill>
                  <a:srgbClr val="858591"/>
                </a:solidFill>
                <a:latin typeface="Arial"/>
              </a:rPr>
              <a:t>Recall por clase —en especial mel, bcc y akiec—, F1-Score macro y AUC-ROC. El accuracy queda como referencia secundaria.</a:t>
            </a:r>
          </a:p>
        </p:txBody>
      </p:sp>
      <p:sp>
        <p:nvSpPr>
          <p:cNvPr id="23" name="Rectangle 22"/>
          <p:cNvSpPr/>
          <p:nvPr/>
        </p:nvSpPr>
        <p:spPr>
          <a:xfrm>
            <a:off x="13551408" y="2514600"/>
            <a:ext cx="3858768" cy="1170432"/>
          </a:xfrm>
          <a:prstGeom prst="rect">
            <a:avLst/>
          </a:prstGeom>
          <a:solidFill>
            <a:srgbClr val="EEEE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3807440" y="2514600"/>
            <a:ext cx="3346703" cy="1170432"/>
          </a:xfrm>
          <a:prstGeom prst="rect">
            <a:avLst/>
          </a:prstGeom>
          <a:noFill/>
        </p:spPr>
        <p:txBody>
          <a:bodyPr wrap="square" lIns="18288" rIns="18288" tIns="0" bIns="0" anchor="ctr">
            <a:spAutoFit/>
          </a:bodyPr>
          <a:lstStyle/>
          <a:p>
            <a:pPr algn="l">
              <a:lnSpc>
                <a:spcPct val="100000"/>
              </a:lnSpc>
              <a:spcBef>
                <a:spcPts val="0"/>
              </a:spcBef>
              <a:spcAft>
                <a:spcPts val="500"/>
              </a:spcAft>
            </a:pPr>
            <a:r>
              <a:rPr sz="1300" b="1" i="0">
                <a:solidFill>
                  <a:srgbClr val="858591"/>
                </a:solidFill>
                <a:latin typeface="Arial"/>
              </a:rPr>
              <a:t>HALLAZGO</a:t>
            </a:r>
          </a:p>
          <a:p>
            <a:pPr algn="l">
              <a:lnSpc>
                <a:spcPct val="100000"/>
              </a:lnSpc>
              <a:spcBef>
                <a:spcPts val="0"/>
              </a:spcBef>
              <a:spcAft>
                <a:spcPts val="0"/>
              </a:spcAft>
            </a:pPr>
            <a:r>
              <a:rPr sz="1800" b="1" i="0">
                <a:solidFill>
                  <a:srgbClr val="0C0B0B"/>
                </a:solidFill>
                <a:latin typeface="Arial"/>
              </a:rPr>
              <a:t>Edad correlacionada
con la malignidad</a:t>
            </a:r>
          </a:p>
        </p:txBody>
      </p:sp>
      <p:sp>
        <p:nvSpPr>
          <p:cNvPr id="25" name="TextBox 24"/>
          <p:cNvSpPr txBox="1"/>
          <p:nvPr/>
        </p:nvSpPr>
        <p:spPr>
          <a:xfrm>
            <a:off x="13551408" y="3730752"/>
            <a:ext cx="3858768" cy="384048"/>
          </a:xfrm>
          <a:prstGeom prst="rect">
            <a:avLst/>
          </a:prstGeom>
          <a:noFill/>
        </p:spPr>
        <p:txBody>
          <a:bodyPr wrap="square" lIns="18288" rIns="18288" tIns="0" bIns="0" anchor="t">
            <a:spAutoFit/>
          </a:bodyPr>
          <a:lstStyle/>
          <a:p>
            <a:pPr algn="ctr">
              <a:spcBef>
                <a:spcPts val="0"/>
              </a:spcBef>
              <a:spcAft>
                <a:spcPts val="0"/>
              </a:spcAft>
            </a:pPr>
            <a:r>
              <a:rPr sz="1800" b="0" i="0">
                <a:solidFill>
                  <a:srgbClr val="219BC3"/>
                </a:solidFill>
                <a:latin typeface="Arial"/>
              </a:rPr>
              <a:t>▼</a:t>
            </a:r>
          </a:p>
        </p:txBody>
      </p:sp>
      <p:sp>
        <p:nvSpPr>
          <p:cNvPr id="26" name="Rectangle 25"/>
          <p:cNvSpPr/>
          <p:nvPr/>
        </p:nvSpPr>
        <p:spPr>
          <a:xfrm>
            <a:off x="13551408" y="4169663"/>
            <a:ext cx="3858768" cy="3611880"/>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3551408" y="4169663"/>
            <a:ext cx="3858768"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3807440" y="4443984"/>
            <a:ext cx="3346703" cy="3108960"/>
          </a:xfrm>
          <a:prstGeom prst="rect">
            <a:avLst/>
          </a:prstGeom>
          <a:noFill/>
        </p:spPr>
        <p:txBody>
          <a:bodyPr wrap="square" lIns="18288" rIns="18288" tIns="0" bIns="0" anchor="t">
            <a:spAutoFit/>
          </a:bodyPr>
          <a:lstStyle/>
          <a:p>
            <a:pPr algn="l">
              <a:lnSpc>
                <a:spcPct val="105000"/>
              </a:lnSpc>
              <a:spcBef>
                <a:spcPts val="0"/>
              </a:spcBef>
              <a:spcAft>
                <a:spcPts val="700"/>
              </a:spcAft>
            </a:pPr>
            <a:r>
              <a:rPr sz="1300" b="1" i="0">
                <a:solidFill>
                  <a:srgbClr val="219BC3"/>
                </a:solidFill>
                <a:latin typeface="Arial"/>
              </a:rPr>
              <a:t>DECISIÓN 04</a:t>
            </a:r>
          </a:p>
          <a:p>
            <a:pPr algn="l">
              <a:lnSpc>
                <a:spcPct val="105000"/>
              </a:lnSpc>
              <a:spcBef>
                <a:spcPts val="0"/>
              </a:spcBef>
              <a:spcAft>
                <a:spcPts val="1000"/>
              </a:spcAft>
            </a:pPr>
            <a:r>
              <a:rPr sz="2100" b="1" i="0">
                <a:solidFill>
                  <a:srgbClr val="00566C"/>
                </a:solidFill>
                <a:latin typeface="Arial"/>
              </a:rPr>
              <a:t>Documentar las
limitaciones del dataset</a:t>
            </a:r>
          </a:p>
          <a:p>
            <a:pPr algn="l">
              <a:lnSpc>
                <a:spcPct val="105000"/>
              </a:lnSpc>
              <a:spcBef>
                <a:spcPts val="0"/>
              </a:spcBef>
              <a:spcAft>
                <a:spcPts val="0"/>
              </a:spcAft>
            </a:pPr>
            <a:r>
              <a:rPr sz="1600" b="0" i="0">
                <a:solidFill>
                  <a:srgbClr val="858591"/>
                </a:solidFill>
                <a:latin typeface="Arial"/>
              </a:rPr>
              <a:t>Sesgo hacia fototipos claros, infrarrepresentación del melanoma acral y heterogeneidad de etiquetas se declaran como limitación.</a:t>
            </a:r>
          </a:p>
        </p:txBody>
      </p:sp>
      <p:sp>
        <p:nvSpPr>
          <p:cNvPr id="29" name="Rectangle 28"/>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Estas cuatro decisiones son la bisagra entre el análisis y el modelado: explican por qué construimos dos escenarios de datos en lugar de uno.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9015984"/>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015984"/>
            <a:ext cx="18288000" cy="12725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2103120" y="2788920"/>
            <a:ext cx="82296"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2615184" y="2697480"/>
            <a:ext cx="12344400" cy="1417320"/>
          </a:xfrm>
          <a:prstGeom prst="rect">
            <a:avLst/>
          </a:prstGeom>
          <a:noFill/>
        </p:spPr>
        <p:txBody>
          <a:bodyPr wrap="square" lIns="18288" rIns="18288" tIns="0" bIns="0" anchor="t">
            <a:spAutoFit/>
          </a:bodyPr>
          <a:lstStyle/>
          <a:p>
            <a:pPr algn="l">
              <a:spcBef>
                <a:spcPts val="0"/>
              </a:spcBef>
              <a:spcAft>
                <a:spcPts val="0"/>
              </a:spcAft>
            </a:pPr>
            <a:r>
              <a:rPr sz="9600" b="1" i="0">
                <a:solidFill>
                  <a:srgbClr val="FFFFFF"/>
                </a:solidFill>
                <a:latin typeface="Arial"/>
              </a:rPr>
              <a:t>04</a:t>
            </a:r>
          </a:p>
        </p:txBody>
      </p:sp>
      <p:sp>
        <p:nvSpPr>
          <p:cNvPr id="6" name="TextBox 5"/>
          <p:cNvSpPr txBox="1"/>
          <p:nvPr/>
        </p:nvSpPr>
        <p:spPr>
          <a:xfrm>
            <a:off x="2651760" y="4160520"/>
            <a:ext cx="13716000" cy="1234440"/>
          </a:xfrm>
          <a:prstGeom prst="rect">
            <a:avLst/>
          </a:prstGeom>
          <a:noFill/>
        </p:spPr>
        <p:txBody>
          <a:bodyPr wrap="square" lIns="18288" rIns="18288" tIns="0" bIns="0" anchor="t">
            <a:spAutoFit/>
          </a:bodyPr>
          <a:lstStyle/>
          <a:p>
            <a:pPr algn="l">
              <a:lnSpc>
                <a:spcPct val="95000"/>
              </a:lnSpc>
              <a:spcBef>
                <a:spcPts val="0"/>
              </a:spcBef>
              <a:spcAft>
                <a:spcPts val="0"/>
              </a:spcAft>
            </a:pPr>
            <a:r>
              <a:rPr sz="5400" b="1" i="0">
                <a:solidFill>
                  <a:srgbClr val="FFFFFF"/>
                </a:solidFill>
                <a:latin typeface="Arial"/>
              </a:rPr>
              <a:t>Preparación de los datos</a:t>
            </a:r>
          </a:p>
        </p:txBody>
      </p:sp>
      <p:sp>
        <p:nvSpPr>
          <p:cNvPr id="7" name="TextBox 6"/>
          <p:cNvSpPr txBox="1"/>
          <p:nvPr/>
        </p:nvSpPr>
        <p:spPr>
          <a:xfrm>
            <a:off x="2651760" y="5440680"/>
            <a:ext cx="13258800" cy="822960"/>
          </a:xfrm>
          <a:prstGeom prst="rect">
            <a:avLst/>
          </a:prstGeom>
          <a:noFill/>
        </p:spPr>
        <p:txBody>
          <a:bodyPr wrap="square" lIns="18288" rIns="18288" tIns="0" bIns="0" anchor="t">
            <a:spAutoFit/>
          </a:bodyPr>
          <a:lstStyle/>
          <a:p>
            <a:pPr algn="l">
              <a:spcBef>
                <a:spcPts val="0"/>
              </a:spcBef>
              <a:spcAft>
                <a:spcPts val="0"/>
              </a:spcAft>
            </a:pPr>
            <a:r>
              <a:rPr sz="2400" b="0" i="0">
                <a:solidFill>
                  <a:srgbClr val="FFFFFF"/>
                </a:solidFill>
                <a:latin typeface="Arial"/>
              </a:rPr>
              <a:t>Limpieza, partición agrupada por lesión y construcción de los dos escenarios</a:t>
            </a:r>
          </a:p>
        </p:txBody>
      </p:sp>
      <p:sp>
        <p:nvSpPr>
          <p:cNvPr id="8" name="TextBox 7"/>
          <p:cNvSpPr txBox="1"/>
          <p:nvPr/>
        </p:nvSpPr>
        <p:spPr>
          <a:xfrm>
            <a:off x="2651760" y="6446520"/>
            <a:ext cx="13258800" cy="457200"/>
          </a:xfrm>
          <a:prstGeom prst="rect">
            <a:avLst/>
          </a:prstGeom>
          <a:noFill/>
        </p:spPr>
        <p:txBody>
          <a:bodyPr wrap="square" lIns="18288" rIns="18288" tIns="0" bIns="0" anchor="t">
            <a:spAutoFit/>
          </a:bodyPr>
          <a:lstStyle/>
          <a:p>
            <a:pPr algn="l">
              <a:spcBef>
                <a:spcPts val="0"/>
              </a:spcBef>
              <a:spcAft>
                <a:spcPts val="0"/>
              </a:spcAft>
            </a:pPr>
            <a:r>
              <a:rPr sz="1900" b="1" i="0">
                <a:solidFill>
                  <a:srgbClr val="FFFFFF"/>
                </a:solidFill>
                <a:latin typeface="Arial"/>
              </a:rPr>
              <a:t>3 minutos</a:t>
            </a:r>
            <a:r>
              <a:rPr sz="1900" b="0" i="0">
                <a:solidFill>
                  <a:srgbClr val="FFFFFF"/>
                </a:solidFill>
                <a:latin typeface="Arial"/>
              </a:rPr>
              <a:t>     ·     </a:t>
            </a:r>
            <a:r>
              <a:rPr sz="1900" b="0" i="0">
                <a:solidFill>
                  <a:srgbClr val="FFFFFF"/>
                </a:solidFill>
                <a:latin typeface="Arial"/>
              </a:rPr>
              <a:t>Expone: Alvaro</a:t>
            </a:r>
          </a:p>
        </p:txBody>
      </p:sp>
      <p:sp>
        <p:nvSpPr>
          <p:cNvPr id="9" name="TextBox 8"/>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18</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PREPARACIÓN DE LOS DATOS</a:t>
            </a:r>
          </a:p>
          <a:p>
            <a:pPr algn="l">
              <a:lnSpc>
                <a:spcPct val="92000"/>
              </a:lnSpc>
              <a:spcBef>
                <a:spcPts val="0"/>
              </a:spcBef>
              <a:spcAft>
                <a:spcPts val="0"/>
              </a:spcAft>
            </a:pPr>
            <a:r>
              <a:rPr sz="4000" b="1" i="0">
                <a:solidFill>
                  <a:srgbClr val="00566C"/>
                </a:solidFill>
                <a:latin typeface="Arial"/>
              </a:rPr>
              <a:t>Pipeline de limpieza y partición</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Cuatro pasos comunes a los dos escenarios, aplicados antes de cualquier modelado</a:t>
            </a:r>
          </a:p>
        </p:txBody>
      </p:sp>
      <p:sp>
        <p:nvSpPr>
          <p:cNvPr id="5" name="Rectangle 4"/>
          <p:cNvSpPr/>
          <p:nvPr/>
        </p:nvSpPr>
        <p:spPr>
          <a:xfrm>
            <a:off x="877824" y="2542032"/>
            <a:ext cx="3858768" cy="3127248"/>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877824" y="2542032"/>
            <a:ext cx="3858768"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33856" y="2743200"/>
            <a:ext cx="3346703" cy="2852928"/>
          </a:xfrm>
          <a:prstGeom prst="rect">
            <a:avLst/>
          </a:prstGeom>
          <a:noFill/>
        </p:spPr>
        <p:txBody>
          <a:bodyPr wrap="square" lIns="18288" rIns="18288" tIns="0" bIns="0" anchor="t">
            <a:spAutoFit/>
          </a:bodyPr>
          <a:lstStyle/>
          <a:p>
            <a:pPr algn="l">
              <a:lnSpc>
                <a:spcPct val="104000"/>
              </a:lnSpc>
              <a:spcBef>
                <a:spcPts val="0"/>
              </a:spcBef>
              <a:spcAft>
                <a:spcPts val="800"/>
              </a:spcAft>
            </a:pPr>
            <a:r>
              <a:rPr sz="3000" b="1" i="0">
                <a:solidFill>
                  <a:srgbClr val="219BC3"/>
                </a:solidFill>
                <a:latin typeface="Arial"/>
              </a:rPr>
              <a:t>01</a:t>
            </a:r>
          </a:p>
          <a:p>
            <a:pPr algn="l">
              <a:lnSpc>
                <a:spcPct val="104000"/>
              </a:lnSpc>
              <a:spcBef>
                <a:spcPts val="0"/>
              </a:spcBef>
              <a:spcAft>
                <a:spcPts val="1200"/>
              </a:spcAft>
            </a:pPr>
            <a:r>
              <a:rPr sz="2000" b="1" i="0">
                <a:solidFill>
                  <a:srgbClr val="00566C"/>
                </a:solidFill>
                <a:latin typeface="Arial"/>
              </a:rPr>
              <a:t>Limpieza y estandarización</a:t>
            </a:r>
          </a:p>
          <a:p>
            <a:pPr algn="l" marL="384048" indent="-384048">
              <a:lnSpc>
                <a:spcPct val="104000"/>
              </a:lnSpc>
              <a:spcBef>
                <a:spcPts val="0"/>
              </a:spcBef>
              <a:spcAft>
                <a:spcPts val="800"/>
              </a:spcAft>
              <a:buClr>
                <a:srgbClr val="219BC3"/>
              </a:buClr>
              <a:buFont typeface="Arial"/>
              <a:buChar char="▪"/>
            </a:pPr>
            <a:r>
              <a:rPr sz="1600" b="0" i="0">
                <a:solidFill>
                  <a:srgbClr val="858591"/>
                </a:solidFill>
                <a:latin typeface="Arial"/>
              </a:rPr>
              <a:t>Normalización de cadenas de texto en las variables categóricas.</a:t>
            </a:r>
          </a:p>
          <a:p>
            <a:pPr algn="l" marL="384048" indent="-384048">
              <a:lnSpc>
                <a:spcPct val="104000"/>
              </a:lnSpc>
              <a:spcBef>
                <a:spcPts val="0"/>
              </a:spcBef>
              <a:spcAft>
                <a:spcPts val="800"/>
              </a:spcAft>
              <a:buClr>
                <a:srgbClr val="219BC3"/>
              </a:buClr>
              <a:buFont typeface="Arial"/>
              <a:buChar char="▪"/>
            </a:pPr>
            <a:r>
              <a:rPr sz="1600" b="0" i="0">
                <a:solidFill>
                  <a:srgbClr val="858591"/>
                </a:solidFill>
                <a:latin typeface="Arial"/>
              </a:rPr>
              <a:t>Verificación del rango de edades: valores entre 0 y 85 años.</a:t>
            </a:r>
          </a:p>
        </p:txBody>
      </p:sp>
      <p:sp>
        <p:nvSpPr>
          <p:cNvPr id="8" name="TextBox 7"/>
          <p:cNvSpPr txBox="1"/>
          <p:nvPr/>
        </p:nvSpPr>
        <p:spPr>
          <a:xfrm>
            <a:off x="4754879" y="3840480"/>
            <a:ext cx="329184" cy="411480"/>
          </a:xfrm>
          <a:prstGeom prst="rect">
            <a:avLst/>
          </a:prstGeom>
          <a:noFill/>
        </p:spPr>
        <p:txBody>
          <a:bodyPr wrap="square" lIns="18288" rIns="18288" tIns="0" bIns="0" anchor="t">
            <a:spAutoFit/>
          </a:bodyPr>
          <a:lstStyle/>
          <a:p>
            <a:pPr algn="ctr">
              <a:spcBef>
                <a:spcPts val="0"/>
              </a:spcBef>
              <a:spcAft>
                <a:spcPts val="0"/>
              </a:spcAft>
            </a:pPr>
            <a:r>
              <a:rPr sz="1600" b="0" i="0">
                <a:solidFill>
                  <a:srgbClr val="C0C0C8"/>
                </a:solidFill>
                <a:latin typeface="Arial"/>
              </a:rPr>
              <a:t>▶</a:t>
            </a:r>
          </a:p>
        </p:txBody>
      </p:sp>
      <p:sp>
        <p:nvSpPr>
          <p:cNvPr id="9" name="Rectangle 8"/>
          <p:cNvSpPr/>
          <p:nvPr/>
        </p:nvSpPr>
        <p:spPr>
          <a:xfrm>
            <a:off x="5102352" y="2542032"/>
            <a:ext cx="3858768" cy="3127248"/>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102352" y="2542032"/>
            <a:ext cx="3858768"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358384" y="2743200"/>
            <a:ext cx="3346703" cy="2852928"/>
          </a:xfrm>
          <a:prstGeom prst="rect">
            <a:avLst/>
          </a:prstGeom>
          <a:noFill/>
        </p:spPr>
        <p:txBody>
          <a:bodyPr wrap="square" lIns="18288" rIns="18288" tIns="0" bIns="0" anchor="t">
            <a:spAutoFit/>
          </a:bodyPr>
          <a:lstStyle/>
          <a:p>
            <a:pPr algn="l">
              <a:lnSpc>
                <a:spcPct val="104000"/>
              </a:lnSpc>
              <a:spcBef>
                <a:spcPts val="0"/>
              </a:spcBef>
              <a:spcAft>
                <a:spcPts val="800"/>
              </a:spcAft>
            </a:pPr>
            <a:r>
              <a:rPr sz="3000" b="1" i="0">
                <a:solidFill>
                  <a:srgbClr val="219BC3"/>
                </a:solidFill>
                <a:latin typeface="Arial"/>
              </a:rPr>
              <a:t>02</a:t>
            </a:r>
          </a:p>
          <a:p>
            <a:pPr algn="l">
              <a:lnSpc>
                <a:spcPct val="104000"/>
              </a:lnSpc>
              <a:spcBef>
                <a:spcPts val="0"/>
              </a:spcBef>
              <a:spcAft>
                <a:spcPts val="1200"/>
              </a:spcAft>
            </a:pPr>
            <a:r>
              <a:rPr sz="2000" b="1" i="0">
                <a:solidFill>
                  <a:srgbClr val="00566C"/>
                </a:solidFill>
                <a:latin typeface="Arial"/>
              </a:rPr>
              <a:t>Imputación de valores faltantes</a:t>
            </a:r>
          </a:p>
          <a:p>
            <a:pPr algn="l" marL="384048" indent="-384048">
              <a:lnSpc>
                <a:spcPct val="104000"/>
              </a:lnSpc>
              <a:spcBef>
                <a:spcPts val="0"/>
              </a:spcBef>
              <a:spcAft>
                <a:spcPts val="800"/>
              </a:spcAft>
              <a:buClr>
                <a:srgbClr val="219BC3"/>
              </a:buClr>
              <a:buFont typeface="Arial"/>
              <a:buChar char="▪"/>
            </a:pPr>
            <a:r>
              <a:rPr sz="1600" b="0" i="0">
                <a:solidFill>
                  <a:srgbClr val="858591"/>
                </a:solidFill>
                <a:latin typeface="Arial"/>
              </a:rPr>
              <a:t>La variable edad es la única con ausencias relevantes.</a:t>
            </a:r>
          </a:p>
          <a:p>
            <a:pPr algn="l" marL="384048" indent="-384048">
              <a:lnSpc>
                <a:spcPct val="104000"/>
              </a:lnSpc>
              <a:spcBef>
                <a:spcPts val="0"/>
              </a:spcBef>
              <a:spcAft>
                <a:spcPts val="800"/>
              </a:spcAft>
              <a:buClr>
                <a:srgbClr val="219BC3"/>
              </a:buClr>
              <a:buFont typeface="Arial"/>
              <a:buChar char="▪"/>
            </a:pPr>
            <a:r>
              <a:rPr sz="1600" b="0" i="0">
                <a:solidFill>
                  <a:srgbClr val="858591"/>
                </a:solidFill>
                <a:latin typeface="Arial"/>
              </a:rPr>
              <a:t>Se imputa preservando la distribución observada por clase diagnóstica.</a:t>
            </a:r>
          </a:p>
        </p:txBody>
      </p:sp>
      <p:sp>
        <p:nvSpPr>
          <p:cNvPr id="12" name="TextBox 11"/>
          <p:cNvSpPr txBox="1"/>
          <p:nvPr/>
        </p:nvSpPr>
        <p:spPr>
          <a:xfrm>
            <a:off x="8979408" y="3840480"/>
            <a:ext cx="329184" cy="411480"/>
          </a:xfrm>
          <a:prstGeom prst="rect">
            <a:avLst/>
          </a:prstGeom>
          <a:noFill/>
        </p:spPr>
        <p:txBody>
          <a:bodyPr wrap="square" lIns="18288" rIns="18288" tIns="0" bIns="0" anchor="t">
            <a:spAutoFit/>
          </a:bodyPr>
          <a:lstStyle/>
          <a:p>
            <a:pPr algn="ctr">
              <a:spcBef>
                <a:spcPts val="0"/>
              </a:spcBef>
              <a:spcAft>
                <a:spcPts val="0"/>
              </a:spcAft>
            </a:pPr>
            <a:r>
              <a:rPr sz="1600" b="0" i="0">
                <a:solidFill>
                  <a:srgbClr val="C0C0C8"/>
                </a:solidFill>
                <a:latin typeface="Arial"/>
              </a:rPr>
              <a:t>▶</a:t>
            </a:r>
          </a:p>
        </p:txBody>
      </p:sp>
      <p:sp>
        <p:nvSpPr>
          <p:cNvPr id="13" name="Rectangle 12"/>
          <p:cNvSpPr/>
          <p:nvPr/>
        </p:nvSpPr>
        <p:spPr>
          <a:xfrm>
            <a:off x="9326880" y="2542032"/>
            <a:ext cx="3858768" cy="3127248"/>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9326880" y="2542032"/>
            <a:ext cx="3858768"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582911" y="2743200"/>
            <a:ext cx="3346703" cy="2852928"/>
          </a:xfrm>
          <a:prstGeom prst="rect">
            <a:avLst/>
          </a:prstGeom>
          <a:noFill/>
        </p:spPr>
        <p:txBody>
          <a:bodyPr wrap="square" lIns="18288" rIns="18288" tIns="0" bIns="0" anchor="t">
            <a:spAutoFit/>
          </a:bodyPr>
          <a:lstStyle/>
          <a:p>
            <a:pPr algn="l">
              <a:lnSpc>
                <a:spcPct val="104000"/>
              </a:lnSpc>
              <a:spcBef>
                <a:spcPts val="0"/>
              </a:spcBef>
              <a:spcAft>
                <a:spcPts val="800"/>
              </a:spcAft>
            </a:pPr>
            <a:r>
              <a:rPr sz="3000" b="1" i="0">
                <a:solidFill>
                  <a:srgbClr val="219BC3"/>
                </a:solidFill>
                <a:latin typeface="Arial"/>
              </a:rPr>
              <a:t>03</a:t>
            </a:r>
          </a:p>
          <a:p>
            <a:pPr algn="l">
              <a:lnSpc>
                <a:spcPct val="104000"/>
              </a:lnSpc>
              <a:spcBef>
                <a:spcPts val="0"/>
              </a:spcBef>
              <a:spcAft>
                <a:spcPts val="1200"/>
              </a:spcAft>
            </a:pPr>
            <a:r>
              <a:rPr sz="2000" b="1" i="0">
                <a:solidFill>
                  <a:srgbClr val="00566C"/>
                </a:solidFill>
                <a:latin typeface="Arial"/>
              </a:rPr>
              <a:t>Partición estratificada por lesion_id</a:t>
            </a:r>
          </a:p>
          <a:p>
            <a:pPr algn="l" marL="384048" indent="-384048">
              <a:lnSpc>
                <a:spcPct val="104000"/>
              </a:lnSpc>
              <a:spcBef>
                <a:spcPts val="0"/>
              </a:spcBef>
              <a:spcAft>
                <a:spcPts val="800"/>
              </a:spcAft>
              <a:buClr>
                <a:srgbClr val="219BC3"/>
              </a:buClr>
              <a:buFont typeface="Arial"/>
              <a:buChar char="▪"/>
            </a:pPr>
            <a:r>
              <a:rPr sz="1600" b="0" i="0">
                <a:solidFill>
                  <a:srgbClr val="858591"/>
                </a:solidFill>
                <a:latin typeface="Arial"/>
              </a:rPr>
              <a:t>GroupShuffleSplit 80/20 agrupando por lesión.</a:t>
            </a:r>
          </a:p>
          <a:p>
            <a:pPr algn="l" marL="384048" indent="-384048">
              <a:lnSpc>
                <a:spcPct val="104000"/>
              </a:lnSpc>
              <a:spcBef>
                <a:spcPts val="0"/>
              </a:spcBef>
              <a:spcAft>
                <a:spcPts val="800"/>
              </a:spcAft>
              <a:buClr>
                <a:srgbClr val="219BC3"/>
              </a:buClr>
              <a:buFont typeface="Arial"/>
              <a:buChar char="▪"/>
            </a:pPr>
            <a:r>
              <a:rPr sz="1600" b="0" i="0">
                <a:solidFill>
                  <a:srgbClr val="858591"/>
                </a:solidFill>
                <a:latin typeface="Arial"/>
              </a:rPr>
              <a:t>Escenario 2: 2.498 lesiones en train y 625 en test, sin solapamiento.</a:t>
            </a:r>
          </a:p>
        </p:txBody>
      </p:sp>
      <p:sp>
        <p:nvSpPr>
          <p:cNvPr id="16" name="TextBox 15"/>
          <p:cNvSpPr txBox="1"/>
          <p:nvPr/>
        </p:nvSpPr>
        <p:spPr>
          <a:xfrm>
            <a:off x="13203935" y="3840480"/>
            <a:ext cx="329184" cy="411480"/>
          </a:xfrm>
          <a:prstGeom prst="rect">
            <a:avLst/>
          </a:prstGeom>
          <a:noFill/>
        </p:spPr>
        <p:txBody>
          <a:bodyPr wrap="square" lIns="18288" rIns="18288" tIns="0" bIns="0" anchor="t">
            <a:spAutoFit/>
          </a:bodyPr>
          <a:lstStyle/>
          <a:p>
            <a:pPr algn="ctr">
              <a:spcBef>
                <a:spcPts val="0"/>
              </a:spcBef>
              <a:spcAft>
                <a:spcPts val="0"/>
              </a:spcAft>
            </a:pPr>
            <a:r>
              <a:rPr sz="1600" b="0" i="0">
                <a:solidFill>
                  <a:srgbClr val="C0C0C8"/>
                </a:solidFill>
                <a:latin typeface="Arial"/>
              </a:rPr>
              <a:t>▶</a:t>
            </a:r>
          </a:p>
        </p:txBody>
      </p:sp>
      <p:sp>
        <p:nvSpPr>
          <p:cNvPr id="17" name="Rectangle 16"/>
          <p:cNvSpPr/>
          <p:nvPr/>
        </p:nvSpPr>
        <p:spPr>
          <a:xfrm>
            <a:off x="13551408" y="2542032"/>
            <a:ext cx="3858768" cy="3127248"/>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3551408" y="2542032"/>
            <a:ext cx="3858768"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3807440" y="2743200"/>
            <a:ext cx="3346703" cy="2852928"/>
          </a:xfrm>
          <a:prstGeom prst="rect">
            <a:avLst/>
          </a:prstGeom>
          <a:noFill/>
        </p:spPr>
        <p:txBody>
          <a:bodyPr wrap="square" lIns="18288" rIns="18288" tIns="0" bIns="0" anchor="t">
            <a:spAutoFit/>
          </a:bodyPr>
          <a:lstStyle/>
          <a:p>
            <a:pPr algn="l">
              <a:lnSpc>
                <a:spcPct val="104000"/>
              </a:lnSpc>
              <a:spcBef>
                <a:spcPts val="0"/>
              </a:spcBef>
              <a:spcAft>
                <a:spcPts val="800"/>
              </a:spcAft>
            </a:pPr>
            <a:r>
              <a:rPr sz="3000" b="1" i="0">
                <a:solidFill>
                  <a:srgbClr val="219BC3"/>
                </a:solidFill>
                <a:latin typeface="Arial"/>
              </a:rPr>
              <a:t>04</a:t>
            </a:r>
          </a:p>
          <a:p>
            <a:pPr algn="l">
              <a:lnSpc>
                <a:spcPct val="104000"/>
              </a:lnSpc>
              <a:spcBef>
                <a:spcPts val="0"/>
              </a:spcBef>
              <a:spcAft>
                <a:spcPts val="1200"/>
              </a:spcAft>
            </a:pPr>
            <a:r>
              <a:rPr sz="2000" b="1" i="0">
                <a:solidFill>
                  <a:srgbClr val="00566C"/>
                </a:solidFill>
                <a:latin typeface="Arial"/>
              </a:rPr>
              <a:t>Preprocesamiento de imagen</a:t>
            </a:r>
          </a:p>
          <a:p>
            <a:pPr algn="l" marL="384048" indent="-384048">
              <a:lnSpc>
                <a:spcPct val="104000"/>
              </a:lnSpc>
              <a:spcBef>
                <a:spcPts val="0"/>
              </a:spcBef>
              <a:spcAft>
                <a:spcPts val="800"/>
              </a:spcAft>
              <a:buClr>
                <a:srgbClr val="219BC3"/>
              </a:buClr>
              <a:buFont typeface="Arial"/>
              <a:buChar char="▪"/>
            </a:pPr>
            <a:r>
              <a:rPr sz="1600" b="0" i="0">
                <a:solidFill>
                  <a:srgbClr val="858591"/>
                </a:solidFill>
                <a:latin typeface="Arial"/>
              </a:rPr>
              <a:t>Redimensionado unificado a 64×64 px RGB para el pipeline SVM.</a:t>
            </a:r>
          </a:p>
          <a:p>
            <a:pPr algn="l" marL="384048" indent="-384048">
              <a:lnSpc>
                <a:spcPct val="104000"/>
              </a:lnSpc>
              <a:spcBef>
                <a:spcPts val="0"/>
              </a:spcBef>
              <a:spcAft>
                <a:spcPts val="800"/>
              </a:spcAft>
              <a:buClr>
                <a:srgbClr val="219BC3"/>
              </a:buClr>
              <a:buFont typeface="Arial"/>
              <a:buChar char="▪"/>
            </a:pPr>
            <a:r>
              <a:rPr sz="1600" b="0" i="0">
                <a:solidFill>
                  <a:srgbClr val="858591"/>
                </a:solidFill>
                <a:latin typeface="Arial"/>
              </a:rPr>
              <a:t>Aplanado a un vector de 12.288 características (64 × 64 × 3) y normalización.</a:t>
            </a:r>
          </a:p>
        </p:txBody>
      </p:sp>
      <p:sp>
        <p:nvSpPr>
          <p:cNvPr id="20" name="Rectangle 19"/>
          <p:cNvSpPr/>
          <p:nvPr/>
        </p:nvSpPr>
        <p:spPr>
          <a:xfrm>
            <a:off x="877824" y="5870448"/>
            <a:ext cx="16532351" cy="1920240"/>
          </a:xfrm>
          <a:prstGeom prst="rect">
            <a:avLst/>
          </a:prstGeom>
          <a:solidFill>
            <a:srgbClr val="DDE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877824" y="5870448"/>
            <a:ext cx="82296" cy="1920240"/>
          </a:xfrm>
          <a:prstGeom prst="rect">
            <a:avLst/>
          </a:prstGeom>
          <a:solidFill>
            <a:srgbClr val="0056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289304" y="6035040"/>
            <a:ext cx="15709392" cy="1691640"/>
          </a:xfrm>
          <a:prstGeom prst="rect">
            <a:avLst/>
          </a:prstGeom>
          <a:noFill/>
        </p:spPr>
        <p:txBody>
          <a:bodyPr wrap="square" lIns="18288" rIns="18288" tIns="0" bIns="0" anchor="t">
            <a:spAutoFit/>
          </a:bodyPr>
          <a:lstStyle/>
          <a:p>
            <a:pPr algn="l">
              <a:lnSpc>
                <a:spcPct val="106000"/>
              </a:lnSpc>
              <a:spcBef>
                <a:spcPts val="0"/>
              </a:spcBef>
              <a:spcAft>
                <a:spcPts val="1000"/>
              </a:spcAft>
            </a:pPr>
            <a:r>
              <a:rPr sz="2200" b="1" i="0">
                <a:solidFill>
                  <a:srgbClr val="00566C"/>
                </a:solidFill>
                <a:latin typeface="Arial"/>
              </a:rPr>
              <a:t>¿Por qué agrupar la partición por lesión y no simplemente estratificar por clase?</a:t>
            </a:r>
          </a:p>
          <a:p>
            <a:pPr algn="l">
              <a:lnSpc>
                <a:spcPct val="106000"/>
              </a:lnSpc>
              <a:spcBef>
                <a:spcPts val="0"/>
              </a:spcBef>
              <a:spcAft>
                <a:spcPts val="0"/>
              </a:spcAft>
            </a:pPr>
            <a:r>
              <a:rPr sz="1900" b="0" i="0">
                <a:solidFill>
                  <a:srgbClr val="0C0B0B"/>
                </a:solidFill>
                <a:latin typeface="Arial"/>
              </a:rPr>
              <a:t>Porque 1.956 lesiones del dataset tienen más de una imagen. Con una partición estratificada convencional, imágenes casi idénticas de la misma lesión acaban en entrenamiento y en test simultáneamente: el modelo reconoce la lesión que memorizó, no la patología que debe aprender. El resultado es una inflación artificial de las métricas de validación, documentada en la literatura de clasificación dermatoscópica (Combalia et al., 2019).</a:t>
            </a:r>
          </a:p>
        </p:txBody>
      </p:sp>
      <p:sp>
        <p:nvSpPr>
          <p:cNvPr id="23" name="Rectangle 22"/>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Esta partición agrupada se aplica en el Escenario 2 de ambos algoritmos y en la validación cruzada mediante StratifiedGroupKFold.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19</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PREPARACIÓN DE LOS DATOS</a:t>
            </a:r>
          </a:p>
          <a:p>
            <a:pPr algn="l">
              <a:lnSpc>
                <a:spcPct val="92000"/>
              </a:lnSpc>
              <a:spcBef>
                <a:spcPts val="0"/>
              </a:spcBef>
              <a:spcAft>
                <a:spcPts val="0"/>
              </a:spcAft>
            </a:pPr>
            <a:r>
              <a:rPr sz="4000" b="1" i="0">
                <a:solidFill>
                  <a:srgbClr val="00566C"/>
                </a:solidFill>
                <a:latin typeface="Arial"/>
              </a:rPr>
              <a:t>Los dos escenarios de datos</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Misma fuente, dos formulaciones del problema y dos estrategias de balanceo distintas</a:t>
            </a:r>
          </a:p>
        </p:txBody>
      </p:sp>
      <p:pic>
        <p:nvPicPr>
          <p:cNvPr id="5" name="Picture 4" descr="t-010.png"/>
          <p:cNvPicPr>
            <a:picLocks noChangeAspect="1"/>
          </p:cNvPicPr>
          <p:nvPr/>
        </p:nvPicPr>
        <p:blipFill>
          <a:blip r:embed="rId2"/>
          <a:stretch>
            <a:fillRect/>
          </a:stretch>
        </p:blipFill>
        <p:spPr>
          <a:xfrm>
            <a:off x="877824" y="2331720"/>
            <a:ext cx="7863840" cy="3120105"/>
          </a:xfrm>
          <a:prstGeom prst="rect">
            <a:avLst/>
          </a:prstGeom>
        </p:spPr>
      </p:pic>
      <p:sp>
        <p:nvSpPr>
          <p:cNvPr id="6" name="TextBox 5"/>
          <p:cNvSpPr txBox="1"/>
          <p:nvPr/>
        </p:nvSpPr>
        <p:spPr>
          <a:xfrm>
            <a:off x="877824" y="5532120"/>
            <a:ext cx="7863840" cy="310896"/>
          </a:xfrm>
          <a:prstGeom prst="rect">
            <a:avLst/>
          </a:prstGeom>
          <a:noFill/>
        </p:spPr>
        <p:txBody>
          <a:bodyPr wrap="square" lIns="18288" rIns="18288" tIns="0" bIns="0" anchor="t">
            <a:spAutoFit/>
          </a:bodyPr>
          <a:lstStyle/>
          <a:p>
            <a:pPr algn="l">
              <a:spcBef>
                <a:spcPts val="0"/>
              </a:spcBef>
              <a:spcAft>
                <a:spcPts val="0"/>
              </a:spcAft>
            </a:pPr>
            <a:r>
              <a:rPr sz="1500" b="0" i="0">
                <a:solidFill>
                  <a:srgbClr val="858591"/>
                </a:solidFill>
                <a:latin typeface="Arial"/>
              </a:rPr>
              <a:t>Efecto del balanceo sobre la distribución binaria (Figura 11 de la memoria)</a:t>
            </a:r>
          </a:p>
        </p:txBody>
      </p:sp>
      <p:graphicFrame>
        <p:nvGraphicFramePr>
          <p:cNvPr id="7" name="Table 6"/>
          <p:cNvGraphicFramePr>
            <a:graphicFrameLocks noGrp="1"/>
          </p:cNvGraphicFramePr>
          <p:nvPr/>
        </p:nvGraphicFramePr>
        <p:xfrm>
          <a:off x="9336024" y="2331720"/>
          <a:ext cx="8074150" cy="4727448"/>
        </p:xfrm>
        <a:graphic>
          <a:graphicData uri="http://schemas.openxmlformats.org/drawingml/2006/table">
            <a:tbl>
              <a:tblPr>
                <a:tableStyleId>{5C22544A-7EE6-4342-B048-85BDC9FD1C3A}</a:tableStyleId>
              </a:tblPr>
              <a:tblGrid>
                <a:gridCol w="2253251"/>
                <a:gridCol w="2816564"/>
                <a:gridCol w="3004335"/>
              </a:tblGrid>
              <a:tr h="502920">
                <a:tc>
                  <a:txBody>
                    <a:bodyPr wrap="square"/>
                    <a:lstStyle/>
                    <a:p>
                      <a:pPr algn="l"/>
                      <a:r>
                        <a:rPr sz="1700" b="1">
                          <a:solidFill>
                            <a:srgbClr val="FFFFFF"/>
                          </a:solidFill>
                          <a:latin typeface="Arial"/>
                        </a:rPr>
                        <a:t/>
                      </a:r>
                    </a:p>
                  </a:txBody>
                  <a:tcPr marL="128016" marR="91440" marT="27432" marB="27432" anchor="ctr">
                    <a:solidFill>
                      <a:srgbClr val="219BC3"/>
                    </a:solidFill>
                  </a:tcPr>
                </a:tc>
                <a:tc>
                  <a:txBody>
                    <a:bodyPr wrap="square"/>
                    <a:lstStyle/>
                    <a:p>
                      <a:pPr algn="l"/>
                      <a:r>
                        <a:rPr sz="1700" b="1">
                          <a:solidFill>
                            <a:srgbClr val="FFFFFF"/>
                          </a:solidFill>
                          <a:latin typeface="Arial"/>
                        </a:rPr>
                        <a:t>Escenario 1 — original</a:t>
                      </a:r>
                    </a:p>
                  </a:txBody>
                  <a:tcPr marL="128016" marR="91440" marT="27432" marB="27432" anchor="ctr">
                    <a:solidFill>
                      <a:srgbClr val="219BC3"/>
                    </a:solidFill>
                  </a:tcPr>
                </a:tc>
                <a:tc>
                  <a:txBody>
                    <a:bodyPr wrap="square"/>
                    <a:lstStyle/>
                    <a:p>
                      <a:pPr algn="l"/>
                      <a:r>
                        <a:rPr sz="1700" b="1">
                          <a:solidFill>
                            <a:srgbClr val="FFFFFF"/>
                          </a:solidFill>
                          <a:latin typeface="Arial"/>
                        </a:rPr>
                        <a:t>Escenario 2 — balanceado</a:t>
                      </a:r>
                    </a:p>
                  </a:txBody>
                  <a:tcPr marL="128016" marR="91440" marT="27432" marB="27432" anchor="ctr">
                    <a:solidFill>
                      <a:srgbClr val="219BC3"/>
                    </a:solidFill>
                  </a:tcPr>
                </a:tc>
              </a:tr>
              <a:tr h="603504">
                <a:tc>
                  <a:txBody>
                    <a:bodyPr wrap="square"/>
                    <a:lstStyle/>
                    <a:p>
                      <a:pPr algn="l"/>
                      <a:r>
                        <a:rPr sz="1600" b="1">
                          <a:solidFill>
                            <a:srgbClr val="00566C"/>
                          </a:solidFill>
                          <a:latin typeface="Arial"/>
                        </a:rPr>
                        <a:t>Variable objetivo</a:t>
                      </a:r>
                    </a:p>
                  </a:txBody>
                  <a:tcPr marL="128016" marR="91440" marT="27432" marB="27432" anchor="ctr">
                    <a:solidFill>
                      <a:srgbClr val="FFFFFF"/>
                    </a:solidFill>
                  </a:tcPr>
                </a:tc>
                <a:tc>
                  <a:txBody>
                    <a:bodyPr wrap="square"/>
                    <a:lstStyle/>
                    <a:p>
                      <a:pPr algn="l"/>
                      <a:r>
                        <a:rPr sz="1600" b="0">
                          <a:solidFill>
                            <a:srgbClr val="0C0B0B"/>
                          </a:solidFill>
                          <a:latin typeface="Arial"/>
                        </a:rPr>
                        <a:t>dx (7 clases)</a:t>
                      </a:r>
                    </a:p>
                  </a:txBody>
                  <a:tcPr marL="128016" marR="91440" marT="27432" marB="27432" anchor="ctr">
                    <a:solidFill>
                      <a:srgbClr val="FFFFFF"/>
                    </a:solidFill>
                  </a:tcPr>
                </a:tc>
                <a:tc>
                  <a:txBody>
                    <a:bodyPr wrap="square"/>
                    <a:lstStyle/>
                    <a:p>
                      <a:pPr algn="l"/>
                      <a:r>
                        <a:rPr sz="1600" b="0">
                          <a:solidFill>
                            <a:srgbClr val="0C0B0B"/>
                          </a:solidFill>
                          <a:latin typeface="Arial"/>
                        </a:rPr>
                        <a:t>Benigno / Maligno</a:t>
                      </a:r>
                    </a:p>
                  </a:txBody>
                  <a:tcPr marL="128016" marR="91440" marT="27432" marB="27432" anchor="ctr">
                    <a:solidFill>
                      <a:srgbClr val="FFFFFF"/>
                    </a:solidFill>
                  </a:tcPr>
                </a:tc>
              </a:tr>
              <a:tr h="603504">
                <a:tc>
                  <a:txBody>
                    <a:bodyPr wrap="square"/>
                    <a:lstStyle/>
                    <a:p>
                      <a:pPr algn="l"/>
                      <a:r>
                        <a:rPr sz="1600" b="1">
                          <a:solidFill>
                            <a:srgbClr val="00566C"/>
                          </a:solidFill>
                          <a:latin typeface="Arial"/>
                        </a:rPr>
                        <a:t>Imágenes de entrada</a:t>
                      </a:r>
                    </a:p>
                  </a:txBody>
                  <a:tcPr marL="128016" marR="91440" marT="27432" marB="27432" anchor="ctr">
                    <a:solidFill>
                      <a:srgbClr val="F2F2F5"/>
                    </a:solidFill>
                  </a:tcPr>
                </a:tc>
                <a:tc>
                  <a:txBody>
                    <a:bodyPr wrap="square"/>
                    <a:lstStyle/>
                    <a:p>
                      <a:pPr algn="l"/>
                      <a:r>
                        <a:rPr sz="1600" b="0">
                          <a:solidFill>
                            <a:srgbClr val="0C0B0B"/>
                          </a:solidFill>
                          <a:latin typeface="Arial"/>
                        </a:rPr>
                        <a:t>10.015  (8.061 + 1.954)</a:t>
                      </a:r>
                    </a:p>
                  </a:txBody>
                  <a:tcPr marL="128016" marR="91440" marT="27432" marB="27432" anchor="ctr">
                    <a:solidFill>
                      <a:srgbClr val="F2F2F5"/>
                    </a:solidFill>
                  </a:tcPr>
                </a:tc>
                <a:tc>
                  <a:txBody>
                    <a:bodyPr wrap="square"/>
                    <a:lstStyle/>
                    <a:p>
                      <a:pPr algn="l"/>
                      <a:r>
                        <a:rPr sz="1600" b="0">
                          <a:solidFill>
                            <a:srgbClr val="0C0B0B"/>
                          </a:solidFill>
                          <a:latin typeface="Arial"/>
                        </a:rPr>
                        <a:t>3.908  (1.954 + 1.954)</a:t>
                      </a:r>
                    </a:p>
                  </a:txBody>
                  <a:tcPr marL="128016" marR="91440" marT="27432" marB="27432" anchor="ctr">
                    <a:solidFill>
                      <a:srgbClr val="F2F2F5"/>
                    </a:solidFill>
                  </a:tcPr>
                </a:tc>
              </a:tr>
              <a:tr h="603504">
                <a:tc>
                  <a:txBody>
                    <a:bodyPr wrap="square"/>
                    <a:lstStyle/>
                    <a:p>
                      <a:pPr algn="l"/>
                      <a:r>
                        <a:rPr sz="1600" b="1">
                          <a:solidFill>
                            <a:srgbClr val="00566C"/>
                          </a:solidFill>
                          <a:latin typeface="Arial"/>
                        </a:rPr>
                        <a:t>Partición</a:t>
                      </a:r>
                    </a:p>
                  </a:txBody>
                  <a:tcPr marL="128016" marR="91440" marT="27432" marB="27432" anchor="ctr">
                    <a:solidFill>
                      <a:srgbClr val="FFFFFF"/>
                    </a:solidFill>
                  </a:tcPr>
                </a:tc>
                <a:tc>
                  <a:txBody>
                    <a:bodyPr wrap="square"/>
                    <a:lstStyle/>
                    <a:p>
                      <a:pPr algn="l"/>
                      <a:r>
                        <a:rPr sz="1600" b="0">
                          <a:solidFill>
                            <a:srgbClr val="0C0B0B"/>
                          </a:solidFill>
                          <a:latin typeface="Arial"/>
                        </a:rPr>
                        <a:t>Estratificada por clase 80/20</a:t>
                      </a:r>
                    </a:p>
                  </a:txBody>
                  <a:tcPr marL="128016" marR="91440" marT="27432" marB="27432" anchor="ctr">
                    <a:solidFill>
                      <a:srgbClr val="FFFFFF"/>
                    </a:solidFill>
                  </a:tcPr>
                </a:tc>
                <a:tc>
                  <a:txBody>
                    <a:bodyPr wrap="square"/>
                    <a:lstStyle/>
                    <a:p>
                      <a:pPr algn="l"/>
                      <a:r>
                        <a:rPr sz="1600" b="0">
                          <a:solidFill>
                            <a:srgbClr val="0C0B0B"/>
                          </a:solidFill>
                          <a:latin typeface="Arial"/>
                        </a:rPr>
                        <a:t>GroupShuffleSplit por lesion_id 80/20</a:t>
                      </a:r>
                    </a:p>
                  </a:txBody>
                  <a:tcPr marL="128016" marR="91440" marT="27432" marB="27432" anchor="ctr">
                    <a:solidFill>
                      <a:srgbClr val="FFFFFF"/>
                    </a:solidFill>
                  </a:tcPr>
                </a:tc>
              </a:tr>
              <a:tr h="603504">
                <a:tc>
                  <a:txBody>
                    <a:bodyPr wrap="square"/>
                    <a:lstStyle/>
                    <a:p>
                      <a:pPr algn="l"/>
                      <a:r>
                        <a:rPr sz="1600" b="1">
                          <a:solidFill>
                            <a:srgbClr val="00566C"/>
                          </a:solidFill>
                          <a:latin typeface="Arial"/>
                        </a:rPr>
                        <a:t>Muestras train / test</a:t>
                      </a:r>
                    </a:p>
                  </a:txBody>
                  <a:tcPr marL="128016" marR="91440" marT="27432" marB="27432" anchor="ctr">
                    <a:solidFill>
                      <a:srgbClr val="F2F2F5"/>
                    </a:solidFill>
                  </a:tcPr>
                </a:tc>
                <a:tc>
                  <a:txBody>
                    <a:bodyPr wrap="square"/>
                    <a:lstStyle/>
                    <a:p>
                      <a:pPr algn="l"/>
                      <a:r>
                        <a:rPr sz="1600" b="0">
                          <a:solidFill>
                            <a:srgbClr val="0C0B0B"/>
                          </a:solidFill>
                          <a:latin typeface="Arial"/>
                        </a:rPr>
                        <a:t>8.012 / 2.003</a:t>
                      </a:r>
                    </a:p>
                  </a:txBody>
                  <a:tcPr marL="128016" marR="91440" marT="27432" marB="27432" anchor="ctr">
                    <a:solidFill>
                      <a:srgbClr val="F2F2F5"/>
                    </a:solidFill>
                  </a:tcPr>
                </a:tc>
                <a:tc>
                  <a:txBody>
                    <a:bodyPr wrap="square"/>
                    <a:lstStyle/>
                    <a:p>
                      <a:pPr algn="l"/>
                      <a:r>
                        <a:rPr sz="1600" b="0">
                          <a:solidFill>
                            <a:srgbClr val="0C0B0B"/>
                          </a:solidFill>
                          <a:latin typeface="Arial"/>
                        </a:rPr>
                        <a:t>3.119 / 789</a:t>
                      </a:r>
                    </a:p>
                  </a:txBody>
                  <a:tcPr marL="128016" marR="91440" marT="27432" marB="27432" anchor="ctr">
                    <a:solidFill>
                      <a:srgbClr val="F2F2F5"/>
                    </a:solidFill>
                  </a:tcPr>
                </a:tc>
              </a:tr>
              <a:tr h="603504">
                <a:tc>
                  <a:txBody>
                    <a:bodyPr wrap="square"/>
                    <a:lstStyle/>
                    <a:p>
                      <a:pPr algn="l"/>
                      <a:r>
                        <a:rPr sz="1600" b="1">
                          <a:solidFill>
                            <a:srgbClr val="00566C"/>
                          </a:solidFill>
                          <a:latin typeface="Arial"/>
                        </a:rPr>
                        <a:t>Lesiones únicas</a:t>
                      </a:r>
                    </a:p>
                  </a:txBody>
                  <a:tcPr marL="128016" marR="91440" marT="27432" marB="27432" anchor="ctr">
                    <a:solidFill>
                      <a:srgbClr val="FFFFFF"/>
                    </a:solidFill>
                  </a:tcPr>
                </a:tc>
                <a:tc>
                  <a:txBody>
                    <a:bodyPr wrap="square"/>
                    <a:lstStyle/>
                    <a:p>
                      <a:pPr algn="l"/>
                      <a:r>
                        <a:rPr sz="1600" b="0">
                          <a:solidFill>
                            <a:srgbClr val="0C0B0B"/>
                          </a:solidFill>
                          <a:latin typeface="Arial"/>
                        </a:rPr>
                        <a:t>No controlado</a:t>
                      </a:r>
                    </a:p>
                  </a:txBody>
                  <a:tcPr marL="128016" marR="91440" marT="27432" marB="27432" anchor="ctr">
                    <a:solidFill>
                      <a:srgbClr val="FFFFFF"/>
                    </a:solidFill>
                  </a:tcPr>
                </a:tc>
                <a:tc>
                  <a:txBody>
                    <a:bodyPr wrap="square"/>
                    <a:lstStyle/>
                    <a:p>
                      <a:pPr algn="l"/>
                      <a:r>
                        <a:rPr sz="1600" b="1">
                          <a:solidFill>
                            <a:srgbClr val="00566C"/>
                          </a:solidFill>
                          <a:latin typeface="Arial"/>
                        </a:rPr>
                        <a:t>2.498 / 625 sin solapamiento</a:t>
                      </a:r>
                    </a:p>
                  </a:txBody>
                  <a:tcPr marL="128016" marR="91440" marT="27432" marB="27432" anchor="ctr">
                    <a:solidFill>
                      <a:srgbClr val="FFFFFF"/>
                    </a:solidFill>
                  </a:tcPr>
                </a:tc>
              </a:tr>
              <a:tr h="603504">
                <a:tc>
                  <a:txBody>
                    <a:bodyPr wrap="square"/>
                    <a:lstStyle/>
                    <a:p>
                      <a:pPr algn="l"/>
                      <a:r>
                        <a:rPr sz="1600" b="1">
                          <a:solidFill>
                            <a:srgbClr val="00566C"/>
                          </a:solidFill>
                          <a:latin typeface="Arial"/>
                        </a:rPr>
                        <a:t>Balanceo de clases</a:t>
                      </a:r>
                    </a:p>
                  </a:txBody>
                  <a:tcPr marL="128016" marR="91440" marT="27432" marB="27432" anchor="ctr">
                    <a:solidFill>
                      <a:srgbClr val="F2F2F5"/>
                    </a:solidFill>
                  </a:tcPr>
                </a:tc>
                <a:tc>
                  <a:txBody>
                    <a:bodyPr wrap="square"/>
                    <a:lstStyle/>
                    <a:p>
                      <a:pPr algn="l"/>
                      <a:r>
                        <a:rPr sz="1600" b="0">
                          <a:solidFill>
                            <a:srgbClr val="0C0B0B"/>
                          </a:solidFill>
                          <a:latin typeface="Arial"/>
                        </a:rPr>
                        <a:t>SMOTE en train (37.548 muestras)</a:t>
                      </a:r>
                    </a:p>
                  </a:txBody>
                  <a:tcPr marL="128016" marR="91440" marT="27432" marB="27432" anchor="ctr">
                    <a:solidFill>
                      <a:srgbClr val="F2F2F5"/>
                    </a:solidFill>
                  </a:tcPr>
                </a:tc>
                <a:tc>
                  <a:txBody>
                    <a:bodyPr wrap="square"/>
                    <a:lstStyle/>
                    <a:p>
                      <a:pPr algn="l"/>
                      <a:r>
                        <a:rPr sz="1600" b="0">
                          <a:solidFill>
                            <a:srgbClr val="0C0B0B"/>
                          </a:solidFill>
                          <a:latin typeface="Arial"/>
                        </a:rPr>
                        <a:t>Submuestreo previo, sin SMOTE</a:t>
                      </a:r>
                    </a:p>
                  </a:txBody>
                  <a:tcPr marL="128016" marR="91440" marT="27432" marB="27432" anchor="ctr">
                    <a:solidFill>
                      <a:srgbClr val="F2F2F5"/>
                    </a:solidFill>
                  </a:tcPr>
                </a:tc>
              </a:tr>
              <a:tr h="603504">
                <a:tc>
                  <a:txBody>
                    <a:bodyPr wrap="square"/>
                    <a:lstStyle/>
                    <a:p>
                      <a:pPr algn="l"/>
                      <a:r>
                        <a:rPr sz="1600" b="1">
                          <a:solidFill>
                            <a:srgbClr val="00566C"/>
                          </a:solidFill>
                          <a:latin typeface="Arial"/>
                        </a:rPr>
                        <a:t>Validación cruzada</a:t>
                      </a:r>
                    </a:p>
                  </a:txBody>
                  <a:tcPr marL="128016" marR="91440" marT="27432" marB="27432" anchor="ctr">
                    <a:solidFill>
                      <a:srgbClr val="FFFFFF"/>
                    </a:solidFill>
                  </a:tcPr>
                </a:tc>
                <a:tc>
                  <a:txBody>
                    <a:bodyPr wrap="square"/>
                    <a:lstStyle/>
                    <a:p>
                      <a:pPr algn="l"/>
                      <a:r>
                        <a:rPr sz="1600" b="0">
                          <a:solidFill>
                            <a:srgbClr val="0C0B0B"/>
                          </a:solidFill>
                          <a:latin typeface="Arial"/>
                        </a:rPr>
                        <a:t>StratifiedKFold 5-fold</a:t>
                      </a:r>
                    </a:p>
                  </a:txBody>
                  <a:tcPr marL="128016" marR="91440" marT="27432" marB="27432" anchor="ctr">
                    <a:solidFill>
                      <a:srgbClr val="FFFFFF"/>
                    </a:solidFill>
                  </a:tcPr>
                </a:tc>
                <a:tc>
                  <a:txBody>
                    <a:bodyPr wrap="square"/>
                    <a:lstStyle/>
                    <a:p>
                      <a:pPr algn="l"/>
                      <a:r>
                        <a:rPr sz="1600" b="0">
                          <a:solidFill>
                            <a:srgbClr val="0C0B0B"/>
                          </a:solidFill>
                          <a:latin typeface="Arial"/>
                        </a:rPr>
                        <a:t>StratifiedGroupKFold 5-fold</a:t>
                      </a:r>
                    </a:p>
                  </a:txBody>
                  <a:tcPr marL="128016" marR="91440" marT="27432" marB="27432" anchor="ctr">
                    <a:solidFill>
                      <a:srgbClr val="FFFFFF"/>
                    </a:solidFill>
                  </a:tcPr>
                </a:tc>
              </a:tr>
            </a:tbl>
          </a:graphicData>
        </a:graphic>
      </p:graphicFrame>
      <p:sp>
        <p:nvSpPr>
          <p:cNvPr id="8" name="Rectangle 7"/>
          <p:cNvSpPr/>
          <p:nvPr/>
        </p:nvSpPr>
        <p:spPr>
          <a:xfrm>
            <a:off x="877824" y="5989320"/>
            <a:ext cx="7863840" cy="1874519"/>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77824" y="5989320"/>
            <a:ext cx="68580" cy="1874519"/>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207007" y="6199632"/>
            <a:ext cx="7315200" cy="1481328"/>
          </a:xfrm>
          <a:prstGeom prst="rect">
            <a:avLst/>
          </a:prstGeom>
          <a:noFill/>
        </p:spPr>
        <p:txBody>
          <a:bodyPr wrap="square" lIns="18288" rIns="18288" tIns="0" bIns="0" anchor="t">
            <a:spAutoFit/>
          </a:bodyPr>
          <a:lstStyle/>
          <a:p>
            <a:pPr algn="l">
              <a:lnSpc>
                <a:spcPct val="105000"/>
              </a:lnSpc>
              <a:spcBef>
                <a:spcPts val="0"/>
              </a:spcBef>
              <a:spcAft>
                <a:spcPts val="800"/>
              </a:spcAft>
            </a:pPr>
            <a:r>
              <a:rPr sz="2000" b="1" i="0">
                <a:solidFill>
                  <a:srgbClr val="00566C"/>
                </a:solidFill>
                <a:latin typeface="Arial"/>
              </a:rPr>
              <a:t>¿Por qué se elimina SMOTE en el Escenario 2?</a:t>
            </a:r>
          </a:p>
          <a:p>
            <a:pPr algn="l">
              <a:lnSpc>
                <a:spcPct val="105000"/>
              </a:lnSpc>
              <a:spcBef>
                <a:spcPts val="0"/>
              </a:spcBef>
              <a:spcAft>
                <a:spcPts val="0"/>
              </a:spcAft>
            </a:pPr>
            <a:r>
              <a:rPr sz="1700" b="0" i="0">
                <a:solidFill>
                  <a:srgbClr val="858591"/>
                </a:solidFill>
                <a:latin typeface="Arial"/>
              </a:rPr>
              <a:t>Porque el dataset ya llega equilibrado por submuestreo. Aplicar SMOTE encima generaría muestras sintéticas innecesarias, multiplicaría el coste computacional e introduciría interpolaciones artificiales entre lesiones que no existen clínicamente.</a:t>
            </a:r>
          </a:p>
        </p:txBody>
      </p:sp>
      <p:sp>
        <p:nvSpPr>
          <p:cNvPr id="11" name="Rectangle 10"/>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El Escenario 2 no es «una versión más pequeña» del Escenario 1: es una reformulación del problema alineada con la decisión clínica real, benigno frente a maligno.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9015984"/>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015984"/>
            <a:ext cx="18288000" cy="12725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2103120" y="2788920"/>
            <a:ext cx="82296"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2615184" y="2697480"/>
            <a:ext cx="12344400" cy="1417320"/>
          </a:xfrm>
          <a:prstGeom prst="rect">
            <a:avLst/>
          </a:prstGeom>
          <a:noFill/>
        </p:spPr>
        <p:txBody>
          <a:bodyPr wrap="square" lIns="18288" rIns="18288" tIns="0" bIns="0" anchor="t">
            <a:spAutoFit/>
          </a:bodyPr>
          <a:lstStyle/>
          <a:p>
            <a:pPr algn="l">
              <a:spcBef>
                <a:spcPts val="0"/>
              </a:spcBef>
              <a:spcAft>
                <a:spcPts val="0"/>
              </a:spcAft>
            </a:pPr>
            <a:r>
              <a:rPr sz="9600" b="1" i="0">
                <a:solidFill>
                  <a:srgbClr val="FFFFFF"/>
                </a:solidFill>
                <a:latin typeface="Arial"/>
              </a:rPr>
              <a:t>05</a:t>
            </a:r>
          </a:p>
        </p:txBody>
      </p:sp>
      <p:sp>
        <p:nvSpPr>
          <p:cNvPr id="6" name="TextBox 5"/>
          <p:cNvSpPr txBox="1"/>
          <p:nvPr/>
        </p:nvSpPr>
        <p:spPr>
          <a:xfrm>
            <a:off x="2651760" y="4160520"/>
            <a:ext cx="13716000" cy="1234440"/>
          </a:xfrm>
          <a:prstGeom prst="rect">
            <a:avLst/>
          </a:prstGeom>
          <a:noFill/>
        </p:spPr>
        <p:txBody>
          <a:bodyPr wrap="square" lIns="18288" rIns="18288" tIns="0" bIns="0" anchor="t">
            <a:spAutoFit/>
          </a:bodyPr>
          <a:lstStyle/>
          <a:p>
            <a:pPr algn="l">
              <a:lnSpc>
                <a:spcPct val="95000"/>
              </a:lnSpc>
              <a:spcBef>
                <a:spcPts val="0"/>
              </a:spcBef>
              <a:spcAft>
                <a:spcPts val="0"/>
              </a:spcAft>
            </a:pPr>
            <a:r>
              <a:rPr sz="5400" b="1" i="0">
                <a:solidFill>
                  <a:srgbClr val="FFFFFF"/>
                </a:solidFill>
                <a:latin typeface="Arial"/>
              </a:rPr>
              <a:t>Modelado</a:t>
            </a:r>
          </a:p>
        </p:txBody>
      </p:sp>
      <p:sp>
        <p:nvSpPr>
          <p:cNvPr id="7" name="TextBox 6"/>
          <p:cNvSpPr txBox="1"/>
          <p:nvPr/>
        </p:nvSpPr>
        <p:spPr>
          <a:xfrm>
            <a:off x="2651760" y="5440680"/>
            <a:ext cx="13258800" cy="822960"/>
          </a:xfrm>
          <a:prstGeom prst="rect">
            <a:avLst/>
          </a:prstGeom>
          <a:noFill/>
        </p:spPr>
        <p:txBody>
          <a:bodyPr wrap="square" lIns="18288" rIns="18288" tIns="0" bIns="0" anchor="t">
            <a:spAutoFit/>
          </a:bodyPr>
          <a:lstStyle/>
          <a:p>
            <a:pPr algn="l">
              <a:spcBef>
                <a:spcPts val="0"/>
              </a:spcBef>
              <a:spcAft>
                <a:spcPts val="0"/>
              </a:spcAft>
            </a:pPr>
            <a:r>
              <a:rPr sz="2400" b="0" i="0">
                <a:solidFill>
                  <a:srgbClr val="FFFFFF"/>
                </a:solidFill>
                <a:latin typeface="Arial"/>
              </a:rPr>
              <a:t>SVM con kernel RBF y DenseNet201 con arquitectura de dos cabezas</a:t>
            </a:r>
          </a:p>
        </p:txBody>
      </p:sp>
      <p:sp>
        <p:nvSpPr>
          <p:cNvPr id="8" name="TextBox 7"/>
          <p:cNvSpPr txBox="1"/>
          <p:nvPr/>
        </p:nvSpPr>
        <p:spPr>
          <a:xfrm>
            <a:off x="2651760" y="6446520"/>
            <a:ext cx="13258800" cy="457200"/>
          </a:xfrm>
          <a:prstGeom prst="rect">
            <a:avLst/>
          </a:prstGeom>
          <a:noFill/>
        </p:spPr>
        <p:txBody>
          <a:bodyPr wrap="square" lIns="18288" rIns="18288" tIns="0" bIns="0" anchor="t">
            <a:spAutoFit/>
          </a:bodyPr>
          <a:lstStyle/>
          <a:p>
            <a:pPr algn="l">
              <a:spcBef>
                <a:spcPts val="0"/>
              </a:spcBef>
              <a:spcAft>
                <a:spcPts val="0"/>
              </a:spcAft>
            </a:pPr>
            <a:r>
              <a:rPr sz="1900" b="1" i="0">
                <a:solidFill>
                  <a:srgbClr val="FFFFFF"/>
                </a:solidFill>
                <a:latin typeface="Arial"/>
              </a:rPr>
              <a:t>3 minutos</a:t>
            </a:r>
            <a:r>
              <a:rPr sz="1900" b="0" i="0">
                <a:solidFill>
                  <a:srgbClr val="FFFFFF"/>
                </a:solidFill>
                <a:latin typeface="Arial"/>
              </a:rPr>
              <a:t>     ·     </a:t>
            </a:r>
            <a:r>
              <a:rPr sz="1900" b="0" i="0">
                <a:solidFill>
                  <a:srgbClr val="FFFFFF"/>
                </a:solidFill>
                <a:latin typeface="Arial"/>
              </a:rPr>
              <a:t>Expone: Alvaro</a:t>
            </a:r>
          </a:p>
        </p:txBody>
      </p:sp>
      <p:sp>
        <p:nvSpPr>
          <p:cNvPr id="9" name="TextBox 8"/>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21</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MODELADO</a:t>
            </a:r>
          </a:p>
          <a:p>
            <a:pPr algn="l">
              <a:lnSpc>
                <a:spcPct val="92000"/>
              </a:lnSpc>
              <a:spcBef>
                <a:spcPts val="0"/>
              </a:spcBef>
              <a:spcAft>
                <a:spcPts val="0"/>
              </a:spcAft>
            </a:pPr>
            <a:r>
              <a:rPr sz="4000" b="1" i="0">
                <a:solidFill>
                  <a:srgbClr val="00566C"/>
                </a:solidFill>
                <a:latin typeface="Arial"/>
              </a:rPr>
              <a:t>SVM — la línea base de Machine Learning clásico</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Pipeline de 9 pasos: carga → aplanado → normalización → PCA → balanceo → entrenamiento → evaluación</a:t>
            </a:r>
          </a:p>
        </p:txBody>
      </p:sp>
      <p:sp>
        <p:nvSpPr>
          <p:cNvPr id="5" name="Rectangle 4"/>
          <p:cNvSpPr/>
          <p:nvPr/>
        </p:nvSpPr>
        <p:spPr>
          <a:xfrm>
            <a:off x="877824" y="2487168"/>
            <a:ext cx="1674367" cy="14173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877824" y="2487168"/>
            <a:ext cx="1674367" cy="54864"/>
          </a:xfrm>
          <a:prstGeom prst="rect">
            <a:avLst/>
          </a:prstGeom>
          <a:solidFill>
            <a:srgbClr val="C0C0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78408" y="2615184"/>
            <a:ext cx="1473199" cy="1188720"/>
          </a:xfrm>
          <a:prstGeom prst="rect">
            <a:avLst/>
          </a:prstGeom>
          <a:noFill/>
        </p:spPr>
        <p:txBody>
          <a:bodyPr wrap="square" lIns="18288" rIns="18288" tIns="0" bIns="0" anchor="t">
            <a:spAutoFit/>
          </a:bodyPr>
          <a:lstStyle/>
          <a:p>
            <a:pPr algn="l">
              <a:lnSpc>
                <a:spcPct val="102000"/>
              </a:lnSpc>
              <a:spcBef>
                <a:spcPts val="0"/>
              </a:spcBef>
              <a:spcAft>
                <a:spcPts val="400"/>
              </a:spcAft>
            </a:pPr>
            <a:r>
              <a:rPr sz="1300" b="1" i="0">
                <a:solidFill>
                  <a:srgbClr val="219BC3"/>
                </a:solidFill>
                <a:latin typeface="Arial"/>
              </a:rPr>
              <a:t>[1/9]</a:t>
            </a:r>
          </a:p>
          <a:p>
            <a:pPr algn="l">
              <a:lnSpc>
                <a:spcPct val="102000"/>
              </a:lnSpc>
              <a:spcBef>
                <a:spcPts val="0"/>
              </a:spcBef>
              <a:spcAft>
                <a:spcPts val="0"/>
              </a:spcAft>
            </a:pPr>
            <a:r>
              <a:rPr sz="1400" b="1" i="0">
                <a:solidFill>
                  <a:srgbClr val="00566C"/>
                </a:solidFill>
                <a:latin typeface="Arial"/>
              </a:rPr>
              <a:t>Detección
del dataset</a:t>
            </a:r>
          </a:p>
        </p:txBody>
      </p:sp>
      <p:sp>
        <p:nvSpPr>
          <p:cNvPr id="8" name="Rectangle 7"/>
          <p:cNvSpPr/>
          <p:nvPr/>
        </p:nvSpPr>
        <p:spPr>
          <a:xfrm>
            <a:off x="2735071" y="2487168"/>
            <a:ext cx="1674367" cy="14173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2735071" y="2487168"/>
            <a:ext cx="1674367" cy="54864"/>
          </a:xfrm>
          <a:prstGeom prst="rect">
            <a:avLst/>
          </a:prstGeom>
          <a:solidFill>
            <a:srgbClr val="C0C0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2835655" y="2615184"/>
            <a:ext cx="1473199" cy="1188720"/>
          </a:xfrm>
          <a:prstGeom prst="rect">
            <a:avLst/>
          </a:prstGeom>
          <a:noFill/>
        </p:spPr>
        <p:txBody>
          <a:bodyPr wrap="square" lIns="18288" rIns="18288" tIns="0" bIns="0" anchor="t">
            <a:spAutoFit/>
          </a:bodyPr>
          <a:lstStyle/>
          <a:p>
            <a:pPr algn="l">
              <a:lnSpc>
                <a:spcPct val="102000"/>
              </a:lnSpc>
              <a:spcBef>
                <a:spcPts val="0"/>
              </a:spcBef>
              <a:spcAft>
                <a:spcPts val="400"/>
              </a:spcAft>
            </a:pPr>
            <a:r>
              <a:rPr sz="1300" b="1" i="0">
                <a:solidFill>
                  <a:srgbClr val="219BC3"/>
                </a:solidFill>
                <a:latin typeface="Arial"/>
              </a:rPr>
              <a:t>[2/9]</a:t>
            </a:r>
          </a:p>
          <a:p>
            <a:pPr algn="l">
              <a:lnSpc>
                <a:spcPct val="102000"/>
              </a:lnSpc>
              <a:spcBef>
                <a:spcPts val="0"/>
              </a:spcBef>
              <a:spcAft>
                <a:spcPts val="0"/>
              </a:spcAft>
            </a:pPr>
            <a:r>
              <a:rPr sz="1400" b="1" i="0">
                <a:solidFill>
                  <a:srgbClr val="00566C"/>
                </a:solidFill>
                <a:latin typeface="Arial"/>
              </a:rPr>
              <a:t>Carga y
aplanado</a:t>
            </a:r>
          </a:p>
        </p:txBody>
      </p:sp>
      <p:sp>
        <p:nvSpPr>
          <p:cNvPr id="11" name="Rectangle 10"/>
          <p:cNvSpPr/>
          <p:nvPr/>
        </p:nvSpPr>
        <p:spPr>
          <a:xfrm>
            <a:off x="4592319" y="2487168"/>
            <a:ext cx="1674367" cy="14173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592319" y="2487168"/>
            <a:ext cx="1674367" cy="54864"/>
          </a:xfrm>
          <a:prstGeom prst="rect">
            <a:avLst/>
          </a:prstGeom>
          <a:solidFill>
            <a:srgbClr val="C0C0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692903" y="2615184"/>
            <a:ext cx="1473199" cy="1188720"/>
          </a:xfrm>
          <a:prstGeom prst="rect">
            <a:avLst/>
          </a:prstGeom>
          <a:noFill/>
        </p:spPr>
        <p:txBody>
          <a:bodyPr wrap="square" lIns="18288" rIns="18288" tIns="0" bIns="0" anchor="t">
            <a:spAutoFit/>
          </a:bodyPr>
          <a:lstStyle/>
          <a:p>
            <a:pPr algn="l">
              <a:lnSpc>
                <a:spcPct val="102000"/>
              </a:lnSpc>
              <a:spcBef>
                <a:spcPts val="0"/>
              </a:spcBef>
              <a:spcAft>
                <a:spcPts val="400"/>
              </a:spcAft>
            </a:pPr>
            <a:r>
              <a:rPr sz="1300" b="1" i="0">
                <a:solidFill>
                  <a:srgbClr val="219BC3"/>
                </a:solidFill>
                <a:latin typeface="Arial"/>
              </a:rPr>
              <a:t>[3/9]</a:t>
            </a:r>
          </a:p>
          <a:p>
            <a:pPr algn="l">
              <a:lnSpc>
                <a:spcPct val="102000"/>
              </a:lnSpc>
              <a:spcBef>
                <a:spcPts val="0"/>
              </a:spcBef>
              <a:spcAft>
                <a:spcPts val="0"/>
              </a:spcAft>
            </a:pPr>
            <a:r>
              <a:rPr sz="1400" b="1" i="0">
                <a:solidFill>
                  <a:srgbClr val="00566C"/>
                </a:solidFill>
                <a:latin typeface="Arial"/>
              </a:rPr>
              <a:t>División
train/test</a:t>
            </a:r>
          </a:p>
        </p:txBody>
      </p:sp>
      <p:sp>
        <p:nvSpPr>
          <p:cNvPr id="14" name="Rectangle 13"/>
          <p:cNvSpPr/>
          <p:nvPr/>
        </p:nvSpPr>
        <p:spPr>
          <a:xfrm>
            <a:off x="6449567" y="2487168"/>
            <a:ext cx="1674367" cy="1417320"/>
          </a:xfrm>
          <a:prstGeom prst="rect">
            <a:avLst/>
          </a:prstGeom>
          <a:solidFill>
            <a:srgbClr val="DDE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449567" y="2487168"/>
            <a:ext cx="1674367" cy="54864"/>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550151" y="2615184"/>
            <a:ext cx="1473199" cy="1188720"/>
          </a:xfrm>
          <a:prstGeom prst="rect">
            <a:avLst/>
          </a:prstGeom>
          <a:noFill/>
        </p:spPr>
        <p:txBody>
          <a:bodyPr wrap="square" lIns="18288" rIns="18288" tIns="0" bIns="0" anchor="t">
            <a:spAutoFit/>
          </a:bodyPr>
          <a:lstStyle/>
          <a:p>
            <a:pPr algn="l">
              <a:lnSpc>
                <a:spcPct val="102000"/>
              </a:lnSpc>
              <a:spcBef>
                <a:spcPts val="0"/>
              </a:spcBef>
              <a:spcAft>
                <a:spcPts val="400"/>
              </a:spcAft>
            </a:pPr>
            <a:r>
              <a:rPr sz="1300" b="1" i="0">
                <a:solidFill>
                  <a:srgbClr val="219BC3"/>
                </a:solidFill>
                <a:latin typeface="Arial"/>
              </a:rPr>
              <a:t>[4/9]</a:t>
            </a:r>
          </a:p>
          <a:p>
            <a:pPr algn="l">
              <a:lnSpc>
                <a:spcPct val="102000"/>
              </a:lnSpc>
              <a:spcBef>
                <a:spcPts val="0"/>
              </a:spcBef>
              <a:spcAft>
                <a:spcPts val="0"/>
              </a:spcAft>
            </a:pPr>
            <a:r>
              <a:rPr sz="1400" b="1" i="0">
                <a:solidFill>
                  <a:srgbClr val="00566C"/>
                </a:solidFill>
                <a:latin typeface="Arial"/>
              </a:rPr>
              <a:t>Escalado
+ PCA</a:t>
            </a:r>
          </a:p>
        </p:txBody>
      </p:sp>
      <p:sp>
        <p:nvSpPr>
          <p:cNvPr id="17" name="Rectangle 16"/>
          <p:cNvSpPr/>
          <p:nvPr/>
        </p:nvSpPr>
        <p:spPr>
          <a:xfrm>
            <a:off x="8306815" y="2487168"/>
            <a:ext cx="1674367" cy="1417320"/>
          </a:xfrm>
          <a:prstGeom prst="rect">
            <a:avLst/>
          </a:prstGeom>
          <a:solidFill>
            <a:srgbClr val="DDE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306815" y="2487168"/>
            <a:ext cx="1674367" cy="54864"/>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407399" y="2615184"/>
            <a:ext cx="1473199" cy="1188720"/>
          </a:xfrm>
          <a:prstGeom prst="rect">
            <a:avLst/>
          </a:prstGeom>
          <a:noFill/>
        </p:spPr>
        <p:txBody>
          <a:bodyPr wrap="square" lIns="18288" rIns="18288" tIns="0" bIns="0" anchor="t">
            <a:spAutoFit/>
          </a:bodyPr>
          <a:lstStyle/>
          <a:p>
            <a:pPr algn="l">
              <a:lnSpc>
                <a:spcPct val="102000"/>
              </a:lnSpc>
              <a:spcBef>
                <a:spcPts val="0"/>
              </a:spcBef>
              <a:spcAft>
                <a:spcPts val="400"/>
              </a:spcAft>
            </a:pPr>
            <a:r>
              <a:rPr sz="1300" b="1" i="0">
                <a:solidFill>
                  <a:srgbClr val="219BC3"/>
                </a:solidFill>
                <a:latin typeface="Arial"/>
              </a:rPr>
              <a:t>[5/9]</a:t>
            </a:r>
          </a:p>
          <a:p>
            <a:pPr algn="l">
              <a:lnSpc>
                <a:spcPct val="102000"/>
              </a:lnSpc>
              <a:spcBef>
                <a:spcPts val="0"/>
              </a:spcBef>
              <a:spcAft>
                <a:spcPts val="0"/>
              </a:spcAft>
            </a:pPr>
            <a:r>
              <a:rPr sz="1400" b="1" i="0">
                <a:solidFill>
                  <a:srgbClr val="00566C"/>
                </a:solidFill>
                <a:latin typeface="Arial"/>
              </a:rPr>
              <a:t>Balanceo
(SMOTE)</a:t>
            </a:r>
          </a:p>
        </p:txBody>
      </p:sp>
      <p:sp>
        <p:nvSpPr>
          <p:cNvPr id="20" name="Rectangle 19"/>
          <p:cNvSpPr/>
          <p:nvPr/>
        </p:nvSpPr>
        <p:spPr>
          <a:xfrm>
            <a:off x="10164063" y="2487168"/>
            <a:ext cx="1674367" cy="1417320"/>
          </a:xfrm>
          <a:prstGeom prst="rect">
            <a:avLst/>
          </a:prstGeom>
          <a:solidFill>
            <a:srgbClr val="DDE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0164063" y="2487168"/>
            <a:ext cx="1674367" cy="54864"/>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264647" y="2615184"/>
            <a:ext cx="1473199" cy="1188720"/>
          </a:xfrm>
          <a:prstGeom prst="rect">
            <a:avLst/>
          </a:prstGeom>
          <a:noFill/>
        </p:spPr>
        <p:txBody>
          <a:bodyPr wrap="square" lIns="18288" rIns="18288" tIns="0" bIns="0" anchor="t">
            <a:spAutoFit/>
          </a:bodyPr>
          <a:lstStyle/>
          <a:p>
            <a:pPr algn="l">
              <a:lnSpc>
                <a:spcPct val="102000"/>
              </a:lnSpc>
              <a:spcBef>
                <a:spcPts val="0"/>
              </a:spcBef>
              <a:spcAft>
                <a:spcPts val="400"/>
              </a:spcAft>
            </a:pPr>
            <a:r>
              <a:rPr sz="1300" b="1" i="0">
                <a:solidFill>
                  <a:srgbClr val="219BC3"/>
                </a:solidFill>
                <a:latin typeface="Arial"/>
              </a:rPr>
              <a:t>[6/9]</a:t>
            </a:r>
          </a:p>
          <a:p>
            <a:pPr algn="l">
              <a:lnSpc>
                <a:spcPct val="102000"/>
              </a:lnSpc>
              <a:spcBef>
                <a:spcPts val="0"/>
              </a:spcBef>
              <a:spcAft>
                <a:spcPts val="0"/>
              </a:spcAft>
            </a:pPr>
            <a:r>
              <a:rPr sz="1400" b="1" i="0">
                <a:solidFill>
                  <a:srgbClr val="00566C"/>
                </a:solidFill>
                <a:latin typeface="Arial"/>
              </a:rPr>
              <a:t>Entrenamiento
SVC-RBF</a:t>
            </a:r>
          </a:p>
        </p:txBody>
      </p:sp>
      <p:sp>
        <p:nvSpPr>
          <p:cNvPr id="23" name="Rectangle 22"/>
          <p:cNvSpPr/>
          <p:nvPr/>
        </p:nvSpPr>
        <p:spPr>
          <a:xfrm>
            <a:off x="12021311" y="2487168"/>
            <a:ext cx="1674367" cy="14173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2021311" y="2487168"/>
            <a:ext cx="1674367" cy="54864"/>
          </a:xfrm>
          <a:prstGeom prst="rect">
            <a:avLst/>
          </a:prstGeom>
          <a:solidFill>
            <a:srgbClr val="C0C0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12121895" y="2615184"/>
            <a:ext cx="1473199" cy="1188720"/>
          </a:xfrm>
          <a:prstGeom prst="rect">
            <a:avLst/>
          </a:prstGeom>
          <a:noFill/>
        </p:spPr>
        <p:txBody>
          <a:bodyPr wrap="square" lIns="18288" rIns="18288" tIns="0" bIns="0" anchor="t">
            <a:spAutoFit/>
          </a:bodyPr>
          <a:lstStyle/>
          <a:p>
            <a:pPr algn="l">
              <a:lnSpc>
                <a:spcPct val="102000"/>
              </a:lnSpc>
              <a:spcBef>
                <a:spcPts val="0"/>
              </a:spcBef>
              <a:spcAft>
                <a:spcPts val="400"/>
              </a:spcAft>
            </a:pPr>
            <a:r>
              <a:rPr sz="1300" b="1" i="0">
                <a:solidFill>
                  <a:srgbClr val="219BC3"/>
                </a:solidFill>
                <a:latin typeface="Arial"/>
              </a:rPr>
              <a:t>[7/9]</a:t>
            </a:r>
          </a:p>
          <a:p>
            <a:pPr algn="l">
              <a:lnSpc>
                <a:spcPct val="102000"/>
              </a:lnSpc>
              <a:spcBef>
                <a:spcPts val="0"/>
              </a:spcBef>
              <a:spcAft>
                <a:spcPts val="0"/>
              </a:spcAft>
            </a:pPr>
            <a:r>
              <a:rPr sz="1400" b="1" i="0">
                <a:solidFill>
                  <a:srgbClr val="00566C"/>
                </a:solidFill>
                <a:latin typeface="Arial"/>
              </a:rPr>
              <a:t>Evaluación
completa</a:t>
            </a:r>
          </a:p>
        </p:txBody>
      </p:sp>
      <p:sp>
        <p:nvSpPr>
          <p:cNvPr id="26" name="Rectangle 25"/>
          <p:cNvSpPr/>
          <p:nvPr/>
        </p:nvSpPr>
        <p:spPr>
          <a:xfrm>
            <a:off x="13878559" y="2487168"/>
            <a:ext cx="1674367" cy="14173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3878559" y="2487168"/>
            <a:ext cx="1674367" cy="54864"/>
          </a:xfrm>
          <a:prstGeom prst="rect">
            <a:avLst/>
          </a:prstGeom>
          <a:solidFill>
            <a:srgbClr val="C0C0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13979143" y="2615184"/>
            <a:ext cx="1473199" cy="1188720"/>
          </a:xfrm>
          <a:prstGeom prst="rect">
            <a:avLst/>
          </a:prstGeom>
          <a:noFill/>
        </p:spPr>
        <p:txBody>
          <a:bodyPr wrap="square" lIns="18288" rIns="18288" tIns="0" bIns="0" anchor="t">
            <a:spAutoFit/>
          </a:bodyPr>
          <a:lstStyle/>
          <a:p>
            <a:pPr algn="l">
              <a:lnSpc>
                <a:spcPct val="102000"/>
              </a:lnSpc>
              <a:spcBef>
                <a:spcPts val="0"/>
              </a:spcBef>
              <a:spcAft>
                <a:spcPts val="400"/>
              </a:spcAft>
            </a:pPr>
            <a:r>
              <a:rPr sz="1300" b="1" i="0">
                <a:solidFill>
                  <a:srgbClr val="219BC3"/>
                </a:solidFill>
                <a:latin typeface="Arial"/>
              </a:rPr>
              <a:t>[8/9]</a:t>
            </a:r>
          </a:p>
          <a:p>
            <a:pPr algn="l">
              <a:lnSpc>
                <a:spcPct val="102000"/>
              </a:lnSpc>
              <a:spcBef>
                <a:spcPts val="0"/>
              </a:spcBef>
              <a:spcAft>
                <a:spcPts val="0"/>
              </a:spcAft>
            </a:pPr>
            <a:r>
              <a:rPr sz="1400" b="1" i="0">
                <a:solidFill>
                  <a:srgbClr val="00566C"/>
                </a:solidFill>
                <a:latin typeface="Arial"/>
              </a:rPr>
              <a:t>Validación
cruzada 5-fold</a:t>
            </a:r>
          </a:p>
        </p:txBody>
      </p:sp>
      <p:sp>
        <p:nvSpPr>
          <p:cNvPr id="29" name="Rectangle 28"/>
          <p:cNvSpPr/>
          <p:nvPr/>
        </p:nvSpPr>
        <p:spPr>
          <a:xfrm>
            <a:off x="15735807" y="2487168"/>
            <a:ext cx="1674367" cy="14173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5735807" y="2487168"/>
            <a:ext cx="1674367" cy="54864"/>
          </a:xfrm>
          <a:prstGeom prst="rect">
            <a:avLst/>
          </a:prstGeom>
          <a:solidFill>
            <a:srgbClr val="C0C0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5836391" y="2615184"/>
            <a:ext cx="1473199" cy="1188720"/>
          </a:xfrm>
          <a:prstGeom prst="rect">
            <a:avLst/>
          </a:prstGeom>
          <a:noFill/>
        </p:spPr>
        <p:txBody>
          <a:bodyPr wrap="square" lIns="18288" rIns="18288" tIns="0" bIns="0" anchor="t">
            <a:spAutoFit/>
          </a:bodyPr>
          <a:lstStyle/>
          <a:p>
            <a:pPr algn="l">
              <a:lnSpc>
                <a:spcPct val="102000"/>
              </a:lnSpc>
              <a:spcBef>
                <a:spcPts val="0"/>
              </a:spcBef>
              <a:spcAft>
                <a:spcPts val="400"/>
              </a:spcAft>
            </a:pPr>
            <a:r>
              <a:rPr sz="1300" b="1" i="0">
                <a:solidFill>
                  <a:srgbClr val="219BC3"/>
                </a:solidFill>
                <a:latin typeface="Arial"/>
              </a:rPr>
              <a:t>[9/9]</a:t>
            </a:r>
          </a:p>
          <a:p>
            <a:pPr algn="l">
              <a:lnSpc>
                <a:spcPct val="102000"/>
              </a:lnSpc>
              <a:spcBef>
                <a:spcPts val="0"/>
              </a:spcBef>
              <a:spcAft>
                <a:spcPts val="0"/>
              </a:spcAft>
            </a:pPr>
            <a:r>
              <a:rPr sz="1400" b="1" i="0">
                <a:solidFill>
                  <a:srgbClr val="00566C"/>
                </a:solidFill>
                <a:latin typeface="Arial"/>
              </a:rPr>
              <a:t>Generación
de salidas</a:t>
            </a:r>
          </a:p>
        </p:txBody>
      </p:sp>
      <p:pic>
        <p:nvPicPr>
          <p:cNvPr id="32" name="Picture 31" descr="t-011.png"/>
          <p:cNvPicPr>
            <a:picLocks noChangeAspect="1"/>
          </p:cNvPicPr>
          <p:nvPr/>
        </p:nvPicPr>
        <p:blipFill>
          <a:blip r:embed="rId2"/>
          <a:stretch>
            <a:fillRect/>
          </a:stretch>
        </p:blipFill>
        <p:spPr>
          <a:xfrm>
            <a:off x="877824" y="4206240"/>
            <a:ext cx="7589520" cy="2618218"/>
          </a:xfrm>
          <a:prstGeom prst="rect">
            <a:avLst/>
          </a:prstGeom>
        </p:spPr>
      </p:pic>
      <p:sp>
        <p:nvSpPr>
          <p:cNvPr id="33" name="TextBox 32"/>
          <p:cNvSpPr txBox="1"/>
          <p:nvPr/>
        </p:nvSpPr>
        <p:spPr>
          <a:xfrm>
            <a:off x="877824" y="6903720"/>
            <a:ext cx="7589520" cy="310896"/>
          </a:xfrm>
          <a:prstGeom prst="rect">
            <a:avLst/>
          </a:prstGeom>
          <a:noFill/>
        </p:spPr>
        <p:txBody>
          <a:bodyPr wrap="square" lIns="18288" rIns="18288" tIns="0" bIns="0" anchor="t">
            <a:spAutoFit/>
          </a:bodyPr>
          <a:lstStyle/>
          <a:p>
            <a:pPr algn="l">
              <a:spcBef>
                <a:spcPts val="0"/>
              </a:spcBef>
              <a:spcAft>
                <a:spcPts val="0"/>
              </a:spcAft>
            </a:pPr>
            <a:r>
              <a:rPr sz="1500" b="0" i="0">
                <a:solidFill>
                  <a:srgbClr val="858591"/>
                </a:solidFill>
                <a:latin typeface="Arial"/>
              </a:rPr>
              <a:t>Varianza explicada y acumulada del PCA (Figura 12 de la memoria)</a:t>
            </a:r>
          </a:p>
        </p:txBody>
      </p:sp>
      <p:sp>
        <p:nvSpPr>
          <p:cNvPr id="34" name="Rectangle 33"/>
          <p:cNvSpPr/>
          <p:nvPr/>
        </p:nvSpPr>
        <p:spPr>
          <a:xfrm>
            <a:off x="9015984" y="4160520"/>
            <a:ext cx="8394191" cy="62179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9290304" y="4160520"/>
            <a:ext cx="2331720" cy="621792"/>
          </a:xfrm>
          <a:prstGeom prst="rect">
            <a:avLst/>
          </a:prstGeom>
          <a:noFill/>
        </p:spPr>
        <p:txBody>
          <a:bodyPr wrap="square" lIns="18288" rIns="18288" tIns="0" bIns="0" anchor="ctr">
            <a:spAutoFit/>
          </a:bodyPr>
          <a:lstStyle/>
          <a:p>
            <a:pPr algn="l">
              <a:spcBef>
                <a:spcPts val="0"/>
              </a:spcBef>
              <a:spcAft>
                <a:spcPts val="0"/>
              </a:spcAft>
            </a:pPr>
            <a:r>
              <a:rPr sz="1700" b="1" i="0">
                <a:solidFill>
                  <a:srgbClr val="00566C"/>
                </a:solidFill>
                <a:latin typeface="Arial"/>
              </a:rPr>
              <a:t>Representación</a:t>
            </a:r>
          </a:p>
        </p:txBody>
      </p:sp>
      <p:sp>
        <p:nvSpPr>
          <p:cNvPr id="36" name="TextBox 35"/>
          <p:cNvSpPr txBox="1"/>
          <p:nvPr/>
        </p:nvSpPr>
        <p:spPr>
          <a:xfrm>
            <a:off x="11804904" y="4160520"/>
            <a:ext cx="5330951" cy="621792"/>
          </a:xfrm>
          <a:prstGeom prst="rect">
            <a:avLst/>
          </a:prstGeom>
          <a:noFill/>
        </p:spPr>
        <p:txBody>
          <a:bodyPr wrap="square" lIns="18288" rIns="18288" tIns="0" bIns="0" anchor="ctr">
            <a:spAutoFit/>
          </a:bodyPr>
          <a:lstStyle/>
          <a:p>
            <a:pPr algn="l">
              <a:spcBef>
                <a:spcPts val="0"/>
              </a:spcBef>
              <a:spcAft>
                <a:spcPts val="0"/>
              </a:spcAft>
            </a:pPr>
            <a:r>
              <a:rPr sz="1600" b="0" i="0">
                <a:solidFill>
                  <a:srgbClr val="858591"/>
                </a:solidFill>
                <a:latin typeface="Arial"/>
              </a:rPr>
              <a:t>64×64 px RGB aplanados → 12.288 características por imagen</a:t>
            </a:r>
          </a:p>
        </p:txBody>
      </p:sp>
      <p:sp>
        <p:nvSpPr>
          <p:cNvPr id="37" name="Rectangle 36"/>
          <p:cNvSpPr/>
          <p:nvPr/>
        </p:nvSpPr>
        <p:spPr>
          <a:xfrm>
            <a:off x="9015984" y="4782312"/>
            <a:ext cx="8394191"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9290304" y="4782312"/>
            <a:ext cx="2331720" cy="621792"/>
          </a:xfrm>
          <a:prstGeom prst="rect">
            <a:avLst/>
          </a:prstGeom>
          <a:noFill/>
        </p:spPr>
        <p:txBody>
          <a:bodyPr wrap="square" lIns="18288" rIns="18288" tIns="0" bIns="0" anchor="ctr">
            <a:spAutoFit/>
          </a:bodyPr>
          <a:lstStyle/>
          <a:p>
            <a:pPr algn="l">
              <a:spcBef>
                <a:spcPts val="0"/>
              </a:spcBef>
              <a:spcAft>
                <a:spcPts val="0"/>
              </a:spcAft>
            </a:pPr>
            <a:r>
              <a:rPr sz="1700" b="1" i="0">
                <a:solidFill>
                  <a:srgbClr val="00566C"/>
                </a:solidFill>
                <a:latin typeface="Arial"/>
              </a:rPr>
              <a:t>Reducción</a:t>
            </a:r>
          </a:p>
        </p:txBody>
      </p:sp>
      <p:sp>
        <p:nvSpPr>
          <p:cNvPr id="39" name="TextBox 38"/>
          <p:cNvSpPr txBox="1"/>
          <p:nvPr/>
        </p:nvSpPr>
        <p:spPr>
          <a:xfrm>
            <a:off x="11804904" y="4782312"/>
            <a:ext cx="5330951" cy="621792"/>
          </a:xfrm>
          <a:prstGeom prst="rect">
            <a:avLst/>
          </a:prstGeom>
          <a:noFill/>
        </p:spPr>
        <p:txBody>
          <a:bodyPr wrap="square" lIns="18288" rIns="18288" tIns="0" bIns="0" anchor="ctr">
            <a:spAutoFit/>
          </a:bodyPr>
          <a:lstStyle/>
          <a:p>
            <a:pPr algn="l">
              <a:spcBef>
                <a:spcPts val="0"/>
              </a:spcBef>
              <a:spcAft>
                <a:spcPts val="0"/>
              </a:spcAft>
            </a:pPr>
            <a:r>
              <a:rPr sz="1600" b="0" i="0">
                <a:solidFill>
                  <a:srgbClr val="858591"/>
                </a:solidFill>
                <a:latin typeface="Arial"/>
              </a:rPr>
              <a:t>StandardScaler + PCA reteniendo el 95 % de la varianza</a:t>
            </a:r>
          </a:p>
        </p:txBody>
      </p:sp>
      <p:sp>
        <p:nvSpPr>
          <p:cNvPr id="40" name="Rectangle 39"/>
          <p:cNvSpPr/>
          <p:nvPr/>
        </p:nvSpPr>
        <p:spPr>
          <a:xfrm>
            <a:off x="9015984" y="5404103"/>
            <a:ext cx="8394191" cy="62179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9290304" y="5404103"/>
            <a:ext cx="2331720" cy="621792"/>
          </a:xfrm>
          <a:prstGeom prst="rect">
            <a:avLst/>
          </a:prstGeom>
          <a:noFill/>
        </p:spPr>
        <p:txBody>
          <a:bodyPr wrap="square" lIns="18288" rIns="18288" tIns="0" bIns="0" anchor="ctr">
            <a:spAutoFit/>
          </a:bodyPr>
          <a:lstStyle/>
          <a:p>
            <a:pPr algn="l">
              <a:spcBef>
                <a:spcPts val="0"/>
              </a:spcBef>
              <a:spcAft>
                <a:spcPts val="0"/>
              </a:spcAft>
            </a:pPr>
            <a:r>
              <a:rPr sz="1700" b="1" i="0">
                <a:solidFill>
                  <a:srgbClr val="00566C"/>
                </a:solidFill>
                <a:latin typeface="Arial"/>
              </a:rPr>
              <a:t>Componentes</a:t>
            </a:r>
          </a:p>
        </p:txBody>
      </p:sp>
      <p:sp>
        <p:nvSpPr>
          <p:cNvPr id="42" name="TextBox 41"/>
          <p:cNvSpPr txBox="1"/>
          <p:nvPr/>
        </p:nvSpPr>
        <p:spPr>
          <a:xfrm>
            <a:off x="11804904" y="5404103"/>
            <a:ext cx="5330951" cy="621792"/>
          </a:xfrm>
          <a:prstGeom prst="rect">
            <a:avLst/>
          </a:prstGeom>
          <a:noFill/>
        </p:spPr>
        <p:txBody>
          <a:bodyPr wrap="square" lIns="18288" rIns="18288" tIns="0" bIns="0" anchor="ctr">
            <a:spAutoFit/>
          </a:bodyPr>
          <a:lstStyle/>
          <a:p>
            <a:pPr algn="l">
              <a:spcBef>
                <a:spcPts val="0"/>
              </a:spcBef>
              <a:spcAft>
                <a:spcPts val="0"/>
              </a:spcAft>
            </a:pPr>
            <a:r>
              <a:rPr sz="1600" b="0" i="0">
                <a:solidFill>
                  <a:srgbClr val="858591"/>
                </a:solidFill>
                <a:latin typeface="Arial"/>
              </a:rPr>
              <a:t>84 componentes (Esc. 1) · 104 componentes (Esc. 2) — reducción del 99,3 %</a:t>
            </a:r>
          </a:p>
        </p:txBody>
      </p:sp>
      <p:sp>
        <p:nvSpPr>
          <p:cNvPr id="43" name="Rectangle 42"/>
          <p:cNvSpPr/>
          <p:nvPr/>
        </p:nvSpPr>
        <p:spPr>
          <a:xfrm>
            <a:off x="9015984" y="6025895"/>
            <a:ext cx="8394191"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9290304" y="6025895"/>
            <a:ext cx="2331720" cy="621792"/>
          </a:xfrm>
          <a:prstGeom prst="rect">
            <a:avLst/>
          </a:prstGeom>
          <a:noFill/>
        </p:spPr>
        <p:txBody>
          <a:bodyPr wrap="square" lIns="18288" rIns="18288" tIns="0" bIns="0" anchor="ctr">
            <a:spAutoFit/>
          </a:bodyPr>
          <a:lstStyle/>
          <a:p>
            <a:pPr algn="l">
              <a:spcBef>
                <a:spcPts val="0"/>
              </a:spcBef>
              <a:spcAft>
                <a:spcPts val="0"/>
              </a:spcAft>
            </a:pPr>
            <a:r>
              <a:rPr sz="1700" b="1" i="0">
                <a:solidFill>
                  <a:srgbClr val="00566C"/>
                </a:solidFill>
                <a:latin typeface="Arial"/>
              </a:rPr>
              <a:t>Clasificador</a:t>
            </a:r>
          </a:p>
        </p:txBody>
      </p:sp>
      <p:sp>
        <p:nvSpPr>
          <p:cNvPr id="45" name="TextBox 44"/>
          <p:cNvSpPr txBox="1"/>
          <p:nvPr/>
        </p:nvSpPr>
        <p:spPr>
          <a:xfrm>
            <a:off x="11804904" y="6025895"/>
            <a:ext cx="5330951" cy="621792"/>
          </a:xfrm>
          <a:prstGeom prst="rect">
            <a:avLst/>
          </a:prstGeom>
          <a:noFill/>
        </p:spPr>
        <p:txBody>
          <a:bodyPr wrap="square" lIns="18288" rIns="18288" tIns="0" bIns="0" anchor="ctr">
            <a:spAutoFit/>
          </a:bodyPr>
          <a:lstStyle/>
          <a:p>
            <a:pPr algn="l">
              <a:spcBef>
                <a:spcPts val="0"/>
              </a:spcBef>
              <a:spcAft>
                <a:spcPts val="0"/>
              </a:spcAft>
            </a:pPr>
            <a:r>
              <a:rPr sz="1600" b="0" i="0">
                <a:solidFill>
                  <a:srgbClr val="858591"/>
                </a:solidFill>
                <a:latin typeface="Arial"/>
              </a:rPr>
              <a:t>SVC con kernel RBF · C = 1,0 · gamma = «scale» · class_weight = «balanced»</a:t>
            </a:r>
          </a:p>
        </p:txBody>
      </p:sp>
      <p:sp>
        <p:nvSpPr>
          <p:cNvPr id="46" name="Rectangle 45"/>
          <p:cNvSpPr/>
          <p:nvPr/>
        </p:nvSpPr>
        <p:spPr>
          <a:xfrm>
            <a:off x="9015984" y="6647687"/>
            <a:ext cx="8394191" cy="62179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9290304" y="6647687"/>
            <a:ext cx="2331720" cy="621792"/>
          </a:xfrm>
          <a:prstGeom prst="rect">
            <a:avLst/>
          </a:prstGeom>
          <a:noFill/>
        </p:spPr>
        <p:txBody>
          <a:bodyPr wrap="square" lIns="18288" rIns="18288" tIns="0" bIns="0" anchor="ctr">
            <a:spAutoFit/>
          </a:bodyPr>
          <a:lstStyle/>
          <a:p>
            <a:pPr algn="l">
              <a:spcBef>
                <a:spcPts val="0"/>
              </a:spcBef>
              <a:spcAft>
                <a:spcPts val="0"/>
              </a:spcAft>
            </a:pPr>
            <a:r>
              <a:rPr sz="1700" b="1" i="0">
                <a:solidFill>
                  <a:srgbClr val="00566C"/>
                </a:solidFill>
                <a:latin typeface="Arial"/>
              </a:rPr>
              <a:t>Probabilidades</a:t>
            </a:r>
          </a:p>
        </p:txBody>
      </p:sp>
      <p:sp>
        <p:nvSpPr>
          <p:cNvPr id="48" name="TextBox 47"/>
          <p:cNvSpPr txBox="1"/>
          <p:nvPr/>
        </p:nvSpPr>
        <p:spPr>
          <a:xfrm>
            <a:off x="11804904" y="6647687"/>
            <a:ext cx="5330951" cy="621792"/>
          </a:xfrm>
          <a:prstGeom prst="rect">
            <a:avLst/>
          </a:prstGeom>
          <a:noFill/>
        </p:spPr>
        <p:txBody>
          <a:bodyPr wrap="square" lIns="18288" rIns="18288" tIns="0" bIns="0" anchor="ctr">
            <a:spAutoFit/>
          </a:bodyPr>
          <a:lstStyle/>
          <a:p>
            <a:pPr algn="l">
              <a:spcBef>
                <a:spcPts val="0"/>
              </a:spcBef>
              <a:spcAft>
                <a:spcPts val="0"/>
              </a:spcAft>
            </a:pPr>
            <a:r>
              <a:rPr sz="1600" b="0" i="0">
                <a:solidFill>
                  <a:srgbClr val="858591"/>
                </a:solidFill>
                <a:latin typeface="Arial"/>
              </a:rPr>
              <a:t>probability = True (Platt scaling), necesario para calcular el AUC</a:t>
            </a:r>
          </a:p>
        </p:txBody>
      </p:sp>
      <p:sp>
        <p:nvSpPr>
          <p:cNvPr id="49" name="Rectangle 48"/>
          <p:cNvSpPr/>
          <p:nvPr/>
        </p:nvSpPr>
        <p:spPr>
          <a:xfrm>
            <a:off x="9015984" y="7269479"/>
            <a:ext cx="8394191" cy="62179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9290304" y="7269479"/>
            <a:ext cx="2331720" cy="621792"/>
          </a:xfrm>
          <a:prstGeom prst="rect">
            <a:avLst/>
          </a:prstGeom>
          <a:noFill/>
        </p:spPr>
        <p:txBody>
          <a:bodyPr wrap="square" lIns="18288" rIns="18288" tIns="0" bIns="0" anchor="ctr">
            <a:spAutoFit/>
          </a:bodyPr>
          <a:lstStyle/>
          <a:p>
            <a:pPr algn="l">
              <a:spcBef>
                <a:spcPts val="0"/>
              </a:spcBef>
              <a:spcAft>
                <a:spcPts val="0"/>
              </a:spcAft>
            </a:pPr>
            <a:r>
              <a:rPr sz="1700" b="1" i="0">
                <a:solidFill>
                  <a:srgbClr val="00566C"/>
                </a:solidFill>
                <a:latin typeface="Arial"/>
              </a:rPr>
              <a:t>Semilla</a:t>
            </a:r>
          </a:p>
        </p:txBody>
      </p:sp>
      <p:sp>
        <p:nvSpPr>
          <p:cNvPr id="51" name="TextBox 50"/>
          <p:cNvSpPr txBox="1"/>
          <p:nvPr/>
        </p:nvSpPr>
        <p:spPr>
          <a:xfrm>
            <a:off x="11804904" y="7269479"/>
            <a:ext cx="5330951" cy="621792"/>
          </a:xfrm>
          <a:prstGeom prst="rect">
            <a:avLst/>
          </a:prstGeom>
          <a:noFill/>
        </p:spPr>
        <p:txBody>
          <a:bodyPr wrap="square" lIns="18288" rIns="18288" tIns="0" bIns="0" anchor="ctr">
            <a:spAutoFit/>
          </a:bodyPr>
          <a:lstStyle/>
          <a:p>
            <a:pPr algn="l">
              <a:spcBef>
                <a:spcPts val="0"/>
              </a:spcBef>
              <a:spcAft>
                <a:spcPts val="0"/>
              </a:spcAft>
            </a:pPr>
            <a:r>
              <a:rPr sz="1600" b="0" i="0">
                <a:solidFill>
                  <a:srgbClr val="858591"/>
                </a:solidFill>
                <a:latin typeface="Arial"/>
              </a:rPr>
              <a:t>42 — CPU Intel i7, 16 GB RAM, sin aceleración GPU</a:t>
            </a:r>
          </a:p>
        </p:txBody>
      </p:sp>
      <p:sp>
        <p:nvSpPr>
          <p:cNvPr id="52" name="Rectangle 51"/>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Justificación: SVM fue el estado del arte en imagen médica antes del Deep Learning, es eficiente en alta dimensionalidad y su comportamiento documentado facilita interpretar la mejora.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22</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MODELADO</a:t>
            </a:r>
          </a:p>
          <a:p>
            <a:pPr algn="l">
              <a:lnSpc>
                <a:spcPct val="92000"/>
              </a:lnSpc>
              <a:spcBef>
                <a:spcPts val="0"/>
              </a:spcBef>
              <a:spcAft>
                <a:spcPts val="0"/>
              </a:spcAft>
            </a:pPr>
            <a:r>
              <a:rPr sz="4000" b="1" i="0">
                <a:solidFill>
                  <a:srgbClr val="00566C"/>
                </a:solidFill>
                <a:latin typeface="Arial"/>
              </a:rPr>
              <a:t>DenseNet201 — Transfer Learning y dos cabezas</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Un único backbone convolucional que optimiza simultáneamente triaje binario y diagnóstico específico</a:t>
            </a:r>
          </a:p>
        </p:txBody>
      </p:sp>
      <p:sp>
        <p:nvSpPr>
          <p:cNvPr id="5" name="Rectangle 4"/>
          <p:cNvSpPr/>
          <p:nvPr/>
        </p:nvSpPr>
        <p:spPr>
          <a:xfrm>
            <a:off x="877824" y="2743200"/>
            <a:ext cx="2926080" cy="173736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97280" y="2743200"/>
            <a:ext cx="2487168" cy="1737360"/>
          </a:xfrm>
          <a:prstGeom prst="rect">
            <a:avLst/>
          </a:prstGeom>
          <a:noFill/>
        </p:spPr>
        <p:txBody>
          <a:bodyPr wrap="square" lIns="18288" rIns="18288" tIns="0" bIns="0" anchor="ctr">
            <a:spAutoFit/>
          </a:bodyPr>
          <a:lstStyle/>
          <a:p>
            <a:pPr algn="l">
              <a:lnSpc>
                <a:spcPct val="105000"/>
              </a:lnSpc>
              <a:spcBef>
                <a:spcPts val="0"/>
              </a:spcBef>
              <a:spcAft>
                <a:spcPts val="600"/>
              </a:spcAft>
            </a:pPr>
            <a:r>
              <a:rPr sz="2000" b="1" i="0">
                <a:solidFill>
                  <a:srgbClr val="00566C"/>
                </a:solidFill>
                <a:latin typeface="Arial"/>
              </a:rPr>
              <a:t>Entrada</a:t>
            </a:r>
          </a:p>
          <a:p>
            <a:pPr algn="l">
              <a:lnSpc>
                <a:spcPct val="105000"/>
              </a:lnSpc>
              <a:spcBef>
                <a:spcPts val="0"/>
              </a:spcBef>
              <a:spcAft>
                <a:spcPts val="0"/>
              </a:spcAft>
            </a:pPr>
            <a:r>
              <a:rPr sz="1500" b="0" i="0">
                <a:solidFill>
                  <a:srgbClr val="858591"/>
                </a:solidFill>
                <a:latin typeface="Arial"/>
              </a:rPr>
              <a:t>Imagen dermatoscópica
+ Data Augmentation
(flips h/v p=0,5 · rot. ±15°)</a:t>
            </a:r>
          </a:p>
        </p:txBody>
      </p:sp>
      <p:sp>
        <p:nvSpPr>
          <p:cNvPr id="7" name="TextBox 6"/>
          <p:cNvSpPr txBox="1"/>
          <p:nvPr/>
        </p:nvSpPr>
        <p:spPr>
          <a:xfrm>
            <a:off x="3840480" y="3401568"/>
            <a:ext cx="457200" cy="457200"/>
          </a:xfrm>
          <a:prstGeom prst="rect">
            <a:avLst/>
          </a:prstGeom>
          <a:noFill/>
        </p:spPr>
        <p:txBody>
          <a:bodyPr wrap="square" lIns="18288" rIns="18288" tIns="0" bIns="0" anchor="t">
            <a:spAutoFit/>
          </a:bodyPr>
          <a:lstStyle/>
          <a:p>
            <a:pPr algn="ctr">
              <a:spcBef>
                <a:spcPts val="0"/>
              </a:spcBef>
              <a:spcAft>
                <a:spcPts val="0"/>
              </a:spcAft>
            </a:pPr>
            <a:r>
              <a:rPr sz="1800" b="0" i="0">
                <a:solidFill>
                  <a:srgbClr val="C0C0C8"/>
                </a:solidFill>
                <a:latin typeface="Arial"/>
              </a:rPr>
              <a:t>▶</a:t>
            </a:r>
          </a:p>
        </p:txBody>
      </p:sp>
      <p:sp>
        <p:nvSpPr>
          <p:cNvPr id="8" name="Rectangle 7"/>
          <p:cNvSpPr/>
          <p:nvPr/>
        </p:nvSpPr>
        <p:spPr>
          <a:xfrm>
            <a:off x="4352544" y="2743200"/>
            <a:ext cx="3794760" cy="1737360"/>
          </a:xfrm>
          <a:prstGeom prst="rect">
            <a:avLst/>
          </a:prstGeom>
          <a:solidFill>
            <a:srgbClr val="0056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590288" y="2743200"/>
            <a:ext cx="3319272" cy="1737360"/>
          </a:xfrm>
          <a:prstGeom prst="rect">
            <a:avLst/>
          </a:prstGeom>
          <a:noFill/>
        </p:spPr>
        <p:txBody>
          <a:bodyPr wrap="square" lIns="18288" rIns="18288" tIns="0" bIns="0" anchor="ctr">
            <a:spAutoFit/>
          </a:bodyPr>
          <a:lstStyle/>
          <a:p>
            <a:pPr algn="l">
              <a:lnSpc>
                <a:spcPct val="105000"/>
              </a:lnSpc>
              <a:spcBef>
                <a:spcPts val="0"/>
              </a:spcBef>
              <a:spcAft>
                <a:spcPts val="600"/>
              </a:spcAft>
            </a:pPr>
            <a:r>
              <a:rPr sz="2000" b="1" i="0">
                <a:solidFill>
                  <a:srgbClr val="FFFFFF"/>
                </a:solidFill>
                <a:latin typeface="Arial"/>
              </a:rPr>
              <a:t>Backbone DenseNet201</a:t>
            </a:r>
          </a:p>
          <a:p>
            <a:pPr algn="l">
              <a:lnSpc>
                <a:spcPct val="105000"/>
              </a:lnSpc>
              <a:spcBef>
                <a:spcPts val="0"/>
              </a:spcBef>
              <a:spcAft>
                <a:spcPts val="0"/>
              </a:spcAft>
            </a:pPr>
            <a:r>
              <a:rPr sz="1500" b="0" i="0">
                <a:solidFill>
                  <a:srgbClr val="BFDEEA"/>
                </a:solidFill>
                <a:latin typeface="Arial"/>
              </a:rPr>
              <a:t>Preentrenado en ImageNet · Bloques densos
Global Average Pooling → vector compartido</a:t>
            </a:r>
          </a:p>
        </p:txBody>
      </p:sp>
      <p:sp>
        <p:nvSpPr>
          <p:cNvPr id="10" name="TextBox 9"/>
          <p:cNvSpPr txBox="1"/>
          <p:nvPr/>
        </p:nvSpPr>
        <p:spPr>
          <a:xfrm>
            <a:off x="8183879" y="3401568"/>
            <a:ext cx="457200" cy="457200"/>
          </a:xfrm>
          <a:prstGeom prst="rect">
            <a:avLst/>
          </a:prstGeom>
          <a:noFill/>
        </p:spPr>
        <p:txBody>
          <a:bodyPr wrap="square" lIns="18288" rIns="18288" tIns="0" bIns="0" anchor="t">
            <a:spAutoFit/>
          </a:bodyPr>
          <a:lstStyle/>
          <a:p>
            <a:pPr algn="ctr">
              <a:spcBef>
                <a:spcPts val="0"/>
              </a:spcBef>
              <a:spcAft>
                <a:spcPts val="0"/>
              </a:spcAft>
            </a:pPr>
            <a:r>
              <a:rPr sz="1800" b="0" i="0">
                <a:solidFill>
                  <a:srgbClr val="C0C0C8"/>
                </a:solidFill>
                <a:latin typeface="Arial"/>
              </a:rPr>
              <a:t>▶</a:t>
            </a:r>
          </a:p>
        </p:txBody>
      </p:sp>
      <p:sp>
        <p:nvSpPr>
          <p:cNvPr id="11" name="Rectangle 10"/>
          <p:cNvSpPr/>
          <p:nvPr/>
        </p:nvSpPr>
        <p:spPr>
          <a:xfrm>
            <a:off x="8695944" y="2487168"/>
            <a:ext cx="4160520" cy="1005840"/>
          </a:xfrm>
          <a:prstGeom prst="rect">
            <a:avLst/>
          </a:prstGeom>
          <a:solidFill>
            <a:srgbClr val="DDE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695944" y="2487168"/>
            <a:ext cx="64008" cy="100584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70263" y="2487168"/>
            <a:ext cx="3749039" cy="1005840"/>
          </a:xfrm>
          <a:prstGeom prst="rect">
            <a:avLst/>
          </a:prstGeom>
          <a:noFill/>
        </p:spPr>
        <p:txBody>
          <a:bodyPr wrap="square" lIns="18288" rIns="18288" tIns="0" bIns="0" anchor="ctr">
            <a:spAutoFit/>
          </a:bodyPr>
          <a:lstStyle/>
          <a:p>
            <a:pPr algn="l">
              <a:lnSpc>
                <a:spcPct val="102000"/>
              </a:lnSpc>
              <a:spcBef>
                <a:spcPts val="0"/>
              </a:spcBef>
              <a:spcAft>
                <a:spcPts val="400"/>
              </a:spcAft>
            </a:pPr>
            <a:r>
              <a:rPr sz="1900" b="1" i="0">
                <a:solidFill>
                  <a:srgbClr val="00566C"/>
                </a:solidFill>
                <a:latin typeface="Arial"/>
              </a:rPr>
              <a:t>Cabeza A — Triaje binario</a:t>
            </a:r>
          </a:p>
          <a:p>
            <a:pPr algn="l">
              <a:lnSpc>
                <a:spcPct val="102000"/>
              </a:lnSpc>
              <a:spcBef>
                <a:spcPts val="0"/>
              </a:spcBef>
              <a:spcAft>
                <a:spcPts val="0"/>
              </a:spcAft>
            </a:pPr>
            <a:r>
              <a:rPr sz="1500" b="0" i="0">
                <a:solidFill>
                  <a:srgbClr val="858591"/>
                </a:solidFill>
                <a:latin typeface="Arial"/>
              </a:rPr>
              <a:t>2 neuronas: Benigno vs. Maligno · Cross-Entropy</a:t>
            </a:r>
          </a:p>
        </p:txBody>
      </p:sp>
      <p:sp>
        <p:nvSpPr>
          <p:cNvPr id="14" name="Rectangle 13"/>
          <p:cNvSpPr/>
          <p:nvPr/>
        </p:nvSpPr>
        <p:spPr>
          <a:xfrm>
            <a:off x="8695944" y="3730752"/>
            <a:ext cx="4160520" cy="100584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695944" y="3730752"/>
            <a:ext cx="64008" cy="1005840"/>
          </a:xfrm>
          <a:prstGeom prst="rect">
            <a:avLst/>
          </a:prstGeom>
          <a:solidFill>
            <a:srgbClr val="85859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70263" y="3730752"/>
            <a:ext cx="3749039" cy="1005840"/>
          </a:xfrm>
          <a:prstGeom prst="rect">
            <a:avLst/>
          </a:prstGeom>
          <a:noFill/>
        </p:spPr>
        <p:txBody>
          <a:bodyPr wrap="square" lIns="18288" rIns="18288" tIns="0" bIns="0" anchor="ctr">
            <a:spAutoFit/>
          </a:bodyPr>
          <a:lstStyle/>
          <a:p>
            <a:pPr algn="l">
              <a:lnSpc>
                <a:spcPct val="102000"/>
              </a:lnSpc>
              <a:spcBef>
                <a:spcPts val="0"/>
              </a:spcBef>
              <a:spcAft>
                <a:spcPts val="400"/>
              </a:spcAft>
            </a:pPr>
            <a:r>
              <a:rPr sz="1900" b="1" i="0">
                <a:solidFill>
                  <a:srgbClr val="00566C"/>
                </a:solidFill>
                <a:latin typeface="Arial"/>
              </a:rPr>
              <a:t>Cabeza B — Diagnóstico específico</a:t>
            </a:r>
          </a:p>
          <a:p>
            <a:pPr algn="l">
              <a:lnSpc>
                <a:spcPct val="102000"/>
              </a:lnSpc>
              <a:spcBef>
                <a:spcPts val="0"/>
              </a:spcBef>
              <a:spcAft>
                <a:spcPts val="0"/>
              </a:spcAft>
            </a:pPr>
            <a:r>
              <a:rPr sz="1500" b="0" i="0">
                <a:solidFill>
                  <a:srgbClr val="858591"/>
                </a:solidFill>
                <a:latin typeface="Arial"/>
              </a:rPr>
              <a:t>7 neuronas · Weighted Cross-Entropy</a:t>
            </a:r>
          </a:p>
        </p:txBody>
      </p:sp>
      <p:sp>
        <p:nvSpPr>
          <p:cNvPr id="17" name="Rectangle 16"/>
          <p:cNvSpPr/>
          <p:nvPr/>
        </p:nvSpPr>
        <p:spPr>
          <a:xfrm>
            <a:off x="13130784" y="2743200"/>
            <a:ext cx="4279392" cy="173736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3130784" y="2743200"/>
            <a:ext cx="64008" cy="173736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3423392" y="2743200"/>
            <a:ext cx="3840480" cy="1737360"/>
          </a:xfrm>
          <a:prstGeom prst="rect">
            <a:avLst/>
          </a:prstGeom>
          <a:noFill/>
        </p:spPr>
        <p:txBody>
          <a:bodyPr wrap="square" lIns="18288" rIns="18288" tIns="0" bIns="0" anchor="ctr">
            <a:spAutoFit/>
          </a:bodyPr>
          <a:lstStyle/>
          <a:p>
            <a:pPr algn="l">
              <a:lnSpc>
                <a:spcPct val="105000"/>
              </a:lnSpc>
              <a:spcBef>
                <a:spcPts val="0"/>
              </a:spcBef>
              <a:spcAft>
                <a:spcPts val="600"/>
              </a:spcAft>
            </a:pPr>
            <a:r>
              <a:rPr sz="2000" b="1" i="0">
                <a:solidFill>
                  <a:srgbClr val="00566C"/>
                </a:solidFill>
                <a:latin typeface="Arial"/>
              </a:rPr>
              <a:t>Pérdida conjunta</a:t>
            </a:r>
          </a:p>
          <a:p>
            <a:pPr algn="l">
              <a:lnSpc>
                <a:spcPct val="105000"/>
              </a:lnSpc>
              <a:spcBef>
                <a:spcPts val="0"/>
              </a:spcBef>
              <a:spcAft>
                <a:spcPts val="0"/>
              </a:spcAft>
            </a:pPr>
            <a:r>
              <a:rPr sz="1500" b="0" i="0">
                <a:solidFill>
                  <a:srgbClr val="858591"/>
                </a:solidFill>
                <a:latin typeface="Arial"/>
              </a:rPr>
              <a:t>0,5 × pérdida binaria  +  0,5 × pérdida específica
Ambas tareas entrenan el mismo backbone</a:t>
            </a:r>
          </a:p>
        </p:txBody>
      </p:sp>
      <p:sp>
        <p:nvSpPr>
          <p:cNvPr id="20" name="Rectangle 19"/>
          <p:cNvSpPr/>
          <p:nvPr/>
        </p:nvSpPr>
        <p:spPr>
          <a:xfrm>
            <a:off x="877824" y="4892040"/>
            <a:ext cx="3845051" cy="16459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877824" y="4892040"/>
            <a:ext cx="384505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188720" y="5074920"/>
            <a:ext cx="3223259" cy="1280160"/>
          </a:xfrm>
          <a:prstGeom prst="rect">
            <a:avLst/>
          </a:prstGeom>
          <a:noFill/>
        </p:spPr>
        <p:txBody>
          <a:bodyPr wrap="square" lIns="18288" rIns="18288" tIns="0" bIns="0" anchor="ctr">
            <a:spAutoFit/>
          </a:bodyPr>
          <a:lstStyle/>
          <a:p>
            <a:pPr algn="l">
              <a:lnSpc>
                <a:spcPct val="95000"/>
              </a:lnSpc>
              <a:spcBef>
                <a:spcPts val="0"/>
              </a:spcBef>
              <a:spcAft>
                <a:spcPts val="400"/>
              </a:spcAft>
            </a:pPr>
            <a:r>
              <a:rPr sz="3600" b="1" i="0">
                <a:solidFill>
                  <a:srgbClr val="219BC3"/>
                </a:solidFill>
                <a:latin typeface="Arial"/>
              </a:rPr>
              <a:t>18.110.217</a:t>
            </a:r>
          </a:p>
          <a:p>
            <a:pPr algn="l">
              <a:lnSpc>
                <a:spcPct val="95000"/>
              </a:lnSpc>
              <a:spcBef>
                <a:spcPts val="0"/>
              </a:spcBef>
              <a:spcAft>
                <a:spcPts val="200"/>
              </a:spcAft>
            </a:pPr>
            <a:r>
              <a:rPr sz="1800" b="1" i="0">
                <a:solidFill>
                  <a:srgbClr val="00566C"/>
                </a:solidFill>
                <a:latin typeface="Arial"/>
              </a:rPr>
              <a:t>Parámetros entrenables</a:t>
            </a:r>
          </a:p>
          <a:p>
            <a:pPr algn="l">
              <a:lnSpc>
                <a:spcPct val="95000"/>
              </a:lnSpc>
              <a:spcBef>
                <a:spcPts val="0"/>
              </a:spcBef>
              <a:spcAft>
                <a:spcPts val="0"/>
              </a:spcAft>
            </a:pPr>
            <a:r>
              <a:rPr sz="1500" b="0" i="0">
                <a:solidFill>
                  <a:srgbClr val="858591"/>
                </a:solidFill>
                <a:latin typeface="Arial"/>
              </a:rPr>
              <a:t>Transfer Learning desde ImageNet</a:t>
            </a:r>
          </a:p>
        </p:txBody>
      </p:sp>
      <p:sp>
        <p:nvSpPr>
          <p:cNvPr id="23" name="Rectangle 22"/>
          <p:cNvSpPr/>
          <p:nvPr/>
        </p:nvSpPr>
        <p:spPr>
          <a:xfrm>
            <a:off x="5106923" y="4892040"/>
            <a:ext cx="3845051" cy="16459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106923" y="4892040"/>
            <a:ext cx="384505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417819" y="5074920"/>
            <a:ext cx="3223259" cy="1280160"/>
          </a:xfrm>
          <a:prstGeom prst="rect">
            <a:avLst/>
          </a:prstGeom>
          <a:noFill/>
        </p:spPr>
        <p:txBody>
          <a:bodyPr wrap="square" lIns="18288" rIns="18288" tIns="0" bIns="0" anchor="ctr">
            <a:spAutoFit/>
          </a:bodyPr>
          <a:lstStyle/>
          <a:p>
            <a:pPr algn="l">
              <a:lnSpc>
                <a:spcPct val="95000"/>
              </a:lnSpc>
              <a:spcBef>
                <a:spcPts val="0"/>
              </a:spcBef>
              <a:spcAft>
                <a:spcPts val="400"/>
              </a:spcAft>
            </a:pPr>
            <a:r>
              <a:rPr sz="3600" b="1" i="0">
                <a:solidFill>
                  <a:srgbClr val="219BC3"/>
                </a:solidFill>
                <a:latin typeface="Arial"/>
              </a:rPr>
              <a:t>30 épocas</a:t>
            </a:r>
          </a:p>
          <a:p>
            <a:pPr algn="l">
              <a:lnSpc>
                <a:spcPct val="95000"/>
              </a:lnSpc>
              <a:spcBef>
                <a:spcPts val="0"/>
              </a:spcBef>
              <a:spcAft>
                <a:spcPts val="200"/>
              </a:spcAft>
            </a:pPr>
            <a:r>
              <a:rPr sz="1800" b="1" i="0">
                <a:solidFill>
                  <a:srgbClr val="00566C"/>
                </a:solidFill>
                <a:latin typeface="Arial"/>
              </a:rPr>
              <a:t>Batch = 32</a:t>
            </a:r>
          </a:p>
          <a:p>
            <a:pPr algn="l">
              <a:lnSpc>
                <a:spcPct val="95000"/>
              </a:lnSpc>
              <a:spcBef>
                <a:spcPts val="0"/>
              </a:spcBef>
              <a:spcAft>
                <a:spcPts val="0"/>
              </a:spcAft>
            </a:pPr>
            <a:r>
              <a:rPr sz="1500" b="0" i="0">
                <a:solidFill>
                  <a:srgbClr val="858591"/>
                </a:solidFill>
                <a:latin typeface="Arial"/>
              </a:rPr>
              <a:t>Adam · lr = 1e-4 · weight decay = 1e-4</a:t>
            </a:r>
          </a:p>
        </p:txBody>
      </p:sp>
      <p:sp>
        <p:nvSpPr>
          <p:cNvPr id="26" name="Rectangle 25"/>
          <p:cNvSpPr/>
          <p:nvPr/>
        </p:nvSpPr>
        <p:spPr>
          <a:xfrm>
            <a:off x="9336023" y="4892040"/>
            <a:ext cx="3845051" cy="16459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9336023" y="4892040"/>
            <a:ext cx="384505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9646919" y="5074920"/>
            <a:ext cx="3223259" cy="1280160"/>
          </a:xfrm>
          <a:prstGeom prst="rect">
            <a:avLst/>
          </a:prstGeom>
          <a:noFill/>
        </p:spPr>
        <p:txBody>
          <a:bodyPr wrap="square" lIns="18288" rIns="18288" tIns="0" bIns="0" anchor="ctr">
            <a:spAutoFit/>
          </a:bodyPr>
          <a:lstStyle/>
          <a:p>
            <a:pPr algn="l">
              <a:lnSpc>
                <a:spcPct val="95000"/>
              </a:lnSpc>
              <a:spcBef>
                <a:spcPts val="0"/>
              </a:spcBef>
              <a:spcAft>
                <a:spcPts val="400"/>
              </a:spcAft>
            </a:pPr>
            <a:r>
              <a:rPr sz="3600" b="1" i="0">
                <a:solidFill>
                  <a:srgbClr val="219BC3"/>
                </a:solidFill>
                <a:latin typeface="Arial"/>
              </a:rPr>
              <a:t>0,5 / 0,5</a:t>
            </a:r>
          </a:p>
          <a:p>
            <a:pPr algn="l">
              <a:lnSpc>
                <a:spcPct val="95000"/>
              </a:lnSpc>
              <a:spcBef>
                <a:spcPts val="0"/>
              </a:spcBef>
              <a:spcAft>
                <a:spcPts val="200"/>
              </a:spcAft>
            </a:pPr>
            <a:r>
              <a:rPr sz="1800" b="1" i="0">
                <a:solidFill>
                  <a:srgbClr val="00566C"/>
                </a:solidFill>
                <a:latin typeface="Arial"/>
              </a:rPr>
              <a:t>Pérdida conjunta A + B</a:t>
            </a:r>
          </a:p>
          <a:p>
            <a:pPr algn="l">
              <a:lnSpc>
                <a:spcPct val="95000"/>
              </a:lnSpc>
              <a:spcBef>
                <a:spcPts val="0"/>
              </a:spcBef>
              <a:spcAft>
                <a:spcPts val="0"/>
              </a:spcAft>
            </a:pPr>
            <a:r>
              <a:rPr sz="1500" b="0" i="0">
                <a:solidFill>
                  <a:srgbClr val="858591"/>
                </a:solidFill>
                <a:latin typeface="Arial"/>
              </a:rPr>
              <a:t>ReduceLROnPlateau · factor 0,1 · paciencia 3</a:t>
            </a:r>
          </a:p>
        </p:txBody>
      </p:sp>
      <p:sp>
        <p:nvSpPr>
          <p:cNvPr id="29" name="Rectangle 28"/>
          <p:cNvSpPr/>
          <p:nvPr/>
        </p:nvSpPr>
        <p:spPr>
          <a:xfrm>
            <a:off x="13565123" y="4892040"/>
            <a:ext cx="3845051" cy="16459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3565123" y="4892040"/>
            <a:ext cx="3845051"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3876019" y="5074920"/>
            <a:ext cx="3223259" cy="1280160"/>
          </a:xfrm>
          <a:prstGeom prst="rect">
            <a:avLst/>
          </a:prstGeom>
          <a:noFill/>
        </p:spPr>
        <p:txBody>
          <a:bodyPr wrap="square" lIns="18288" rIns="18288" tIns="0" bIns="0" anchor="ctr">
            <a:spAutoFit/>
          </a:bodyPr>
          <a:lstStyle/>
          <a:p>
            <a:pPr algn="l">
              <a:lnSpc>
                <a:spcPct val="95000"/>
              </a:lnSpc>
              <a:spcBef>
                <a:spcPts val="0"/>
              </a:spcBef>
              <a:spcAft>
                <a:spcPts val="400"/>
              </a:spcAft>
            </a:pPr>
            <a:r>
              <a:rPr sz="3600" b="1" i="0">
                <a:solidFill>
                  <a:srgbClr val="219BC3"/>
                </a:solidFill>
                <a:latin typeface="Arial"/>
              </a:rPr>
              <a:t>62,3 min</a:t>
            </a:r>
          </a:p>
          <a:p>
            <a:pPr algn="l">
              <a:lnSpc>
                <a:spcPct val="95000"/>
              </a:lnSpc>
              <a:spcBef>
                <a:spcPts val="0"/>
              </a:spcBef>
              <a:spcAft>
                <a:spcPts val="200"/>
              </a:spcAft>
            </a:pPr>
            <a:r>
              <a:rPr sz="1800" b="1" i="0">
                <a:solidFill>
                  <a:srgbClr val="00566C"/>
                </a:solidFill>
                <a:latin typeface="Arial"/>
              </a:rPr>
              <a:t>Entrenamiento en GPU</a:t>
            </a:r>
          </a:p>
          <a:p>
            <a:pPr algn="l">
              <a:lnSpc>
                <a:spcPct val="95000"/>
              </a:lnSpc>
              <a:spcBef>
                <a:spcPts val="0"/>
              </a:spcBef>
              <a:spcAft>
                <a:spcPts val="0"/>
              </a:spcAft>
            </a:pPr>
            <a:r>
              <a:rPr sz="1500" b="0" i="0">
                <a:solidFill>
                  <a:srgbClr val="858591"/>
                </a:solidFill>
                <a:latin typeface="Arial"/>
              </a:rPr>
              <a:t>130,2 min en el Escenario 1</a:t>
            </a:r>
          </a:p>
        </p:txBody>
      </p:sp>
      <p:pic>
        <p:nvPicPr>
          <p:cNvPr id="32" name="Picture 31" descr="t-020.png"/>
          <p:cNvPicPr>
            <a:picLocks noChangeAspect="1"/>
          </p:cNvPicPr>
          <p:nvPr/>
        </p:nvPicPr>
        <p:blipFill>
          <a:blip r:embed="rId2"/>
          <a:stretch>
            <a:fillRect/>
          </a:stretch>
        </p:blipFill>
        <p:spPr>
          <a:xfrm>
            <a:off x="877824" y="6784848"/>
            <a:ext cx="5806343" cy="2011680"/>
          </a:xfrm>
          <a:prstGeom prst="rect">
            <a:avLst/>
          </a:prstGeom>
        </p:spPr>
      </p:pic>
      <p:sp>
        <p:nvSpPr>
          <p:cNvPr id="33" name="Rectangle 32"/>
          <p:cNvSpPr/>
          <p:nvPr/>
        </p:nvSpPr>
        <p:spPr>
          <a:xfrm>
            <a:off x="7141464" y="6784848"/>
            <a:ext cx="10268711" cy="2011680"/>
          </a:xfrm>
          <a:prstGeom prst="rect">
            <a:avLst/>
          </a:prstGeom>
          <a:solidFill>
            <a:srgbClr val="DDE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7141464" y="6784848"/>
            <a:ext cx="68580" cy="2011680"/>
          </a:xfrm>
          <a:prstGeom prst="rect">
            <a:avLst/>
          </a:prstGeom>
          <a:solidFill>
            <a:srgbClr val="0056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479792" y="6986016"/>
            <a:ext cx="9628631" cy="1627632"/>
          </a:xfrm>
          <a:prstGeom prst="rect">
            <a:avLst/>
          </a:prstGeom>
          <a:noFill/>
        </p:spPr>
        <p:txBody>
          <a:bodyPr wrap="square" lIns="18288" rIns="18288" tIns="0" bIns="0" anchor="t">
            <a:spAutoFit/>
          </a:bodyPr>
          <a:lstStyle/>
          <a:p>
            <a:pPr algn="l">
              <a:lnSpc>
                <a:spcPct val="105000"/>
              </a:lnSpc>
              <a:spcBef>
                <a:spcPts val="0"/>
              </a:spcBef>
              <a:spcAft>
                <a:spcPts val="800"/>
              </a:spcAft>
            </a:pPr>
            <a:r>
              <a:rPr sz="2000" b="1" i="0">
                <a:solidFill>
                  <a:srgbClr val="00566C"/>
                </a:solidFill>
                <a:latin typeface="Arial"/>
              </a:rPr>
              <a:t>¿Por qué DenseNet201 y por qué dos cabezas?</a:t>
            </a:r>
          </a:p>
          <a:p>
            <a:pPr algn="l">
              <a:lnSpc>
                <a:spcPct val="105000"/>
              </a:lnSpc>
              <a:spcBef>
                <a:spcPts val="0"/>
              </a:spcBef>
              <a:spcAft>
                <a:spcPts val="0"/>
              </a:spcAft>
            </a:pPr>
            <a:r>
              <a:rPr sz="1700" b="0" i="0">
                <a:solidFill>
                  <a:srgbClr val="0C0B0B"/>
                </a:solidFill>
                <a:latin typeface="Arial"/>
              </a:rPr>
              <a:t>Los bloques densos conectan cada capa con todas las precedentes: maximizan el flujo de gradientes, mitigan el desvanecimiento y reutilizan características sin disparar el número de parámetros. Las dos cabezas permiten responder a la vez a la pregunta de triaje («¿es sospechosa?») y a la de diagnóstico («¿qué patología es?») con un único coste de entrenamiento.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9015984"/>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015984"/>
            <a:ext cx="18288000" cy="12725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2103120" y="2788920"/>
            <a:ext cx="82296"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2615184" y="2697480"/>
            <a:ext cx="12344400" cy="1417320"/>
          </a:xfrm>
          <a:prstGeom prst="rect">
            <a:avLst/>
          </a:prstGeom>
          <a:noFill/>
        </p:spPr>
        <p:txBody>
          <a:bodyPr wrap="square" lIns="18288" rIns="18288" tIns="0" bIns="0" anchor="t">
            <a:spAutoFit/>
          </a:bodyPr>
          <a:lstStyle/>
          <a:p>
            <a:pPr algn="l">
              <a:spcBef>
                <a:spcPts val="0"/>
              </a:spcBef>
              <a:spcAft>
                <a:spcPts val="0"/>
              </a:spcAft>
            </a:pPr>
            <a:r>
              <a:rPr sz="9600" b="1" i="0">
                <a:solidFill>
                  <a:srgbClr val="FFFFFF"/>
                </a:solidFill>
                <a:latin typeface="Arial"/>
              </a:rPr>
              <a:t>06</a:t>
            </a:r>
          </a:p>
        </p:txBody>
      </p:sp>
      <p:sp>
        <p:nvSpPr>
          <p:cNvPr id="6" name="TextBox 5"/>
          <p:cNvSpPr txBox="1"/>
          <p:nvPr/>
        </p:nvSpPr>
        <p:spPr>
          <a:xfrm>
            <a:off x="2651760" y="4160520"/>
            <a:ext cx="13716000" cy="1234440"/>
          </a:xfrm>
          <a:prstGeom prst="rect">
            <a:avLst/>
          </a:prstGeom>
          <a:noFill/>
        </p:spPr>
        <p:txBody>
          <a:bodyPr wrap="square" lIns="18288" rIns="18288" tIns="0" bIns="0" anchor="t">
            <a:spAutoFit/>
          </a:bodyPr>
          <a:lstStyle/>
          <a:p>
            <a:pPr algn="l">
              <a:lnSpc>
                <a:spcPct val="95000"/>
              </a:lnSpc>
              <a:spcBef>
                <a:spcPts val="0"/>
              </a:spcBef>
              <a:spcAft>
                <a:spcPts val="0"/>
              </a:spcAft>
            </a:pPr>
            <a:r>
              <a:rPr sz="5400" b="1" i="0">
                <a:solidFill>
                  <a:srgbClr val="FFFFFF"/>
                </a:solidFill>
                <a:latin typeface="Arial"/>
              </a:rPr>
              <a:t>Evaluación y resultados</a:t>
            </a:r>
          </a:p>
        </p:txBody>
      </p:sp>
      <p:sp>
        <p:nvSpPr>
          <p:cNvPr id="7" name="TextBox 6"/>
          <p:cNvSpPr txBox="1"/>
          <p:nvPr/>
        </p:nvSpPr>
        <p:spPr>
          <a:xfrm>
            <a:off x="2651760" y="5440680"/>
            <a:ext cx="13258800" cy="822960"/>
          </a:xfrm>
          <a:prstGeom prst="rect">
            <a:avLst/>
          </a:prstGeom>
          <a:noFill/>
        </p:spPr>
        <p:txBody>
          <a:bodyPr wrap="square" lIns="18288" rIns="18288" tIns="0" bIns="0" anchor="t">
            <a:spAutoFit/>
          </a:bodyPr>
          <a:lstStyle/>
          <a:p>
            <a:pPr algn="l">
              <a:spcBef>
                <a:spcPts val="0"/>
              </a:spcBef>
              <a:spcAft>
                <a:spcPts val="0"/>
              </a:spcAft>
            </a:pPr>
            <a:r>
              <a:rPr sz="2400" b="0" i="0">
                <a:solidFill>
                  <a:srgbClr val="FFFFFF"/>
                </a:solidFill>
                <a:latin typeface="Arial"/>
              </a:rPr>
              <a:t>Qué gana cada estrategia de datos y qué algoritmo responde mejor a la pregunta clínica</a:t>
            </a:r>
          </a:p>
        </p:txBody>
      </p:sp>
      <p:sp>
        <p:nvSpPr>
          <p:cNvPr id="8" name="TextBox 7"/>
          <p:cNvSpPr txBox="1"/>
          <p:nvPr/>
        </p:nvSpPr>
        <p:spPr>
          <a:xfrm>
            <a:off x="2651760" y="6446520"/>
            <a:ext cx="13258800" cy="457200"/>
          </a:xfrm>
          <a:prstGeom prst="rect">
            <a:avLst/>
          </a:prstGeom>
          <a:noFill/>
        </p:spPr>
        <p:txBody>
          <a:bodyPr wrap="square" lIns="18288" rIns="18288" tIns="0" bIns="0" anchor="t">
            <a:spAutoFit/>
          </a:bodyPr>
          <a:lstStyle/>
          <a:p>
            <a:pPr algn="l">
              <a:spcBef>
                <a:spcPts val="0"/>
              </a:spcBef>
              <a:spcAft>
                <a:spcPts val="0"/>
              </a:spcAft>
            </a:pPr>
            <a:r>
              <a:rPr sz="1900" b="1" i="0">
                <a:solidFill>
                  <a:srgbClr val="FFFFFF"/>
                </a:solidFill>
                <a:latin typeface="Arial"/>
              </a:rPr>
              <a:t>6 minutos</a:t>
            </a:r>
            <a:r>
              <a:rPr sz="1900" b="0" i="0">
                <a:solidFill>
                  <a:srgbClr val="FFFFFF"/>
                </a:solidFill>
                <a:latin typeface="Arial"/>
              </a:rPr>
              <a:t>     ·     </a:t>
            </a:r>
            <a:r>
              <a:rPr sz="1900" b="0" i="0">
                <a:solidFill>
                  <a:srgbClr val="FFFFFF"/>
                </a:solidFill>
                <a:latin typeface="Arial"/>
              </a:rPr>
              <a:t>Expone: Alvaro</a:t>
            </a:r>
          </a:p>
        </p:txBody>
      </p:sp>
      <p:sp>
        <p:nvSpPr>
          <p:cNvPr id="9" name="TextBox 8"/>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24</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EVALUACIÓN Y RESULTADOS</a:t>
            </a:r>
          </a:p>
          <a:p>
            <a:pPr algn="l">
              <a:lnSpc>
                <a:spcPct val="92000"/>
              </a:lnSpc>
              <a:spcBef>
                <a:spcPts val="0"/>
              </a:spcBef>
              <a:spcAft>
                <a:spcPts val="0"/>
              </a:spcAft>
            </a:pPr>
            <a:r>
              <a:rPr sz="4000" b="1" i="0">
                <a:solidFill>
                  <a:srgbClr val="00566C"/>
                </a:solidFill>
                <a:latin typeface="Arial"/>
              </a:rPr>
              <a:t>SVM — El efecto de balancear el dataset</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Mismo algoritmo, mismos hiperparámetros y mismo preprocesamiento: solo cambia la estrategia de datos</a:t>
            </a:r>
          </a:p>
        </p:txBody>
      </p:sp>
      <p:pic>
        <p:nvPicPr>
          <p:cNvPr id="5" name="Picture 4" descr="c2_svm_global.png"/>
          <p:cNvPicPr>
            <a:picLocks noChangeAspect="1"/>
          </p:cNvPicPr>
          <p:nvPr/>
        </p:nvPicPr>
        <p:blipFill>
          <a:blip r:embed="rId2"/>
          <a:stretch>
            <a:fillRect/>
          </a:stretch>
        </p:blipFill>
        <p:spPr>
          <a:xfrm>
            <a:off x="877824" y="2267712"/>
            <a:ext cx="8394000" cy="4069080"/>
          </a:xfrm>
          <a:prstGeom prst="rect">
            <a:avLst/>
          </a:prstGeom>
        </p:spPr>
      </p:pic>
      <p:sp>
        <p:nvSpPr>
          <p:cNvPr id="6" name="TextBox 5"/>
          <p:cNvSpPr txBox="1"/>
          <p:nvPr/>
        </p:nvSpPr>
        <p:spPr>
          <a:xfrm>
            <a:off x="9656063" y="2304288"/>
            <a:ext cx="7754111" cy="457200"/>
          </a:xfrm>
          <a:prstGeom prst="rect">
            <a:avLst/>
          </a:prstGeom>
          <a:noFill/>
        </p:spPr>
        <p:txBody>
          <a:bodyPr wrap="square" lIns="18288" rIns="18288" tIns="0" bIns="0" anchor="t">
            <a:spAutoFit/>
          </a:bodyPr>
          <a:lstStyle/>
          <a:p>
            <a:pPr algn="l">
              <a:spcBef>
                <a:spcPts val="0"/>
              </a:spcBef>
              <a:spcAft>
                <a:spcPts val="0"/>
              </a:spcAft>
            </a:pPr>
            <a:r>
              <a:rPr sz="2200" b="1" i="0">
                <a:solidFill>
                  <a:srgbClr val="00566C"/>
                </a:solidFill>
                <a:latin typeface="Arial"/>
              </a:rPr>
              <a:t>Lectura de los resultados</a:t>
            </a:r>
          </a:p>
        </p:txBody>
      </p:sp>
      <p:sp>
        <p:nvSpPr>
          <p:cNvPr id="7" name="Rectangle 6"/>
          <p:cNvSpPr/>
          <p:nvPr/>
        </p:nvSpPr>
        <p:spPr>
          <a:xfrm>
            <a:off x="9656063" y="2880360"/>
            <a:ext cx="7754111" cy="1133856"/>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9656063" y="2880360"/>
            <a:ext cx="64008" cy="1133856"/>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948672" y="3026664"/>
            <a:ext cx="7159751" cy="896112"/>
          </a:xfrm>
          <a:prstGeom prst="rect">
            <a:avLst/>
          </a:prstGeom>
          <a:noFill/>
        </p:spPr>
        <p:txBody>
          <a:bodyPr wrap="square" lIns="18288" rIns="18288" tIns="0" bIns="0" anchor="t">
            <a:spAutoFit/>
          </a:bodyPr>
          <a:lstStyle/>
          <a:p>
            <a:pPr algn="l">
              <a:lnSpc>
                <a:spcPct val="102000"/>
              </a:lnSpc>
              <a:spcBef>
                <a:spcPts val="0"/>
              </a:spcBef>
              <a:spcAft>
                <a:spcPts val="300"/>
              </a:spcAft>
            </a:pPr>
            <a:r>
              <a:rPr sz="1800" b="1" i="0">
                <a:solidFill>
                  <a:srgbClr val="00566C"/>
                </a:solidFill>
                <a:latin typeface="Arial"/>
              </a:rPr>
              <a:t>Exactitud balanceada</a:t>
            </a:r>
          </a:p>
          <a:p>
            <a:pPr algn="l">
              <a:lnSpc>
                <a:spcPct val="102000"/>
              </a:lnSpc>
              <a:spcBef>
                <a:spcPts val="0"/>
              </a:spcBef>
              <a:spcAft>
                <a:spcPts val="300"/>
              </a:spcAft>
            </a:pPr>
            <a:r>
              <a:rPr sz="2000" b="1" i="0">
                <a:solidFill>
                  <a:srgbClr val="219BC3"/>
                </a:solidFill>
                <a:latin typeface="Arial"/>
              </a:rPr>
              <a:t>0,517 → 0,794</a:t>
            </a:r>
          </a:p>
          <a:p>
            <a:pPr algn="l">
              <a:lnSpc>
                <a:spcPct val="102000"/>
              </a:lnSpc>
              <a:spcBef>
                <a:spcPts val="0"/>
              </a:spcBef>
              <a:spcAft>
                <a:spcPts val="0"/>
              </a:spcAft>
            </a:pPr>
            <a:r>
              <a:rPr sz="1500" b="0" i="0">
                <a:solidFill>
                  <a:srgbClr val="858591"/>
                </a:solidFill>
                <a:latin typeface="Arial"/>
              </a:rPr>
              <a:t>Deja de estar dominada por la clase mayoritaria.</a:t>
            </a:r>
          </a:p>
        </p:txBody>
      </p:sp>
      <p:sp>
        <p:nvSpPr>
          <p:cNvPr id="10" name="Rectangle 9"/>
          <p:cNvSpPr/>
          <p:nvPr/>
        </p:nvSpPr>
        <p:spPr>
          <a:xfrm>
            <a:off x="9656063" y="4142231"/>
            <a:ext cx="7754111" cy="1133856"/>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9656063" y="4142231"/>
            <a:ext cx="64008" cy="1133856"/>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948672" y="4288536"/>
            <a:ext cx="7159751" cy="896112"/>
          </a:xfrm>
          <a:prstGeom prst="rect">
            <a:avLst/>
          </a:prstGeom>
          <a:noFill/>
        </p:spPr>
        <p:txBody>
          <a:bodyPr wrap="square" lIns="18288" rIns="18288" tIns="0" bIns="0" anchor="t">
            <a:spAutoFit/>
          </a:bodyPr>
          <a:lstStyle/>
          <a:p>
            <a:pPr algn="l">
              <a:lnSpc>
                <a:spcPct val="102000"/>
              </a:lnSpc>
              <a:spcBef>
                <a:spcPts val="0"/>
              </a:spcBef>
              <a:spcAft>
                <a:spcPts val="300"/>
              </a:spcAft>
            </a:pPr>
            <a:r>
              <a:rPr sz="1800" b="1" i="0">
                <a:solidFill>
                  <a:srgbClr val="00566C"/>
                </a:solidFill>
                <a:latin typeface="Arial"/>
              </a:rPr>
              <a:t>F1 macro</a:t>
            </a:r>
          </a:p>
          <a:p>
            <a:pPr algn="l">
              <a:lnSpc>
                <a:spcPct val="102000"/>
              </a:lnSpc>
              <a:spcBef>
                <a:spcPts val="0"/>
              </a:spcBef>
              <a:spcAft>
                <a:spcPts val="300"/>
              </a:spcAft>
            </a:pPr>
            <a:r>
              <a:rPr sz="2000" b="1" i="0">
                <a:solidFill>
                  <a:srgbClr val="219BC3"/>
                </a:solidFill>
                <a:latin typeface="Arial"/>
              </a:rPr>
              <a:t>0,483 → 0,793</a:t>
            </a:r>
          </a:p>
          <a:p>
            <a:pPr algn="l">
              <a:lnSpc>
                <a:spcPct val="102000"/>
              </a:lnSpc>
              <a:spcBef>
                <a:spcPts val="0"/>
              </a:spcBef>
              <a:spcAft>
                <a:spcPts val="0"/>
              </a:spcAft>
            </a:pPr>
            <a:r>
              <a:rPr sz="1500" b="0" i="0">
                <a:solidFill>
                  <a:srgbClr val="858591"/>
                </a:solidFill>
                <a:latin typeface="Arial"/>
              </a:rPr>
              <a:t>Todas las clases pasan a contar por igual.</a:t>
            </a:r>
          </a:p>
        </p:txBody>
      </p:sp>
      <p:sp>
        <p:nvSpPr>
          <p:cNvPr id="13" name="Rectangle 12"/>
          <p:cNvSpPr/>
          <p:nvPr/>
        </p:nvSpPr>
        <p:spPr>
          <a:xfrm>
            <a:off x="9656063" y="5404103"/>
            <a:ext cx="7754111" cy="1133856"/>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9656063" y="5404103"/>
            <a:ext cx="64008" cy="1133856"/>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948672" y="5550407"/>
            <a:ext cx="7159751" cy="896112"/>
          </a:xfrm>
          <a:prstGeom prst="rect">
            <a:avLst/>
          </a:prstGeom>
          <a:noFill/>
        </p:spPr>
        <p:txBody>
          <a:bodyPr wrap="square" lIns="18288" rIns="18288" tIns="0" bIns="0" anchor="t">
            <a:spAutoFit/>
          </a:bodyPr>
          <a:lstStyle/>
          <a:p>
            <a:pPr algn="l">
              <a:lnSpc>
                <a:spcPct val="102000"/>
              </a:lnSpc>
              <a:spcBef>
                <a:spcPts val="0"/>
              </a:spcBef>
              <a:spcAft>
                <a:spcPts val="300"/>
              </a:spcAft>
            </a:pPr>
            <a:r>
              <a:rPr sz="1800" b="1" i="0">
                <a:solidFill>
                  <a:srgbClr val="00566C"/>
                </a:solidFill>
                <a:latin typeface="Arial"/>
              </a:rPr>
              <a:t>Cohen's Kappa / MCC</a:t>
            </a:r>
          </a:p>
          <a:p>
            <a:pPr algn="l">
              <a:lnSpc>
                <a:spcPct val="102000"/>
              </a:lnSpc>
              <a:spcBef>
                <a:spcPts val="0"/>
              </a:spcBef>
              <a:spcAft>
                <a:spcPts val="300"/>
              </a:spcAft>
            </a:pPr>
            <a:r>
              <a:rPr sz="2000" b="1" i="0">
                <a:solidFill>
                  <a:srgbClr val="219BC3"/>
                </a:solidFill>
                <a:latin typeface="Arial"/>
              </a:rPr>
              <a:t>0,450 → 0,593  ·  0,456 → 0,614</a:t>
            </a:r>
          </a:p>
          <a:p>
            <a:pPr algn="l">
              <a:lnSpc>
                <a:spcPct val="102000"/>
              </a:lnSpc>
              <a:spcBef>
                <a:spcPts val="0"/>
              </a:spcBef>
              <a:spcAft>
                <a:spcPts val="0"/>
              </a:spcAft>
            </a:pPr>
            <a:r>
              <a:rPr sz="1500" b="0" i="0">
                <a:solidFill>
                  <a:srgbClr val="858591"/>
                </a:solidFill>
                <a:latin typeface="Arial"/>
              </a:rPr>
              <a:t>El acuerdo por encima del azar mejora de forma sólida.</a:t>
            </a:r>
          </a:p>
        </p:txBody>
      </p:sp>
      <p:sp>
        <p:nvSpPr>
          <p:cNvPr id="16" name="Rectangle 15"/>
          <p:cNvSpPr/>
          <p:nvPr/>
        </p:nvSpPr>
        <p:spPr>
          <a:xfrm>
            <a:off x="9656063" y="6665975"/>
            <a:ext cx="7754111" cy="1133856"/>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9656063" y="6665975"/>
            <a:ext cx="64008" cy="1133856"/>
          </a:xfrm>
          <a:prstGeom prst="rect">
            <a:avLst/>
          </a:prstGeom>
          <a:solidFill>
            <a:srgbClr val="C03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948672" y="6812279"/>
            <a:ext cx="7159751" cy="896112"/>
          </a:xfrm>
          <a:prstGeom prst="rect">
            <a:avLst/>
          </a:prstGeom>
          <a:noFill/>
        </p:spPr>
        <p:txBody>
          <a:bodyPr wrap="square" lIns="18288" rIns="18288" tIns="0" bIns="0" anchor="t">
            <a:spAutoFit/>
          </a:bodyPr>
          <a:lstStyle/>
          <a:p>
            <a:pPr algn="l">
              <a:lnSpc>
                <a:spcPct val="102000"/>
              </a:lnSpc>
              <a:spcBef>
                <a:spcPts val="0"/>
              </a:spcBef>
              <a:spcAft>
                <a:spcPts val="300"/>
              </a:spcAft>
            </a:pPr>
            <a:r>
              <a:rPr sz="1800" b="1" i="0">
                <a:solidFill>
                  <a:srgbClr val="00566C"/>
                </a:solidFill>
                <a:latin typeface="Arial"/>
              </a:rPr>
              <a:t>AUC macro</a:t>
            </a:r>
          </a:p>
          <a:p>
            <a:pPr algn="l">
              <a:lnSpc>
                <a:spcPct val="102000"/>
              </a:lnSpc>
              <a:spcBef>
                <a:spcPts val="0"/>
              </a:spcBef>
              <a:spcAft>
                <a:spcPts val="300"/>
              </a:spcAft>
            </a:pPr>
            <a:r>
              <a:rPr sz="2000" b="1" i="0">
                <a:solidFill>
                  <a:srgbClr val="C0393B"/>
                </a:solidFill>
                <a:latin typeface="Arial"/>
              </a:rPr>
              <a:t>0,878 → 0,864</a:t>
            </a:r>
          </a:p>
          <a:p>
            <a:pPr algn="l">
              <a:lnSpc>
                <a:spcPct val="102000"/>
              </a:lnSpc>
              <a:spcBef>
                <a:spcPts val="0"/>
              </a:spcBef>
              <a:spcAft>
                <a:spcPts val="0"/>
              </a:spcAft>
            </a:pPr>
            <a:r>
              <a:rPr sz="1500" b="0" i="0">
                <a:solidFill>
                  <a:srgbClr val="858591"/>
                </a:solidFill>
                <a:latin typeface="Arial"/>
              </a:rPr>
              <a:t>Única métrica que baja — y la explicación importa.</a:t>
            </a:r>
          </a:p>
        </p:txBody>
      </p:sp>
      <p:sp>
        <p:nvSpPr>
          <p:cNvPr id="19" name="Rectangle 18"/>
          <p:cNvSpPr/>
          <p:nvPr/>
        </p:nvSpPr>
        <p:spPr>
          <a:xfrm>
            <a:off x="877824" y="6382512"/>
            <a:ext cx="8394192" cy="1499616"/>
          </a:xfrm>
          <a:prstGeom prst="rect">
            <a:avLst/>
          </a:prstGeom>
          <a:solidFill>
            <a:srgbClr val="DDE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77824" y="6382512"/>
            <a:ext cx="82296" cy="1499616"/>
          </a:xfrm>
          <a:prstGeom prst="rect">
            <a:avLst/>
          </a:prstGeom>
          <a:solidFill>
            <a:srgbClr val="0056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261872" y="6528816"/>
            <a:ext cx="7772400" cy="1225296"/>
          </a:xfrm>
          <a:prstGeom prst="rect">
            <a:avLst/>
          </a:prstGeom>
          <a:noFill/>
        </p:spPr>
        <p:txBody>
          <a:bodyPr wrap="square" lIns="18288" rIns="18288" tIns="0" bIns="0" anchor="t">
            <a:spAutoFit/>
          </a:bodyPr>
          <a:lstStyle/>
          <a:p>
            <a:pPr algn="l">
              <a:lnSpc>
                <a:spcPct val="105000"/>
              </a:lnSpc>
              <a:spcBef>
                <a:spcPts val="0"/>
              </a:spcBef>
              <a:spcAft>
                <a:spcPts val="600"/>
              </a:spcAft>
            </a:pPr>
            <a:r>
              <a:rPr sz="1900" b="1" i="0">
                <a:solidFill>
                  <a:srgbClr val="00566C"/>
                </a:solidFill>
                <a:latin typeface="Arial"/>
              </a:rPr>
              <a:t>¿Por qué baja el AUC si todo lo demás mejora?</a:t>
            </a:r>
          </a:p>
          <a:p>
            <a:pPr algn="l">
              <a:lnSpc>
                <a:spcPct val="105000"/>
              </a:lnSpc>
              <a:spcBef>
                <a:spcPts val="0"/>
              </a:spcBef>
              <a:spcAft>
                <a:spcPts val="0"/>
              </a:spcAft>
            </a:pPr>
            <a:r>
              <a:rPr sz="1600" b="0" i="0">
                <a:solidFill>
                  <a:srgbClr val="0C0B0B"/>
                </a:solidFill>
                <a:latin typeface="Arial"/>
              </a:rPr>
              <a:t>Porque el AUC mide la capacidad de ordenar los casos a lo largo de todos los umbrales, y se mantiene alto aunque al umbral real de decisión (0,5) el modelo falle en la clase minoritaria.</a:t>
            </a:r>
          </a:p>
        </p:txBody>
      </p:sp>
      <p:sp>
        <p:nvSpPr>
          <p:cNvPr id="22" name="Rectangle 21"/>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La validación cruzada 5-fold confirma que la mejora no depende de una partición afortunada: 0,578 ± 0,007 frente a 0,787 ± 0,015 en accuracy.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25</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EVALUACIÓN Y RESULTADOS</a:t>
            </a:r>
          </a:p>
          <a:p>
            <a:pPr algn="l">
              <a:lnSpc>
                <a:spcPct val="92000"/>
              </a:lnSpc>
              <a:spcBef>
                <a:spcPts val="0"/>
              </a:spcBef>
              <a:spcAft>
                <a:spcPts val="0"/>
              </a:spcAft>
            </a:pPr>
            <a:r>
              <a:rPr sz="4000" b="1" i="0">
                <a:solidFill>
                  <a:srgbClr val="00566C"/>
                </a:solidFill>
                <a:latin typeface="Arial"/>
              </a:rPr>
              <a:t>SVM — ¿Detecta realmente la malignidad?</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La línea base de 7 clases se agrega a binario para poder responder en los mismos términos</a:t>
            </a:r>
          </a:p>
        </p:txBody>
      </p:sp>
      <p:graphicFrame>
        <p:nvGraphicFramePr>
          <p:cNvPr id="5" name="Table 4"/>
          <p:cNvGraphicFramePr>
            <a:graphicFrameLocks noGrp="1"/>
          </p:cNvGraphicFramePr>
          <p:nvPr/>
        </p:nvGraphicFramePr>
        <p:xfrm>
          <a:off x="877824" y="2395728"/>
          <a:ext cx="9326880" cy="3163824"/>
        </p:xfrm>
        <a:graphic>
          <a:graphicData uri="http://schemas.openxmlformats.org/drawingml/2006/table">
            <a:tbl>
              <a:tblPr>
                <a:tableStyleId>{5C22544A-7EE6-4342-B048-85BDC9FD1C3A}</a:tableStyleId>
              </a:tblPr>
              <a:tblGrid>
                <a:gridCol w="3200400"/>
                <a:gridCol w="2103120"/>
                <a:gridCol w="2194560"/>
                <a:gridCol w="1828800"/>
              </a:tblGrid>
              <a:tr h="530352">
                <a:tc>
                  <a:txBody>
                    <a:bodyPr wrap="square"/>
                    <a:lstStyle/>
                    <a:p>
                      <a:pPr algn="l"/>
                      <a:r>
                        <a:rPr sz="1700" b="1">
                          <a:solidFill>
                            <a:srgbClr val="FFFFFF"/>
                          </a:solidFill>
                          <a:latin typeface="Arial"/>
                        </a:rPr>
                        <a:t>Modelo</a:t>
                      </a:r>
                    </a:p>
                  </a:txBody>
                  <a:tcPr marL="128016" marR="91440" marT="27432" marB="27432" anchor="ctr">
                    <a:solidFill>
                      <a:srgbClr val="219BC3"/>
                    </a:solidFill>
                  </a:tcPr>
                </a:tc>
                <a:tc>
                  <a:txBody>
                    <a:bodyPr wrap="square"/>
                    <a:lstStyle/>
                    <a:p>
                      <a:pPr algn="ctr"/>
                      <a:r>
                        <a:rPr sz="1700" b="1">
                          <a:solidFill>
                            <a:srgbClr val="FFFFFF"/>
                          </a:solidFill>
                          <a:latin typeface="Arial"/>
                        </a:rPr>
                        <a:t>Real</a:t>
                      </a:r>
                    </a:p>
                  </a:txBody>
                  <a:tcPr marL="128016" marR="91440" marT="27432" marB="27432" anchor="ctr">
                    <a:solidFill>
                      <a:srgbClr val="219BC3"/>
                    </a:solidFill>
                  </a:tcPr>
                </a:tc>
                <a:tc>
                  <a:txBody>
                    <a:bodyPr wrap="square"/>
                    <a:lstStyle/>
                    <a:p>
                      <a:pPr algn="ctr"/>
                      <a:r>
                        <a:rPr sz="1700" b="1">
                          <a:solidFill>
                            <a:srgbClr val="FFFFFF"/>
                          </a:solidFill>
                          <a:latin typeface="Arial"/>
                        </a:rPr>
                        <a:t>Predicho: Benigno</a:t>
                      </a:r>
                    </a:p>
                  </a:txBody>
                  <a:tcPr marL="128016" marR="91440" marT="27432" marB="27432" anchor="ctr">
                    <a:solidFill>
                      <a:srgbClr val="219BC3"/>
                    </a:solidFill>
                  </a:tcPr>
                </a:tc>
                <a:tc>
                  <a:txBody>
                    <a:bodyPr wrap="square"/>
                    <a:lstStyle/>
                    <a:p>
                      <a:pPr algn="ctr"/>
                      <a:r>
                        <a:rPr sz="1700" b="1">
                          <a:solidFill>
                            <a:srgbClr val="FFFFFF"/>
                          </a:solidFill>
                          <a:latin typeface="Arial"/>
                        </a:rPr>
                        <a:t>Predicho: Maligno</a:t>
                      </a:r>
                    </a:p>
                  </a:txBody>
                  <a:tcPr marL="128016" marR="91440" marT="27432" marB="27432" anchor="ctr">
                    <a:solidFill>
                      <a:srgbClr val="219BC3"/>
                    </a:solidFill>
                  </a:tcPr>
                </a:tc>
              </a:tr>
              <a:tr h="658368">
                <a:tc>
                  <a:txBody>
                    <a:bodyPr wrap="square"/>
                    <a:lstStyle/>
                    <a:p>
                      <a:pPr algn="l"/>
                      <a:r>
                        <a:rPr sz="1700" b="1">
                          <a:solidFill>
                            <a:srgbClr val="00566C"/>
                          </a:solidFill>
                          <a:latin typeface="Arial"/>
                        </a:rPr>
                        <a:t>Línea base (agregada a binario)</a:t>
                      </a:r>
                    </a:p>
                  </a:txBody>
                  <a:tcPr marL="128016" marR="91440" marT="27432" marB="27432" anchor="ctr">
                    <a:solidFill>
                      <a:srgbClr val="FFFFFF"/>
                    </a:solidFill>
                  </a:tcPr>
                </a:tc>
                <a:tc>
                  <a:txBody>
                    <a:bodyPr wrap="square"/>
                    <a:lstStyle/>
                    <a:p>
                      <a:pPr algn="ctr"/>
                      <a:r>
                        <a:rPr sz="1700" b="0">
                          <a:solidFill>
                            <a:srgbClr val="0C0B0B"/>
                          </a:solidFill>
                          <a:latin typeface="Arial"/>
                        </a:rPr>
                        <a:t>Benigno (1.612)</a:t>
                      </a:r>
                    </a:p>
                  </a:txBody>
                  <a:tcPr marL="128016" marR="91440" marT="27432" marB="27432" anchor="ctr">
                    <a:solidFill>
                      <a:srgbClr val="FFFFFF"/>
                    </a:solidFill>
                  </a:tcPr>
                </a:tc>
                <a:tc>
                  <a:txBody>
                    <a:bodyPr wrap="square"/>
                    <a:lstStyle/>
                    <a:p>
                      <a:pPr algn="ctr"/>
                      <a:r>
                        <a:rPr sz="1700" b="0">
                          <a:solidFill>
                            <a:srgbClr val="0C0B0B"/>
                          </a:solidFill>
                          <a:latin typeface="Arial"/>
                        </a:rPr>
                        <a:t>1.321</a:t>
                      </a:r>
                    </a:p>
                  </a:txBody>
                  <a:tcPr marL="128016" marR="91440" marT="27432" marB="27432" anchor="ctr">
                    <a:solidFill>
                      <a:srgbClr val="FFFFFF"/>
                    </a:solidFill>
                  </a:tcPr>
                </a:tc>
                <a:tc>
                  <a:txBody>
                    <a:bodyPr wrap="square"/>
                    <a:lstStyle/>
                    <a:p>
                      <a:pPr algn="ctr"/>
                      <a:r>
                        <a:rPr sz="1700" b="0">
                          <a:solidFill>
                            <a:srgbClr val="0C0B0B"/>
                          </a:solidFill>
                          <a:latin typeface="Arial"/>
                        </a:rPr>
                        <a:t>291</a:t>
                      </a:r>
                    </a:p>
                  </a:txBody>
                  <a:tcPr marL="128016" marR="91440" marT="27432" marB="27432" anchor="ctr">
                    <a:solidFill>
                      <a:srgbClr val="FFFFFF"/>
                    </a:solidFill>
                  </a:tcPr>
                </a:tc>
              </a:tr>
              <a:tr h="658368">
                <a:tc>
                  <a:txBody>
                    <a:bodyPr wrap="square"/>
                    <a:lstStyle/>
                    <a:p>
                      <a:pPr algn="l"/>
                      <a:r>
                        <a:rPr sz="1700" b="1">
                          <a:solidFill>
                            <a:srgbClr val="00566C"/>
                          </a:solidFill>
                          <a:latin typeface="Arial"/>
                        </a:rPr>
                        <a:t>Línea base (agregada a binario)</a:t>
                      </a:r>
                    </a:p>
                  </a:txBody>
                  <a:tcPr marL="128016" marR="91440" marT="27432" marB="27432" anchor="ctr">
                    <a:solidFill>
                      <a:srgbClr val="F2F2F5"/>
                    </a:solidFill>
                  </a:tcPr>
                </a:tc>
                <a:tc>
                  <a:txBody>
                    <a:bodyPr wrap="square"/>
                    <a:lstStyle/>
                    <a:p>
                      <a:pPr algn="ctr"/>
                      <a:r>
                        <a:rPr sz="1700" b="0">
                          <a:solidFill>
                            <a:srgbClr val="0C0B0B"/>
                          </a:solidFill>
                          <a:latin typeface="Arial"/>
                        </a:rPr>
                        <a:t>Maligno (391)</a:t>
                      </a:r>
                    </a:p>
                  </a:txBody>
                  <a:tcPr marL="128016" marR="91440" marT="27432" marB="27432" anchor="ctr">
                    <a:solidFill>
                      <a:srgbClr val="F2F2F5"/>
                    </a:solidFill>
                  </a:tcPr>
                </a:tc>
                <a:tc>
                  <a:txBody>
                    <a:bodyPr wrap="square"/>
                    <a:lstStyle/>
                    <a:p>
                      <a:pPr algn="ctr"/>
                      <a:r>
                        <a:rPr sz="1700" b="1">
                          <a:solidFill>
                            <a:srgbClr val="C0393B"/>
                          </a:solidFill>
                          <a:latin typeface="Arial"/>
                        </a:rPr>
                        <a:t>139  falsos negativos</a:t>
                      </a:r>
                    </a:p>
                  </a:txBody>
                  <a:tcPr marL="128016" marR="91440" marT="27432" marB="27432" anchor="ctr">
                    <a:solidFill>
                      <a:srgbClr val="F2F2F5"/>
                    </a:solidFill>
                  </a:tcPr>
                </a:tc>
                <a:tc>
                  <a:txBody>
                    <a:bodyPr wrap="square"/>
                    <a:lstStyle/>
                    <a:p>
                      <a:pPr algn="ctr"/>
                      <a:r>
                        <a:rPr sz="1700" b="0">
                          <a:solidFill>
                            <a:srgbClr val="0C0B0B"/>
                          </a:solidFill>
                          <a:latin typeface="Arial"/>
                        </a:rPr>
                        <a:t>252</a:t>
                      </a:r>
                    </a:p>
                  </a:txBody>
                  <a:tcPr marL="128016" marR="91440" marT="27432" marB="27432" anchor="ctr">
                    <a:solidFill>
                      <a:srgbClr val="F2F2F5"/>
                    </a:solidFill>
                  </a:tcPr>
                </a:tc>
              </a:tr>
              <a:tr h="658368">
                <a:tc>
                  <a:txBody>
                    <a:bodyPr wrap="square"/>
                    <a:lstStyle/>
                    <a:p>
                      <a:pPr algn="l"/>
                      <a:r>
                        <a:rPr sz="1700" b="1">
                          <a:solidFill>
                            <a:srgbClr val="00566C"/>
                          </a:solidFill>
                          <a:latin typeface="Arial"/>
                        </a:rPr>
                        <a:t>Balanceado (binario nativo)</a:t>
                      </a:r>
                    </a:p>
                  </a:txBody>
                  <a:tcPr marL="128016" marR="91440" marT="27432" marB="27432" anchor="ctr">
                    <a:solidFill>
                      <a:srgbClr val="FFFFFF"/>
                    </a:solidFill>
                  </a:tcPr>
                </a:tc>
                <a:tc>
                  <a:txBody>
                    <a:bodyPr wrap="square"/>
                    <a:lstStyle/>
                    <a:p>
                      <a:pPr algn="ctr"/>
                      <a:r>
                        <a:rPr sz="1700" b="0">
                          <a:solidFill>
                            <a:srgbClr val="0C0B0B"/>
                          </a:solidFill>
                          <a:latin typeface="Arial"/>
                        </a:rPr>
                        <a:t>Benigno (381)</a:t>
                      </a:r>
                    </a:p>
                  </a:txBody>
                  <a:tcPr marL="128016" marR="91440" marT="27432" marB="27432" anchor="ctr">
                    <a:solidFill>
                      <a:srgbClr val="FFFFFF"/>
                    </a:solidFill>
                  </a:tcPr>
                </a:tc>
                <a:tc>
                  <a:txBody>
                    <a:bodyPr wrap="square"/>
                    <a:lstStyle/>
                    <a:p>
                      <a:pPr algn="ctr"/>
                      <a:r>
                        <a:rPr sz="1700" b="0">
                          <a:solidFill>
                            <a:srgbClr val="0C0B0B"/>
                          </a:solidFill>
                          <a:latin typeface="Arial"/>
                        </a:rPr>
                        <a:t>251</a:t>
                      </a:r>
                    </a:p>
                  </a:txBody>
                  <a:tcPr marL="128016" marR="91440" marT="27432" marB="27432" anchor="ctr">
                    <a:solidFill>
                      <a:srgbClr val="FFFFFF"/>
                    </a:solidFill>
                  </a:tcPr>
                </a:tc>
                <a:tc>
                  <a:txBody>
                    <a:bodyPr wrap="square"/>
                    <a:lstStyle/>
                    <a:p>
                      <a:pPr algn="ctr"/>
                      <a:r>
                        <a:rPr sz="1700" b="0">
                          <a:solidFill>
                            <a:srgbClr val="0C0B0B"/>
                          </a:solidFill>
                          <a:latin typeface="Arial"/>
                        </a:rPr>
                        <a:t>130</a:t>
                      </a:r>
                    </a:p>
                  </a:txBody>
                  <a:tcPr marL="128016" marR="91440" marT="27432" marB="27432" anchor="ctr">
                    <a:solidFill>
                      <a:srgbClr val="FFFFFF"/>
                    </a:solidFill>
                  </a:tcPr>
                </a:tc>
              </a:tr>
              <a:tr h="658368">
                <a:tc>
                  <a:txBody>
                    <a:bodyPr wrap="square"/>
                    <a:lstStyle/>
                    <a:p>
                      <a:pPr algn="l"/>
                      <a:r>
                        <a:rPr sz="1700" b="1">
                          <a:solidFill>
                            <a:srgbClr val="00566C"/>
                          </a:solidFill>
                          <a:latin typeface="Arial"/>
                        </a:rPr>
                        <a:t>Balanceado (binario nativo)</a:t>
                      </a:r>
                    </a:p>
                  </a:txBody>
                  <a:tcPr marL="128016" marR="91440" marT="27432" marB="27432" anchor="ctr">
                    <a:solidFill>
                      <a:srgbClr val="F2F2F5"/>
                    </a:solidFill>
                  </a:tcPr>
                </a:tc>
                <a:tc>
                  <a:txBody>
                    <a:bodyPr wrap="square"/>
                    <a:lstStyle/>
                    <a:p>
                      <a:pPr algn="ctr"/>
                      <a:r>
                        <a:rPr sz="1700" b="0">
                          <a:solidFill>
                            <a:srgbClr val="0C0B0B"/>
                          </a:solidFill>
                          <a:latin typeface="Arial"/>
                        </a:rPr>
                        <a:t>Maligno (408)</a:t>
                      </a:r>
                    </a:p>
                  </a:txBody>
                  <a:tcPr marL="128016" marR="91440" marT="27432" marB="27432" anchor="ctr">
                    <a:solidFill>
                      <a:srgbClr val="F2F2F5"/>
                    </a:solidFill>
                  </a:tcPr>
                </a:tc>
                <a:tc>
                  <a:txBody>
                    <a:bodyPr wrap="square"/>
                    <a:lstStyle/>
                    <a:p>
                      <a:pPr algn="ctr"/>
                      <a:r>
                        <a:rPr sz="1700" b="1">
                          <a:solidFill>
                            <a:srgbClr val="2E7D4F"/>
                          </a:solidFill>
                          <a:latin typeface="Arial"/>
                        </a:rPr>
                        <a:t>29  falsos negativos</a:t>
                      </a:r>
                    </a:p>
                  </a:txBody>
                  <a:tcPr marL="128016" marR="91440" marT="27432" marB="27432" anchor="ctr">
                    <a:solidFill>
                      <a:srgbClr val="F2F2F5"/>
                    </a:solidFill>
                  </a:tcPr>
                </a:tc>
                <a:tc>
                  <a:txBody>
                    <a:bodyPr wrap="square"/>
                    <a:lstStyle/>
                    <a:p>
                      <a:pPr algn="ctr"/>
                      <a:r>
                        <a:rPr sz="1700" b="0">
                          <a:solidFill>
                            <a:srgbClr val="0C0B0B"/>
                          </a:solidFill>
                          <a:latin typeface="Arial"/>
                        </a:rPr>
                        <a:t>379</a:t>
                      </a:r>
                    </a:p>
                  </a:txBody>
                  <a:tcPr marL="128016" marR="91440" marT="27432" marB="27432" anchor="ctr">
                    <a:solidFill>
                      <a:srgbClr val="F2F2F5"/>
                    </a:solidFill>
                  </a:tcPr>
                </a:tc>
              </a:tr>
            </a:tbl>
          </a:graphicData>
        </a:graphic>
      </p:graphicFrame>
      <p:sp>
        <p:nvSpPr>
          <p:cNvPr id="6" name="Rectangle 5"/>
          <p:cNvSpPr/>
          <p:nvPr/>
        </p:nvSpPr>
        <p:spPr>
          <a:xfrm>
            <a:off x="877824" y="5577840"/>
            <a:ext cx="4471416" cy="14173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877824" y="5577840"/>
            <a:ext cx="4471416"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88720" y="5760720"/>
            <a:ext cx="3849624" cy="1051560"/>
          </a:xfrm>
          <a:prstGeom prst="rect">
            <a:avLst/>
          </a:prstGeom>
          <a:noFill/>
        </p:spPr>
        <p:txBody>
          <a:bodyPr wrap="square" lIns="18288" rIns="18288" tIns="0" bIns="0" anchor="ctr">
            <a:spAutoFit/>
          </a:bodyPr>
          <a:lstStyle/>
          <a:p>
            <a:pPr algn="l">
              <a:lnSpc>
                <a:spcPct val="95000"/>
              </a:lnSpc>
              <a:spcBef>
                <a:spcPts val="0"/>
              </a:spcBef>
              <a:spcAft>
                <a:spcPts val="400"/>
              </a:spcAft>
            </a:pPr>
            <a:r>
              <a:rPr sz="3100" b="1" i="0">
                <a:solidFill>
                  <a:srgbClr val="219BC3"/>
                </a:solidFill>
                <a:latin typeface="Arial"/>
              </a:rPr>
              <a:t>64,5 % → 92,9 %</a:t>
            </a:r>
          </a:p>
          <a:p>
            <a:pPr algn="l">
              <a:lnSpc>
                <a:spcPct val="95000"/>
              </a:lnSpc>
              <a:spcBef>
                <a:spcPts val="0"/>
              </a:spcBef>
              <a:spcAft>
                <a:spcPts val="200"/>
              </a:spcAft>
            </a:pPr>
            <a:r>
              <a:rPr sz="1900" b="1" i="0">
                <a:solidFill>
                  <a:srgbClr val="00566C"/>
                </a:solidFill>
                <a:latin typeface="Arial"/>
              </a:rPr>
              <a:t>Sensibilidad (recall Maligno)</a:t>
            </a:r>
          </a:p>
          <a:p>
            <a:pPr algn="l">
              <a:lnSpc>
                <a:spcPct val="95000"/>
              </a:lnSpc>
              <a:spcBef>
                <a:spcPts val="0"/>
              </a:spcBef>
              <a:spcAft>
                <a:spcPts val="0"/>
              </a:spcAft>
            </a:pPr>
            <a:r>
              <a:rPr sz="1500" b="0" i="0">
                <a:solidFill>
                  <a:srgbClr val="858591"/>
                </a:solidFill>
                <a:latin typeface="Arial"/>
              </a:rPr>
              <a:t>casi se triplican las malignidades detectadas</a:t>
            </a:r>
          </a:p>
        </p:txBody>
      </p:sp>
      <p:sp>
        <p:nvSpPr>
          <p:cNvPr id="9" name="Rectangle 8"/>
          <p:cNvSpPr/>
          <p:nvPr/>
        </p:nvSpPr>
        <p:spPr>
          <a:xfrm>
            <a:off x="5733288" y="5577840"/>
            <a:ext cx="4471416" cy="141732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733288" y="5577840"/>
            <a:ext cx="4471416" cy="6858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044183" y="5760720"/>
            <a:ext cx="3849624" cy="1051560"/>
          </a:xfrm>
          <a:prstGeom prst="rect">
            <a:avLst/>
          </a:prstGeom>
          <a:noFill/>
        </p:spPr>
        <p:txBody>
          <a:bodyPr wrap="square" lIns="18288" rIns="18288" tIns="0" bIns="0" anchor="ctr">
            <a:spAutoFit/>
          </a:bodyPr>
          <a:lstStyle/>
          <a:p>
            <a:pPr algn="l">
              <a:lnSpc>
                <a:spcPct val="95000"/>
              </a:lnSpc>
              <a:spcBef>
                <a:spcPts val="0"/>
              </a:spcBef>
              <a:spcAft>
                <a:spcPts val="400"/>
              </a:spcAft>
            </a:pPr>
            <a:r>
              <a:rPr sz="3100" b="1" i="0">
                <a:solidFill>
                  <a:srgbClr val="219BC3"/>
                </a:solidFill>
                <a:latin typeface="Arial"/>
              </a:rPr>
              <a:t>81,9 % → 65,9 %</a:t>
            </a:r>
          </a:p>
          <a:p>
            <a:pPr algn="l">
              <a:lnSpc>
                <a:spcPct val="95000"/>
              </a:lnSpc>
              <a:spcBef>
                <a:spcPts val="0"/>
              </a:spcBef>
              <a:spcAft>
                <a:spcPts val="200"/>
              </a:spcAft>
            </a:pPr>
            <a:r>
              <a:rPr sz="1900" b="1" i="0">
                <a:solidFill>
                  <a:srgbClr val="00566C"/>
                </a:solidFill>
                <a:latin typeface="Arial"/>
              </a:rPr>
              <a:t>Especificidad (recall Benigno)</a:t>
            </a:r>
          </a:p>
          <a:p>
            <a:pPr algn="l">
              <a:lnSpc>
                <a:spcPct val="95000"/>
              </a:lnSpc>
              <a:spcBef>
                <a:spcPts val="0"/>
              </a:spcBef>
              <a:spcAft>
                <a:spcPts val="0"/>
              </a:spcAft>
            </a:pPr>
            <a:r>
              <a:rPr sz="1500" b="0" i="0">
                <a:solidFill>
                  <a:srgbClr val="858591"/>
                </a:solidFill>
                <a:latin typeface="Arial"/>
              </a:rPr>
              <a:t>el precio: más falsas alarmas</a:t>
            </a:r>
          </a:p>
        </p:txBody>
      </p:sp>
      <p:pic>
        <p:nvPicPr>
          <p:cNvPr id="12" name="Picture 11" descr="c3_sens_spec.png"/>
          <p:cNvPicPr>
            <a:picLocks noChangeAspect="1"/>
          </p:cNvPicPr>
          <p:nvPr/>
        </p:nvPicPr>
        <p:blipFill>
          <a:blip r:embed="rId2"/>
          <a:stretch>
            <a:fillRect/>
          </a:stretch>
        </p:blipFill>
        <p:spPr>
          <a:xfrm>
            <a:off x="10661904" y="2395728"/>
            <a:ext cx="6748272" cy="3226446"/>
          </a:xfrm>
          <a:prstGeom prst="rect">
            <a:avLst/>
          </a:prstGeom>
        </p:spPr>
      </p:pic>
      <p:sp>
        <p:nvSpPr>
          <p:cNvPr id="13" name="Rectangle 12"/>
          <p:cNvSpPr/>
          <p:nvPr/>
        </p:nvSpPr>
        <p:spPr>
          <a:xfrm>
            <a:off x="10661904" y="5742432"/>
            <a:ext cx="6748272" cy="2121408"/>
          </a:xfrm>
          <a:prstGeom prst="rect">
            <a:avLst/>
          </a:prstGeom>
          <a:solidFill>
            <a:srgbClr val="DDE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0661904" y="5742432"/>
            <a:ext cx="82296" cy="2121408"/>
          </a:xfrm>
          <a:prstGeom prst="rect">
            <a:avLst/>
          </a:prstGeom>
          <a:solidFill>
            <a:srgbClr val="0056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91088" y="5943600"/>
            <a:ext cx="6172200" cy="1737360"/>
          </a:xfrm>
          <a:prstGeom prst="rect">
            <a:avLst/>
          </a:prstGeom>
          <a:noFill/>
        </p:spPr>
        <p:txBody>
          <a:bodyPr wrap="square" lIns="18288" rIns="18288" tIns="0" bIns="0" anchor="t">
            <a:spAutoFit/>
          </a:bodyPr>
          <a:lstStyle/>
          <a:p>
            <a:pPr algn="l">
              <a:lnSpc>
                <a:spcPct val="105000"/>
              </a:lnSpc>
              <a:spcBef>
                <a:spcPts val="0"/>
              </a:spcBef>
              <a:spcAft>
                <a:spcPts val="700"/>
              </a:spcAft>
            </a:pPr>
            <a:r>
              <a:rPr sz="2000" b="1" i="0">
                <a:solidFill>
                  <a:srgbClr val="00566C"/>
                </a:solidFill>
                <a:latin typeface="Arial"/>
              </a:rPr>
              <a:t>El caso del melanoma en la línea base</a:t>
            </a:r>
          </a:p>
          <a:p>
            <a:pPr algn="l">
              <a:lnSpc>
                <a:spcPct val="105000"/>
              </a:lnSpc>
              <a:spcBef>
                <a:spcPts val="0"/>
              </a:spcBef>
              <a:spcAft>
                <a:spcPts val="0"/>
              </a:spcAft>
            </a:pPr>
            <a:r>
              <a:rPr sz="1700" b="0" i="0">
                <a:solidFill>
                  <a:srgbClr val="0C0B0B"/>
                </a:solidFill>
                <a:latin typeface="Arial"/>
              </a:rPr>
              <a:t>Su AUC one-vs-rest es 0,827 —una cifra aparentemente aceptable—, pero su recall real es 0,475: el modelo no detecta más de la mitad de los melanomas del test, confundiéndolos sobre todo con nevus (62 casos) y queratosis benigna (36 casos).</a:t>
            </a:r>
          </a:p>
        </p:txBody>
      </p:sp>
      <p:sp>
        <p:nvSpPr>
          <p:cNvPr id="16" name="Rectangle 15"/>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Es exactamente el intercambio buscado: sacrificar especificidad —que cuesta una consulta adicional— para casi triplicar la detección de malignidad, que es el error que no se puede cometer.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26</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EVALUACIÓN Y RESULTADOS</a:t>
            </a:r>
          </a:p>
          <a:p>
            <a:pPr algn="l">
              <a:lnSpc>
                <a:spcPct val="92000"/>
              </a:lnSpc>
              <a:spcBef>
                <a:spcPts val="0"/>
              </a:spcBef>
              <a:spcAft>
                <a:spcPts val="0"/>
              </a:spcAft>
            </a:pPr>
            <a:r>
              <a:rPr sz="4000" b="1" i="0">
                <a:solidFill>
                  <a:srgbClr val="00566C"/>
                </a:solidFill>
                <a:latin typeface="Arial"/>
              </a:rPr>
              <a:t>DenseNet201 — Cabeza A: el mismo efecto en la red</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El balanceo desplaza el punto de operación hacia la sensibilidad sin alterar la discriminación subyacente</a:t>
            </a:r>
          </a:p>
        </p:txBody>
      </p:sp>
      <p:graphicFrame>
        <p:nvGraphicFramePr>
          <p:cNvPr id="5" name="Table 4"/>
          <p:cNvGraphicFramePr>
            <a:graphicFrameLocks noGrp="1"/>
          </p:cNvGraphicFramePr>
          <p:nvPr/>
        </p:nvGraphicFramePr>
        <p:xfrm>
          <a:off x="877824" y="2331720"/>
          <a:ext cx="7863840" cy="5317236"/>
        </p:xfrm>
        <a:graphic>
          <a:graphicData uri="http://schemas.openxmlformats.org/drawingml/2006/table">
            <a:tbl>
              <a:tblPr>
                <a:tableStyleId>{5C22544A-7EE6-4342-B048-85BDC9FD1C3A}</a:tableStyleId>
              </a:tblPr>
              <a:tblGrid>
                <a:gridCol w="3566160"/>
                <a:gridCol w="2148840"/>
                <a:gridCol w="2148840"/>
              </a:tblGrid>
              <a:tr h="502920">
                <a:tc>
                  <a:txBody>
                    <a:bodyPr wrap="square"/>
                    <a:lstStyle/>
                    <a:p>
                      <a:pPr algn="l"/>
                      <a:r>
                        <a:rPr sz="1700" b="1">
                          <a:solidFill>
                            <a:srgbClr val="FFFFFF"/>
                          </a:solidFill>
                          <a:latin typeface="Arial"/>
                        </a:rPr>
                        <a:t>Métrica — Cabeza A</a:t>
                      </a:r>
                    </a:p>
                  </a:txBody>
                  <a:tcPr marL="128016" marR="91440" marT="27432" marB="27432" anchor="ctr">
                    <a:solidFill>
                      <a:srgbClr val="219BC3"/>
                    </a:solidFill>
                  </a:tcPr>
                </a:tc>
                <a:tc>
                  <a:txBody>
                    <a:bodyPr wrap="square"/>
                    <a:lstStyle/>
                    <a:p>
                      <a:pPr algn="ctr"/>
                      <a:r>
                        <a:rPr sz="1700" b="1">
                          <a:solidFill>
                            <a:srgbClr val="FFFFFF"/>
                          </a:solidFill>
                          <a:latin typeface="Arial"/>
                        </a:rPr>
                        <a:t>Escenario 1</a:t>
                      </a:r>
                    </a:p>
                  </a:txBody>
                  <a:tcPr marL="128016" marR="91440" marT="27432" marB="27432" anchor="ctr">
                    <a:solidFill>
                      <a:srgbClr val="219BC3"/>
                    </a:solidFill>
                  </a:tcPr>
                </a:tc>
                <a:tc>
                  <a:txBody>
                    <a:bodyPr wrap="square"/>
                    <a:lstStyle/>
                    <a:p>
                      <a:pPr algn="ctr"/>
                      <a:r>
                        <a:rPr sz="1700" b="1">
                          <a:solidFill>
                            <a:srgbClr val="FFFFFF"/>
                          </a:solidFill>
                          <a:latin typeface="Arial"/>
                        </a:rPr>
                        <a:t>Escenario 2</a:t>
                      </a:r>
                    </a:p>
                  </a:txBody>
                  <a:tcPr marL="128016" marR="91440" marT="27432" marB="27432" anchor="ctr">
                    <a:solidFill>
                      <a:srgbClr val="219BC3"/>
                    </a:solidFill>
                  </a:tcPr>
                </a:tc>
              </a:tr>
              <a:tr h="534924">
                <a:tc>
                  <a:txBody>
                    <a:bodyPr wrap="square"/>
                    <a:lstStyle/>
                    <a:p>
                      <a:pPr algn="l"/>
                      <a:r>
                        <a:rPr sz="1700" b="1">
                          <a:solidFill>
                            <a:srgbClr val="00566C"/>
                          </a:solidFill>
                          <a:latin typeface="Arial"/>
                        </a:rPr>
                        <a:t>Accuracy</a:t>
                      </a:r>
                    </a:p>
                  </a:txBody>
                  <a:tcPr marL="128016" marR="91440" marT="27432" marB="27432" anchor="ctr">
                    <a:solidFill>
                      <a:srgbClr val="FFFFFF"/>
                    </a:solidFill>
                  </a:tcPr>
                </a:tc>
                <a:tc>
                  <a:txBody>
                    <a:bodyPr wrap="square"/>
                    <a:lstStyle/>
                    <a:p>
                      <a:pPr algn="ctr"/>
                      <a:r>
                        <a:rPr sz="1700" b="0">
                          <a:solidFill>
                            <a:srgbClr val="0C0B0B"/>
                          </a:solidFill>
                          <a:latin typeface="Arial"/>
                        </a:rPr>
                        <a:t>93,36 %</a:t>
                      </a:r>
                    </a:p>
                  </a:txBody>
                  <a:tcPr marL="128016" marR="91440" marT="27432" marB="27432" anchor="ctr">
                    <a:solidFill>
                      <a:srgbClr val="FFFFFF"/>
                    </a:solidFill>
                  </a:tcPr>
                </a:tc>
                <a:tc>
                  <a:txBody>
                    <a:bodyPr wrap="square"/>
                    <a:lstStyle/>
                    <a:p>
                      <a:pPr algn="ctr"/>
                      <a:r>
                        <a:rPr sz="1700" b="0">
                          <a:solidFill>
                            <a:srgbClr val="0C0B0B"/>
                          </a:solidFill>
                          <a:latin typeface="Arial"/>
                        </a:rPr>
                        <a:t>91,43 %</a:t>
                      </a:r>
                    </a:p>
                  </a:txBody>
                  <a:tcPr marL="128016" marR="91440" marT="27432" marB="27432" anchor="ctr">
                    <a:solidFill>
                      <a:srgbClr val="FFFFFF"/>
                    </a:solidFill>
                  </a:tcPr>
                </a:tc>
              </a:tr>
              <a:tr h="534924">
                <a:tc>
                  <a:txBody>
                    <a:bodyPr wrap="square"/>
                    <a:lstStyle/>
                    <a:p>
                      <a:pPr algn="l"/>
                      <a:r>
                        <a:rPr sz="1700" b="1">
                          <a:solidFill>
                            <a:srgbClr val="00566C"/>
                          </a:solidFill>
                          <a:latin typeface="Arial"/>
                        </a:rPr>
                        <a:t>Balanced Accuracy</a:t>
                      </a:r>
                    </a:p>
                  </a:txBody>
                  <a:tcPr marL="128016" marR="91440" marT="27432" marB="27432" anchor="ctr">
                    <a:solidFill>
                      <a:srgbClr val="F2F2F5"/>
                    </a:solidFill>
                  </a:tcPr>
                </a:tc>
                <a:tc>
                  <a:txBody>
                    <a:bodyPr wrap="square"/>
                    <a:lstStyle/>
                    <a:p>
                      <a:pPr algn="ctr"/>
                      <a:r>
                        <a:rPr sz="1700" b="0">
                          <a:solidFill>
                            <a:srgbClr val="0C0B0B"/>
                          </a:solidFill>
                          <a:latin typeface="Arial"/>
                        </a:rPr>
                        <a:t>88,71 %</a:t>
                      </a:r>
                    </a:p>
                  </a:txBody>
                  <a:tcPr marL="128016" marR="91440" marT="27432" marB="27432" anchor="ctr">
                    <a:solidFill>
                      <a:srgbClr val="F2F2F5"/>
                    </a:solidFill>
                  </a:tcPr>
                </a:tc>
                <a:tc>
                  <a:txBody>
                    <a:bodyPr wrap="square"/>
                    <a:lstStyle/>
                    <a:p>
                      <a:pPr algn="ctr"/>
                      <a:r>
                        <a:rPr sz="1700" b="1">
                          <a:solidFill>
                            <a:srgbClr val="00566C"/>
                          </a:solidFill>
                          <a:latin typeface="Arial"/>
                        </a:rPr>
                        <a:t>91,43 %</a:t>
                      </a:r>
                    </a:p>
                  </a:txBody>
                  <a:tcPr marL="128016" marR="91440" marT="27432" marB="27432" anchor="ctr">
                    <a:solidFill>
                      <a:srgbClr val="F2F2F5"/>
                    </a:solidFill>
                  </a:tcPr>
                </a:tc>
              </a:tr>
              <a:tr h="534924">
                <a:tc>
                  <a:txBody>
                    <a:bodyPr wrap="square"/>
                    <a:lstStyle/>
                    <a:p>
                      <a:pPr algn="l"/>
                      <a:r>
                        <a:rPr sz="1700" b="1">
                          <a:solidFill>
                            <a:srgbClr val="00566C"/>
                          </a:solidFill>
                          <a:latin typeface="Arial"/>
                        </a:rPr>
                        <a:t>Sensibilidad (Recall Maligno)</a:t>
                      </a:r>
                    </a:p>
                  </a:txBody>
                  <a:tcPr marL="128016" marR="91440" marT="27432" marB="27432" anchor="ctr">
                    <a:solidFill>
                      <a:srgbClr val="FFFFFF"/>
                    </a:solidFill>
                  </a:tcPr>
                </a:tc>
                <a:tc>
                  <a:txBody>
                    <a:bodyPr wrap="square"/>
                    <a:lstStyle/>
                    <a:p>
                      <a:pPr algn="ctr"/>
                      <a:r>
                        <a:rPr sz="1700" b="0">
                          <a:solidFill>
                            <a:srgbClr val="0C0B0B"/>
                          </a:solidFill>
                          <a:latin typeface="Arial"/>
                        </a:rPr>
                        <a:t>81,07 %</a:t>
                      </a:r>
                    </a:p>
                  </a:txBody>
                  <a:tcPr marL="128016" marR="91440" marT="27432" marB="27432" anchor="ctr">
                    <a:solidFill>
                      <a:srgbClr val="FFFFFF"/>
                    </a:solidFill>
                  </a:tcPr>
                </a:tc>
                <a:tc>
                  <a:txBody>
                    <a:bodyPr wrap="square"/>
                    <a:lstStyle/>
                    <a:p>
                      <a:pPr algn="ctr"/>
                      <a:r>
                        <a:rPr sz="1700" b="1">
                          <a:solidFill>
                            <a:srgbClr val="2E7D4F"/>
                          </a:solidFill>
                          <a:latin typeface="Arial"/>
                        </a:rPr>
                        <a:t>90,03 %</a:t>
                      </a:r>
                    </a:p>
                  </a:txBody>
                  <a:tcPr marL="128016" marR="91440" marT="27432" marB="27432" anchor="ctr">
                    <a:solidFill>
                      <a:srgbClr val="FFFFFF"/>
                    </a:solidFill>
                  </a:tcPr>
                </a:tc>
              </a:tr>
              <a:tr h="534924">
                <a:tc>
                  <a:txBody>
                    <a:bodyPr wrap="square"/>
                    <a:lstStyle/>
                    <a:p>
                      <a:pPr algn="l"/>
                      <a:r>
                        <a:rPr sz="1700" b="1">
                          <a:solidFill>
                            <a:srgbClr val="00566C"/>
                          </a:solidFill>
                          <a:latin typeface="Arial"/>
                        </a:rPr>
                        <a:t>Especificidad (Recall Benigno)</a:t>
                      </a:r>
                    </a:p>
                  </a:txBody>
                  <a:tcPr marL="128016" marR="91440" marT="27432" marB="27432" anchor="ctr">
                    <a:solidFill>
                      <a:srgbClr val="F2F2F5"/>
                    </a:solidFill>
                  </a:tcPr>
                </a:tc>
                <a:tc>
                  <a:txBody>
                    <a:bodyPr wrap="square"/>
                    <a:lstStyle/>
                    <a:p>
                      <a:pPr algn="ctr"/>
                      <a:r>
                        <a:rPr sz="1700" b="0">
                          <a:solidFill>
                            <a:srgbClr val="0C0B0B"/>
                          </a:solidFill>
                          <a:latin typeface="Arial"/>
                        </a:rPr>
                        <a:t>96,34 %</a:t>
                      </a:r>
                    </a:p>
                  </a:txBody>
                  <a:tcPr marL="128016" marR="91440" marT="27432" marB="27432" anchor="ctr">
                    <a:solidFill>
                      <a:srgbClr val="F2F2F5"/>
                    </a:solidFill>
                  </a:tcPr>
                </a:tc>
                <a:tc>
                  <a:txBody>
                    <a:bodyPr wrap="square"/>
                    <a:lstStyle/>
                    <a:p>
                      <a:pPr algn="ctr"/>
                      <a:r>
                        <a:rPr sz="1700" b="0">
                          <a:solidFill>
                            <a:srgbClr val="0C0B0B"/>
                          </a:solidFill>
                          <a:latin typeface="Arial"/>
                        </a:rPr>
                        <a:t>92,84 %</a:t>
                      </a:r>
                    </a:p>
                  </a:txBody>
                  <a:tcPr marL="128016" marR="91440" marT="27432" marB="27432" anchor="ctr">
                    <a:solidFill>
                      <a:srgbClr val="F2F2F5"/>
                    </a:solidFill>
                  </a:tcPr>
                </a:tc>
              </a:tr>
              <a:tr h="534924">
                <a:tc>
                  <a:txBody>
                    <a:bodyPr wrap="square"/>
                    <a:lstStyle/>
                    <a:p>
                      <a:pPr algn="l"/>
                      <a:r>
                        <a:rPr sz="1700" b="1">
                          <a:solidFill>
                            <a:srgbClr val="00566C"/>
                          </a:solidFill>
                          <a:latin typeface="Arial"/>
                        </a:rPr>
                        <a:t>Precisión (Maligno)</a:t>
                      </a:r>
                    </a:p>
                  </a:txBody>
                  <a:tcPr marL="128016" marR="91440" marT="27432" marB="27432" anchor="ctr">
                    <a:solidFill>
                      <a:srgbClr val="FFFFFF"/>
                    </a:solidFill>
                  </a:tcPr>
                </a:tc>
                <a:tc>
                  <a:txBody>
                    <a:bodyPr wrap="square"/>
                    <a:lstStyle/>
                    <a:p>
                      <a:pPr algn="ctr"/>
                      <a:r>
                        <a:rPr sz="1700" b="0">
                          <a:solidFill>
                            <a:srgbClr val="0C0B0B"/>
                          </a:solidFill>
                          <a:latin typeface="Arial"/>
                        </a:rPr>
                        <a:t>84,31 %</a:t>
                      </a:r>
                    </a:p>
                  </a:txBody>
                  <a:tcPr marL="128016" marR="91440" marT="27432" marB="27432" anchor="ctr">
                    <a:solidFill>
                      <a:srgbClr val="FFFFFF"/>
                    </a:solidFill>
                  </a:tcPr>
                </a:tc>
                <a:tc>
                  <a:txBody>
                    <a:bodyPr wrap="square"/>
                    <a:lstStyle/>
                    <a:p>
                      <a:pPr algn="ctr"/>
                      <a:r>
                        <a:rPr sz="1700" b="1">
                          <a:solidFill>
                            <a:srgbClr val="00566C"/>
                          </a:solidFill>
                          <a:latin typeface="Arial"/>
                        </a:rPr>
                        <a:t>92,63 %</a:t>
                      </a:r>
                    </a:p>
                  </a:txBody>
                  <a:tcPr marL="128016" marR="91440" marT="27432" marB="27432" anchor="ctr">
                    <a:solidFill>
                      <a:srgbClr val="FFFFFF"/>
                    </a:solidFill>
                  </a:tcPr>
                </a:tc>
              </a:tr>
              <a:tr h="534924">
                <a:tc>
                  <a:txBody>
                    <a:bodyPr wrap="square"/>
                    <a:lstStyle/>
                    <a:p>
                      <a:pPr algn="l"/>
                      <a:r>
                        <a:rPr sz="1700" b="1">
                          <a:solidFill>
                            <a:srgbClr val="00566C"/>
                          </a:solidFill>
                          <a:latin typeface="Arial"/>
                        </a:rPr>
                        <a:t>F1 Macro</a:t>
                      </a:r>
                    </a:p>
                  </a:txBody>
                  <a:tcPr marL="128016" marR="91440" marT="27432" marB="27432" anchor="ctr">
                    <a:solidFill>
                      <a:srgbClr val="F2F2F5"/>
                    </a:solidFill>
                  </a:tcPr>
                </a:tc>
                <a:tc>
                  <a:txBody>
                    <a:bodyPr wrap="square"/>
                    <a:lstStyle/>
                    <a:p>
                      <a:pPr algn="ctr"/>
                      <a:r>
                        <a:rPr sz="1700" b="0">
                          <a:solidFill>
                            <a:srgbClr val="0C0B0B"/>
                          </a:solidFill>
                          <a:latin typeface="Arial"/>
                        </a:rPr>
                        <a:t>89,28 %</a:t>
                      </a:r>
                    </a:p>
                  </a:txBody>
                  <a:tcPr marL="128016" marR="91440" marT="27432" marB="27432" anchor="ctr">
                    <a:solidFill>
                      <a:srgbClr val="F2F2F5"/>
                    </a:solidFill>
                  </a:tcPr>
                </a:tc>
                <a:tc>
                  <a:txBody>
                    <a:bodyPr wrap="square"/>
                    <a:lstStyle/>
                    <a:p>
                      <a:pPr algn="ctr"/>
                      <a:r>
                        <a:rPr sz="1700" b="1">
                          <a:solidFill>
                            <a:srgbClr val="00566C"/>
                          </a:solidFill>
                          <a:latin typeface="Arial"/>
                        </a:rPr>
                        <a:t>91,43 %</a:t>
                      </a:r>
                    </a:p>
                  </a:txBody>
                  <a:tcPr marL="128016" marR="91440" marT="27432" marB="27432" anchor="ctr">
                    <a:solidFill>
                      <a:srgbClr val="F2F2F5"/>
                    </a:solidFill>
                  </a:tcPr>
                </a:tc>
              </a:tr>
              <a:tr h="534924">
                <a:tc>
                  <a:txBody>
                    <a:bodyPr wrap="square"/>
                    <a:lstStyle/>
                    <a:p>
                      <a:pPr algn="l"/>
                      <a:r>
                        <a:rPr sz="1700" b="1">
                          <a:solidFill>
                            <a:srgbClr val="00566C"/>
                          </a:solidFill>
                          <a:latin typeface="Arial"/>
                        </a:rPr>
                        <a:t>AUC-ROC</a:t>
                      </a:r>
                    </a:p>
                  </a:txBody>
                  <a:tcPr marL="128016" marR="91440" marT="27432" marB="27432" anchor="ctr">
                    <a:solidFill>
                      <a:srgbClr val="FFFFFF"/>
                    </a:solidFill>
                  </a:tcPr>
                </a:tc>
                <a:tc>
                  <a:txBody>
                    <a:bodyPr wrap="square"/>
                    <a:lstStyle/>
                    <a:p>
                      <a:pPr algn="ctr"/>
                      <a:r>
                        <a:rPr sz="1700" b="0">
                          <a:solidFill>
                            <a:srgbClr val="0C0B0B"/>
                          </a:solidFill>
                          <a:latin typeface="Arial"/>
                        </a:rPr>
                        <a:t>96,46 %</a:t>
                      </a:r>
                    </a:p>
                  </a:txBody>
                  <a:tcPr marL="128016" marR="91440" marT="27432" marB="27432" anchor="ctr">
                    <a:solidFill>
                      <a:srgbClr val="FFFFFF"/>
                    </a:solidFill>
                  </a:tcPr>
                </a:tc>
                <a:tc>
                  <a:txBody>
                    <a:bodyPr wrap="square"/>
                    <a:lstStyle/>
                    <a:p>
                      <a:pPr algn="ctr"/>
                      <a:r>
                        <a:rPr sz="1700" b="0">
                          <a:solidFill>
                            <a:srgbClr val="0C0B0B"/>
                          </a:solidFill>
                          <a:latin typeface="Arial"/>
                        </a:rPr>
                        <a:t>96,50 %</a:t>
                      </a:r>
                    </a:p>
                  </a:txBody>
                  <a:tcPr marL="128016" marR="91440" marT="27432" marB="27432" anchor="ctr">
                    <a:solidFill>
                      <a:srgbClr val="FFFFFF"/>
                    </a:solidFill>
                  </a:tcPr>
                </a:tc>
              </a:tr>
              <a:tr h="534924">
                <a:tc>
                  <a:txBody>
                    <a:bodyPr wrap="square"/>
                    <a:lstStyle/>
                    <a:p>
                      <a:pPr algn="l"/>
                      <a:r>
                        <a:rPr sz="1700" b="1">
                          <a:solidFill>
                            <a:srgbClr val="00566C"/>
                          </a:solidFill>
                          <a:latin typeface="Arial"/>
                        </a:rPr>
                        <a:t>Average Precision</a:t>
                      </a:r>
                    </a:p>
                  </a:txBody>
                  <a:tcPr marL="128016" marR="91440" marT="27432" marB="27432" anchor="ctr">
                    <a:solidFill>
                      <a:srgbClr val="F2F2F5"/>
                    </a:solidFill>
                  </a:tcPr>
                </a:tc>
                <a:tc>
                  <a:txBody>
                    <a:bodyPr wrap="square"/>
                    <a:lstStyle/>
                    <a:p>
                      <a:pPr algn="ctr"/>
                      <a:r>
                        <a:rPr sz="1700" b="0">
                          <a:solidFill>
                            <a:srgbClr val="0C0B0B"/>
                          </a:solidFill>
                          <a:latin typeface="Arial"/>
                        </a:rPr>
                        <a:t>89,70 %</a:t>
                      </a:r>
                    </a:p>
                  </a:txBody>
                  <a:tcPr marL="128016" marR="91440" marT="27432" marB="27432" anchor="ctr">
                    <a:solidFill>
                      <a:srgbClr val="F2F2F5"/>
                    </a:solidFill>
                  </a:tcPr>
                </a:tc>
                <a:tc>
                  <a:txBody>
                    <a:bodyPr wrap="square"/>
                    <a:lstStyle/>
                    <a:p>
                      <a:pPr algn="ctr"/>
                      <a:r>
                        <a:rPr sz="1700" b="1">
                          <a:solidFill>
                            <a:srgbClr val="00566C"/>
                          </a:solidFill>
                          <a:latin typeface="Arial"/>
                        </a:rPr>
                        <a:t>96,00 %</a:t>
                      </a:r>
                    </a:p>
                  </a:txBody>
                  <a:tcPr marL="128016" marR="91440" marT="27432" marB="27432" anchor="ctr">
                    <a:solidFill>
                      <a:srgbClr val="F2F2F5"/>
                    </a:solidFill>
                  </a:tcPr>
                </a:tc>
              </a:tr>
              <a:tr h="534924">
                <a:tc>
                  <a:txBody>
                    <a:bodyPr wrap="square"/>
                    <a:lstStyle/>
                    <a:p>
                      <a:pPr algn="l"/>
                      <a:r>
                        <a:rPr sz="1700" b="1">
                          <a:solidFill>
                            <a:srgbClr val="00566C"/>
                          </a:solidFill>
                          <a:latin typeface="Arial"/>
                        </a:rPr>
                        <a:t>Cohen's Kappa / MCC</a:t>
                      </a:r>
                    </a:p>
                  </a:txBody>
                  <a:tcPr marL="128016" marR="91440" marT="27432" marB="27432" anchor="ctr">
                    <a:solidFill>
                      <a:srgbClr val="FFFFFF"/>
                    </a:solidFill>
                  </a:tcPr>
                </a:tc>
                <a:tc>
                  <a:txBody>
                    <a:bodyPr wrap="square"/>
                    <a:lstStyle/>
                    <a:p>
                      <a:pPr algn="ctr"/>
                      <a:r>
                        <a:rPr sz="1700" b="0">
                          <a:solidFill>
                            <a:srgbClr val="0C0B0B"/>
                          </a:solidFill>
                          <a:latin typeface="Arial"/>
                        </a:rPr>
                        <a:t>0,786</a:t>
                      </a:r>
                    </a:p>
                  </a:txBody>
                  <a:tcPr marL="128016" marR="91440" marT="27432" marB="27432" anchor="ctr">
                    <a:solidFill>
                      <a:srgbClr val="FFFFFF"/>
                    </a:solidFill>
                  </a:tcPr>
                </a:tc>
                <a:tc>
                  <a:txBody>
                    <a:bodyPr wrap="square"/>
                    <a:lstStyle/>
                    <a:p>
                      <a:pPr algn="ctr"/>
                      <a:r>
                        <a:rPr sz="1700" b="1">
                          <a:solidFill>
                            <a:srgbClr val="00566C"/>
                          </a:solidFill>
                          <a:latin typeface="Arial"/>
                        </a:rPr>
                        <a:t>0,829</a:t>
                      </a:r>
                    </a:p>
                  </a:txBody>
                  <a:tcPr marL="128016" marR="91440" marT="27432" marB="27432" anchor="ctr">
                    <a:solidFill>
                      <a:srgbClr val="FFFFFF"/>
                    </a:solidFill>
                  </a:tcPr>
                </a:tc>
              </a:tr>
            </a:tbl>
          </a:graphicData>
        </a:graphic>
      </p:graphicFrame>
      <p:pic>
        <p:nvPicPr>
          <p:cNvPr id="6" name="Picture 5" descr="c7_falsos_negativos.png"/>
          <p:cNvPicPr>
            <a:picLocks noChangeAspect="1"/>
          </p:cNvPicPr>
          <p:nvPr/>
        </p:nvPicPr>
        <p:blipFill>
          <a:blip r:embed="rId2"/>
          <a:stretch>
            <a:fillRect/>
          </a:stretch>
        </p:blipFill>
        <p:spPr>
          <a:xfrm>
            <a:off x="9336024" y="2331720"/>
            <a:ext cx="8074152" cy="3497404"/>
          </a:xfrm>
          <a:prstGeom prst="rect">
            <a:avLst/>
          </a:prstGeom>
        </p:spPr>
      </p:pic>
      <p:sp>
        <p:nvSpPr>
          <p:cNvPr id="7" name="Rectangle 6"/>
          <p:cNvSpPr/>
          <p:nvPr/>
        </p:nvSpPr>
        <p:spPr>
          <a:xfrm>
            <a:off x="9336024" y="5870448"/>
            <a:ext cx="8074152" cy="2011680"/>
          </a:xfrm>
          <a:prstGeom prst="rect">
            <a:avLst/>
          </a:prstGeom>
          <a:solidFill>
            <a:srgbClr val="DDE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9336024" y="5870448"/>
            <a:ext cx="82296" cy="2011680"/>
          </a:xfrm>
          <a:prstGeom prst="rect">
            <a:avLst/>
          </a:prstGeom>
          <a:solidFill>
            <a:srgbClr val="0056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701784" y="6016752"/>
            <a:ext cx="7498079" cy="1737360"/>
          </a:xfrm>
          <a:prstGeom prst="rect">
            <a:avLst/>
          </a:prstGeom>
          <a:noFill/>
        </p:spPr>
        <p:txBody>
          <a:bodyPr wrap="square" lIns="18288" rIns="18288" tIns="0" bIns="0" anchor="t">
            <a:spAutoFit/>
          </a:bodyPr>
          <a:lstStyle/>
          <a:p>
            <a:pPr algn="l">
              <a:lnSpc>
                <a:spcPct val="105000"/>
              </a:lnSpc>
              <a:spcBef>
                <a:spcPts val="0"/>
              </a:spcBef>
              <a:spcAft>
                <a:spcPts val="700"/>
              </a:spcAft>
            </a:pPr>
            <a:r>
              <a:rPr sz="2000" b="1" i="0">
                <a:solidFill>
                  <a:srgbClr val="00566C"/>
                </a:solidFill>
                <a:latin typeface="Arial"/>
              </a:rPr>
              <a:t>La lectura clave</a:t>
            </a:r>
          </a:p>
          <a:p>
            <a:pPr algn="l">
              <a:lnSpc>
                <a:spcPct val="105000"/>
              </a:lnSpc>
              <a:spcBef>
                <a:spcPts val="0"/>
              </a:spcBef>
              <a:spcAft>
                <a:spcPts val="700"/>
              </a:spcAft>
            </a:pPr>
            <a:r>
              <a:rPr sz="1600" b="0" i="0">
                <a:solidFill>
                  <a:srgbClr val="0C0B0B"/>
                </a:solidFill>
                <a:latin typeface="Arial"/>
              </a:rPr>
              <a:t>Sobre las mismas 391 lesiones malignas de validación, los falsos negativos caen de 74 (18,9 %) a 39 (10,0 %): se reducen casi a la mitad.</a:t>
            </a:r>
          </a:p>
          <a:p>
            <a:pPr algn="l">
              <a:lnSpc>
                <a:spcPct val="105000"/>
              </a:lnSpc>
              <a:spcBef>
                <a:spcPts val="0"/>
              </a:spcBef>
              <a:spcAft>
                <a:spcPts val="0"/>
              </a:spcAft>
            </a:pPr>
            <a:r>
              <a:rPr sz="1600" b="0" i="0">
                <a:solidFill>
                  <a:srgbClr val="0C0B0B"/>
                </a:solidFill>
                <a:latin typeface="Arial"/>
              </a:rPr>
              <a:t>El AUC-ROC se mantiene prácticamente constante (96,46 % → 96,50 %): la capacidad de discriminación apenas cambia. Lo que el balanceo mueve es el punto de operación del clasificador, no lo que la red ha aprendido.</a:t>
            </a:r>
          </a:p>
        </p:txBody>
      </p:sp>
      <p:sp>
        <p:nvSpPr>
          <p:cNvPr id="10" name="Rectangle 9"/>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El efecto observado con SVM se reproduce con DenseNet201: balancear el dataset es una decisión de datos, no un artefacto de un algoritmo concreto.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27</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EVALUACIÓN Y RESULTADOS</a:t>
            </a:r>
          </a:p>
          <a:p>
            <a:pPr algn="l">
              <a:lnSpc>
                <a:spcPct val="92000"/>
              </a:lnSpc>
              <a:spcBef>
                <a:spcPts val="0"/>
              </a:spcBef>
              <a:spcAft>
                <a:spcPts val="0"/>
              </a:spcAft>
            </a:pPr>
            <a:r>
              <a:rPr sz="4000" b="1" i="0">
                <a:solidFill>
                  <a:srgbClr val="00566C"/>
                </a:solidFill>
                <a:latin typeface="Arial"/>
              </a:rPr>
              <a:t>DenseNet201 — Cabeza B: el trade-off que el balanceo introduce</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Lo que beneficia al triaje binario perjudica al diagnóstico específico de las siete patologías</a:t>
            </a:r>
          </a:p>
        </p:txBody>
      </p:sp>
      <p:pic>
        <p:nvPicPr>
          <p:cNvPr id="5" name="Picture 4" descr="c4_cabezaB_recall.png"/>
          <p:cNvPicPr>
            <a:picLocks noChangeAspect="1"/>
          </p:cNvPicPr>
          <p:nvPr/>
        </p:nvPicPr>
        <p:blipFill>
          <a:blip r:embed="rId2"/>
          <a:stretch>
            <a:fillRect/>
          </a:stretch>
        </p:blipFill>
        <p:spPr>
          <a:xfrm>
            <a:off x="877824" y="2267712"/>
            <a:ext cx="8934070" cy="3977639"/>
          </a:xfrm>
          <a:prstGeom prst="rect">
            <a:avLst/>
          </a:prstGeom>
        </p:spPr>
      </p:pic>
      <p:graphicFrame>
        <p:nvGraphicFramePr>
          <p:cNvPr id="6" name="Table 5"/>
          <p:cNvGraphicFramePr>
            <a:graphicFrameLocks noGrp="1"/>
          </p:cNvGraphicFramePr>
          <p:nvPr/>
        </p:nvGraphicFramePr>
        <p:xfrm>
          <a:off x="10250424" y="2331720"/>
          <a:ext cx="7159751" cy="3794760"/>
        </p:xfrm>
        <a:graphic>
          <a:graphicData uri="http://schemas.openxmlformats.org/drawingml/2006/table">
            <a:tbl>
              <a:tblPr>
                <a:tableStyleId>{5C22544A-7EE6-4342-B048-85BDC9FD1C3A}</a:tableStyleId>
              </a:tblPr>
              <a:tblGrid>
                <a:gridCol w="3196317"/>
                <a:gridCol w="1981717"/>
                <a:gridCol w="1981717"/>
              </a:tblGrid>
              <a:tr h="502920">
                <a:tc>
                  <a:txBody>
                    <a:bodyPr wrap="square"/>
                    <a:lstStyle/>
                    <a:p>
                      <a:pPr algn="l"/>
                      <a:r>
                        <a:rPr sz="1700" b="1">
                          <a:solidFill>
                            <a:srgbClr val="FFFFFF"/>
                          </a:solidFill>
                          <a:latin typeface="Arial"/>
                        </a:rPr>
                        <a:t>Cabeza B</a:t>
                      </a:r>
                    </a:p>
                  </a:txBody>
                  <a:tcPr marL="128016" marR="91440" marT="27432" marB="27432" anchor="ctr">
                    <a:solidFill>
                      <a:srgbClr val="219BC3"/>
                    </a:solidFill>
                  </a:tcPr>
                </a:tc>
                <a:tc>
                  <a:txBody>
                    <a:bodyPr wrap="square"/>
                    <a:lstStyle/>
                    <a:p>
                      <a:pPr algn="ctr"/>
                      <a:r>
                        <a:rPr sz="1700" b="1">
                          <a:solidFill>
                            <a:srgbClr val="FFFFFF"/>
                          </a:solidFill>
                          <a:latin typeface="Arial"/>
                        </a:rPr>
                        <a:t>Esc. 1</a:t>
                      </a:r>
                    </a:p>
                  </a:txBody>
                  <a:tcPr marL="128016" marR="91440" marT="27432" marB="27432" anchor="ctr">
                    <a:solidFill>
                      <a:srgbClr val="219BC3"/>
                    </a:solidFill>
                  </a:tcPr>
                </a:tc>
                <a:tc>
                  <a:txBody>
                    <a:bodyPr wrap="square"/>
                    <a:lstStyle/>
                    <a:p>
                      <a:pPr algn="ctr"/>
                      <a:r>
                        <a:rPr sz="1700" b="1">
                          <a:solidFill>
                            <a:srgbClr val="FFFFFF"/>
                          </a:solidFill>
                          <a:latin typeface="Arial"/>
                        </a:rPr>
                        <a:t>Esc. 2</a:t>
                      </a:r>
                    </a:p>
                  </a:txBody>
                  <a:tcPr marL="128016" marR="91440" marT="27432" marB="27432" anchor="ctr">
                    <a:solidFill>
                      <a:srgbClr val="219BC3"/>
                    </a:solidFill>
                  </a:tcPr>
                </a:tc>
              </a:tr>
              <a:tr h="548640">
                <a:tc>
                  <a:txBody>
                    <a:bodyPr wrap="square"/>
                    <a:lstStyle/>
                    <a:p>
                      <a:pPr algn="l"/>
                      <a:r>
                        <a:rPr sz="1700" b="1">
                          <a:solidFill>
                            <a:srgbClr val="00566C"/>
                          </a:solidFill>
                          <a:latin typeface="Arial"/>
                        </a:rPr>
                        <a:t>Accuracy</a:t>
                      </a:r>
                    </a:p>
                  </a:txBody>
                  <a:tcPr marL="128016" marR="91440" marT="27432" marB="27432" anchor="ctr">
                    <a:solidFill>
                      <a:srgbClr val="FFFFFF"/>
                    </a:solidFill>
                  </a:tcPr>
                </a:tc>
                <a:tc>
                  <a:txBody>
                    <a:bodyPr wrap="square"/>
                    <a:lstStyle/>
                    <a:p>
                      <a:pPr algn="ctr"/>
                      <a:r>
                        <a:rPr sz="1700" b="0">
                          <a:solidFill>
                            <a:srgbClr val="0C0B0B"/>
                          </a:solidFill>
                          <a:latin typeface="Arial"/>
                        </a:rPr>
                        <a:t>90,36 %</a:t>
                      </a:r>
                    </a:p>
                  </a:txBody>
                  <a:tcPr marL="128016" marR="91440" marT="27432" marB="27432" anchor="ctr">
                    <a:solidFill>
                      <a:srgbClr val="FFFFFF"/>
                    </a:solidFill>
                  </a:tcPr>
                </a:tc>
                <a:tc>
                  <a:txBody>
                    <a:bodyPr wrap="square"/>
                    <a:lstStyle/>
                    <a:p>
                      <a:pPr algn="ctr"/>
                      <a:r>
                        <a:rPr sz="1700" b="0">
                          <a:solidFill>
                            <a:srgbClr val="0C0B0B"/>
                          </a:solidFill>
                          <a:latin typeface="Arial"/>
                        </a:rPr>
                        <a:t>86,96 %</a:t>
                      </a:r>
                    </a:p>
                  </a:txBody>
                  <a:tcPr marL="128016" marR="91440" marT="27432" marB="27432" anchor="ctr">
                    <a:solidFill>
                      <a:srgbClr val="FFFFFF"/>
                    </a:solidFill>
                  </a:tcPr>
                </a:tc>
              </a:tr>
              <a:tr h="548640">
                <a:tc>
                  <a:txBody>
                    <a:bodyPr wrap="square"/>
                    <a:lstStyle/>
                    <a:p>
                      <a:pPr algn="l"/>
                      <a:r>
                        <a:rPr sz="1700" b="1">
                          <a:solidFill>
                            <a:srgbClr val="00566C"/>
                          </a:solidFill>
                          <a:latin typeface="Arial"/>
                        </a:rPr>
                        <a:t>Recall Macro</a:t>
                      </a:r>
                    </a:p>
                  </a:txBody>
                  <a:tcPr marL="128016" marR="91440" marT="27432" marB="27432" anchor="ctr">
                    <a:solidFill>
                      <a:srgbClr val="F2F2F5"/>
                    </a:solidFill>
                  </a:tcPr>
                </a:tc>
                <a:tc>
                  <a:txBody>
                    <a:bodyPr wrap="square"/>
                    <a:lstStyle/>
                    <a:p>
                      <a:pPr algn="ctr"/>
                      <a:r>
                        <a:rPr sz="1700" b="0">
                          <a:solidFill>
                            <a:srgbClr val="0C0B0B"/>
                          </a:solidFill>
                          <a:latin typeface="Arial"/>
                        </a:rPr>
                        <a:t>87,78 %</a:t>
                      </a:r>
                    </a:p>
                  </a:txBody>
                  <a:tcPr marL="128016" marR="91440" marT="27432" marB="27432" anchor="ctr">
                    <a:solidFill>
                      <a:srgbClr val="F2F2F5"/>
                    </a:solidFill>
                  </a:tcPr>
                </a:tc>
                <a:tc>
                  <a:txBody>
                    <a:bodyPr wrap="square"/>
                    <a:lstStyle/>
                    <a:p>
                      <a:pPr algn="ctr"/>
                      <a:r>
                        <a:rPr sz="1700" b="1">
                          <a:solidFill>
                            <a:srgbClr val="C0393B"/>
                          </a:solidFill>
                          <a:latin typeface="Arial"/>
                        </a:rPr>
                        <a:t>78,13 %</a:t>
                      </a:r>
                    </a:p>
                  </a:txBody>
                  <a:tcPr marL="128016" marR="91440" marT="27432" marB="27432" anchor="ctr">
                    <a:solidFill>
                      <a:srgbClr val="F2F2F5"/>
                    </a:solidFill>
                  </a:tcPr>
                </a:tc>
              </a:tr>
              <a:tr h="548640">
                <a:tc>
                  <a:txBody>
                    <a:bodyPr wrap="square"/>
                    <a:lstStyle/>
                    <a:p>
                      <a:pPr algn="l"/>
                      <a:r>
                        <a:rPr sz="1700" b="1">
                          <a:solidFill>
                            <a:srgbClr val="00566C"/>
                          </a:solidFill>
                          <a:latin typeface="Arial"/>
                        </a:rPr>
                        <a:t>Precision Macro</a:t>
                      </a:r>
                    </a:p>
                  </a:txBody>
                  <a:tcPr marL="128016" marR="91440" marT="27432" marB="27432" anchor="ctr">
                    <a:solidFill>
                      <a:srgbClr val="FFFFFF"/>
                    </a:solidFill>
                  </a:tcPr>
                </a:tc>
                <a:tc>
                  <a:txBody>
                    <a:bodyPr wrap="square"/>
                    <a:lstStyle/>
                    <a:p>
                      <a:pPr algn="ctr"/>
                      <a:r>
                        <a:rPr sz="1700" b="0">
                          <a:solidFill>
                            <a:srgbClr val="0C0B0B"/>
                          </a:solidFill>
                          <a:latin typeface="Arial"/>
                        </a:rPr>
                        <a:t>85,99 %</a:t>
                      </a:r>
                    </a:p>
                  </a:txBody>
                  <a:tcPr marL="128016" marR="91440" marT="27432" marB="27432" anchor="ctr">
                    <a:solidFill>
                      <a:srgbClr val="FFFFFF"/>
                    </a:solidFill>
                  </a:tcPr>
                </a:tc>
                <a:tc>
                  <a:txBody>
                    <a:bodyPr wrap="square"/>
                    <a:lstStyle/>
                    <a:p>
                      <a:pPr algn="ctr"/>
                      <a:r>
                        <a:rPr sz="1700" b="0">
                          <a:solidFill>
                            <a:srgbClr val="0C0B0B"/>
                          </a:solidFill>
                          <a:latin typeface="Arial"/>
                        </a:rPr>
                        <a:t>81,86 %</a:t>
                      </a:r>
                    </a:p>
                  </a:txBody>
                  <a:tcPr marL="128016" marR="91440" marT="27432" marB="27432" anchor="ctr">
                    <a:solidFill>
                      <a:srgbClr val="FFFFFF"/>
                    </a:solidFill>
                  </a:tcPr>
                </a:tc>
              </a:tr>
              <a:tr h="548640">
                <a:tc>
                  <a:txBody>
                    <a:bodyPr wrap="square"/>
                    <a:lstStyle/>
                    <a:p>
                      <a:pPr algn="l"/>
                      <a:r>
                        <a:rPr sz="1700" b="1">
                          <a:solidFill>
                            <a:srgbClr val="00566C"/>
                          </a:solidFill>
                          <a:latin typeface="Arial"/>
                        </a:rPr>
                        <a:t>F1 Macro</a:t>
                      </a:r>
                    </a:p>
                  </a:txBody>
                  <a:tcPr marL="128016" marR="91440" marT="27432" marB="27432" anchor="ctr">
                    <a:solidFill>
                      <a:srgbClr val="F2F2F5"/>
                    </a:solidFill>
                  </a:tcPr>
                </a:tc>
                <a:tc>
                  <a:txBody>
                    <a:bodyPr wrap="square"/>
                    <a:lstStyle/>
                    <a:p>
                      <a:pPr algn="ctr"/>
                      <a:r>
                        <a:rPr sz="1700" b="0">
                          <a:solidFill>
                            <a:srgbClr val="0C0B0B"/>
                          </a:solidFill>
                          <a:latin typeface="Arial"/>
                        </a:rPr>
                        <a:t>86,79 %</a:t>
                      </a:r>
                    </a:p>
                  </a:txBody>
                  <a:tcPr marL="128016" marR="91440" marT="27432" marB="27432" anchor="ctr">
                    <a:solidFill>
                      <a:srgbClr val="F2F2F5"/>
                    </a:solidFill>
                  </a:tcPr>
                </a:tc>
                <a:tc>
                  <a:txBody>
                    <a:bodyPr wrap="square"/>
                    <a:lstStyle/>
                    <a:p>
                      <a:pPr algn="ctr"/>
                      <a:r>
                        <a:rPr sz="1700" b="1">
                          <a:solidFill>
                            <a:srgbClr val="C0393B"/>
                          </a:solidFill>
                          <a:latin typeface="Arial"/>
                        </a:rPr>
                        <a:t>79,71 %</a:t>
                      </a:r>
                    </a:p>
                  </a:txBody>
                  <a:tcPr marL="128016" marR="91440" marT="27432" marB="27432" anchor="ctr">
                    <a:solidFill>
                      <a:srgbClr val="F2F2F5"/>
                    </a:solidFill>
                  </a:tcPr>
                </a:tc>
              </a:tr>
              <a:tr h="548640">
                <a:tc>
                  <a:txBody>
                    <a:bodyPr wrap="square"/>
                    <a:lstStyle/>
                    <a:p>
                      <a:pPr algn="l"/>
                      <a:r>
                        <a:rPr sz="1700" b="1">
                          <a:solidFill>
                            <a:srgbClr val="00566C"/>
                          </a:solidFill>
                          <a:latin typeface="Arial"/>
                        </a:rPr>
                        <a:t>AUC Macro</a:t>
                      </a:r>
                    </a:p>
                  </a:txBody>
                  <a:tcPr marL="128016" marR="91440" marT="27432" marB="27432" anchor="ctr">
                    <a:solidFill>
                      <a:srgbClr val="FFFFFF"/>
                    </a:solidFill>
                  </a:tcPr>
                </a:tc>
                <a:tc>
                  <a:txBody>
                    <a:bodyPr wrap="square"/>
                    <a:lstStyle/>
                    <a:p>
                      <a:pPr algn="ctr"/>
                      <a:r>
                        <a:rPr sz="1700" b="0">
                          <a:solidFill>
                            <a:srgbClr val="0C0B0B"/>
                          </a:solidFill>
                          <a:latin typeface="Arial"/>
                        </a:rPr>
                        <a:t>98,44 %</a:t>
                      </a:r>
                    </a:p>
                  </a:txBody>
                  <a:tcPr marL="128016" marR="91440" marT="27432" marB="27432" anchor="ctr">
                    <a:solidFill>
                      <a:srgbClr val="FFFFFF"/>
                    </a:solidFill>
                  </a:tcPr>
                </a:tc>
                <a:tc>
                  <a:txBody>
                    <a:bodyPr wrap="square"/>
                    <a:lstStyle/>
                    <a:p>
                      <a:pPr algn="ctr"/>
                      <a:r>
                        <a:rPr sz="1700" b="0">
                          <a:solidFill>
                            <a:srgbClr val="0C0B0B"/>
                          </a:solidFill>
                          <a:latin typeface="Arial"/>
                        </a:rPr>
                        <a:t>97,88 %</a:t>
                      </a:r>
                    </a:p>
                  </a:txBody>
                  <a:tcPr marL="128016" marR="91440" marT="27432" marB="27432" anchor="ctr">
                    <a:solidFill>
                      <a:srgbClr val="FFFFFF"/>
                    </a:solidFill>
                  </a:tcPr>
                </a:tc>
              </a:tr>
              <a:tr h="548640">
                <a:tc>
                  <a:txBody>
                    <a:bodyPr wrap="square"/>
                    <a:lstStyle/>
                    <a:p>
                      <a:pPr algn="l"/>
                      <a:r>
                        <a:rPr sz="1700" b="1">
                          <a:solidFill>
                            <a:srgbClr val="00566C"/>
                          </a:solidFill>
                          <a:latin typeface="Arial"/>
                        </a:rPr>
                        <a:t>Kappa / MCC</a:t>
                      </a:r>
                    </a:p>
                  </a:txBody>
                  <a:tcPr marL="128016" marR="91440" marT="27432" marB="27432" anchor="ctr">
                    <a:solidFill>
                      <a:srgbClr val="F2F2F5"/>
                    </a:solidFill>
                  </a:tcPr>
                </a:tc>
                <a:tc>
                  <a:txBody>
                    <a:bodyPr wrap="square"/>
                    <a:lstStyle/>
                    <a:p>
                      <a:pPr algn="ctr"/>
                      <a:r>
                        <a:rPr sz="1700" b="0">
                          <a:solidFill>
                            <a:srgbClr val="0C0B0B"/>
                          </a:solidFill>
                          <a:latin typeface="Arial"/>
                        </a:rPr>
                        <a:t>0,816</a:t>
                      </a:r>
                    </a:p>
                  </a:txBody>
                  <a:tcPr marL="128016" marR="91440" marT="27432" marB="27432" anchor="ctr">
                    <a:solidFill>
                      <a:srgbClr val="F2F2F5"/>
                    </a:solidFill>
                  </a:tcPr>
                </a:tc>
                <a:tc>
                  <a:txBody>
                    <a:bodyPr wrap="square"/>
                    <a:lstStyle/>
                    <a:p>
                      <a:pPr algn="ctr"/>
                      <a:r>
                        <a:rPr sz="1700" b="0">
                          <a:solidFill>
                            <a:srgbClr val="0C0B0B"/>
                          </a:solidFill>
                          <a:latin typeface="Arial"/>
                        </a:rPr>
                        <a:t>0,815</a:t>
                      </a:r>
                    </a:p>
                  </a:txBody>
                  <a:tcPr marL="128016" marR="91440" marT="27432" marB="27432" anchor="ctr">
                    <a:solidFill>
                      <a:srgbClr val="F2F2F5"/>
                    </a:solidFill>
                  </a:tcPr>
                </a:tc>
              </a:tr>
            </a:tbl>
          </a:graphicData>
        </a:graphic>
      </p:graphicFrame>
      <p:sp>
        <p:nvSpPr>
          <p:cNvPr id="7" name="Rectangle 6"/>
          <p:cNvSpPr/>
          <p:nvPr/>
        </p:nvSpPr>
        <p:spPr>
          <a:xfrm>
            <a:off x="10250424" y="6263640"/>
            <a:ext cx="7159751" cy="1618488"/>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10250424" y="6263640"/>
            <a:ext cx="64008" cy="161848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43032" y="6446520"/>
            <a:ext cx="6565391" cy="1325880"/>
          </a:xfrm>
          <a:prstGeom prst="rect">
            <a:avLst/>
          </a:prstGeom>
          <a:noFill/>
        </p:spPr>
        <p:txBody>
          <a:bodyPr wrap="square" lIns="18288" rIns="18288" tIns="0" bIns="0" anchor="t">
            <a:spAutoFit/>
          </a:bodyPr>
          <a:lstStyle/>
          <a:p>
            <a:pPr algn="l">
              <a:lnSpc>
                <a:spcPct val="104000"/>
              </a:lnSpc>
              <a:spcBef>
                <a:spcPts val="0"/>
              </a:spcBef>
              <a:spcAft>
                <a:spcPts val="600"/>
              </a:spcAft>
            </a:pPr>
            <a:r>
              <a:rPr sz="1900" b="1" i="0">
                <a:solidFill>
                  <a:srgbClr val="00566C"/>
                </a:solidFill>
                <a:latin typeface="Arial"/>
              </a:rPr>
              <a:t>El caso llamativo: akiec</a:t>
            </a:r>
          </a:p>
          <a:p>
            <a:pPr algn="l">
              <a:lnSpc>
                <a:spcPct val="104000"/>
              </a:lnSpc>
              <a:spcBef>
                <a:spcPts val="0"/>
              </a:spcBef>
              <a:spcAft>
                <a:spcPts val="0"/>
              </a:spcAft>
            </a:pPr>
            <a:r>
              <a:rPr sz="1600" b="0" i="0">
                <a:solidFill>
                  <a:srgbClr val="858591"/>
                </a:solidFill>
                <a:latin typeface="Arial"/>
              </a:rPr>
              <a:t>Pierde 18,46 puntos de recall pese a conservar exactamente las mismas 262 muestras de entrenamiento. Su peso de clase cae de 4,37 a 1,70 al recalcularse sobre un conjunto más pequeño.</a:t>
            </a:r>
          </a:p>
        </p:txBody>
      </p:sp>
      <p:sp>
        <p:nvSpPr>
          <p:cNvPr id="10" name="Rectangle 9"/>
          <p:cNvSpPr/>
          <p:nvPr/>
        </p:nvSpPr>
        <p:spPr>
          <a:xfrm>
            <a:off x="877824" y="6382512"/>
            <a:ext cx="8933688" cy="1499616"/>
          </a:xfrm>
          <a:prstGeom prst="rect">
            <a:avLst/>
          </a:prstGeom>
          <a:solidFill>
            <a:srgbClr val="DDE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877824" y="6382512"/>
            <a:ext cx="82296" cy="1499616"/>
          </a:xfrm>
          <a:prstGeom prst="rect">
            <a:avLst/>
          </a:prstGeom>
          <a:solidFill>
            <a:srgbClr val="0056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261872" y="6547104"/>
            <a:ext cx="8321040" cy="1188720"/>
          </a:xfrm>
          <a:prstGeom prst="rect">
            <a:avLst/>
          </a:prstGeom>
          <a:noFill/>
        </p:spPr>
        <p:txBody>
          <a:bodyPr wrap="square" lIns="18288" rIns="18288" tIns="0" bIns="0" anchor="t">
            <a:spAutoFit/>
          </a:bodyPr>
          <a:lstStyle/>
          <a:p>
            <a:pPr algn="l">
              <a:lnSpc>
                <a:spcPct val="105000"/>
              </a:lnSpc>
              <a:spcBef>
                <a:spcPts val="0"/>
              </a:spcBef>
              <a:spcAft>
                <a:spcPts val="600"/>
              </a:spcAft>
            </a:pPr>
            <a:r>
              <a:rPr sz="1900" b="1" i="0">
                <a:solidFill>
                  <a:srgbClr val="00566C"/>
                </a:solidFill>
                <a:latin typeface="Arial"/>
              </a:rPr>
              <a:t>Melanoma: única clase que mejora, +12,11 puntos (73,99 % → 86,10 %)</a:t>
            </a:r>
          </a:p>
          <a:p>
            <a:pPr algn="l">
              <a:lnSpc>
                <a:spcPct val="105000"/>
              </a:lnSpc>
              <a:spcBef>
                <a:spcPts val="0"/>
              </a:spcBef>
              <a:spcAft>
                <a:spcPts val="0"/>
              </a:spcAft>
            </a:pPr>
            <a:r>
              <a:rPr sz="1600" b="0" i="0">
                <a:solidFill>
                  <a:srgbClr val="0C0B0B"/>
                </a:solidFill>
                <a:latin typeface="Arial"/>
              </a:rPr>
              <a:t>Las caídas más severas —dermatofibroma (−31,30) y lesión vascular (−13,10)— son las clases benignas que el submuestreo reduce a 18 y 24 muestras, frente a 92 y 114 en el Escenario 1.</a:t>
            </a:r>
          </a:p>
        </p:txBody>
      </p:sp>
      <p:sp>
        <p:nvSpPr>
          <p:cNvPr id="13" name="Rectangle 12"/>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Los dos escenarios son óptimos para propósitos clínicos distintos: el Escenario 1 para cribado masivo; el Escenario 2 para segunda opinión oncológica.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28</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EVALUACIÓN Y RESULTADOS</a:t>
            </a:r>
          </a:p>
          <a:p>
            <a:pPr algn="l">
              <a:lnSpc>
                <a:spcPct val="92000"/>
              </a:lnSpc>
              <a:spcBef>
                <a:spcPts val="0"/>
              </a:spcBef>
              <a:spcAft>
                <a:spcPts val="0"/>
              </a:spcAft>
            </a:pPr>
            <a:r>
              <a:rPr sz="4000" b="1" i="0">
                <a:solidFill>
                  <a:srgbClr val="00566C"/>
                </a:solidFill>
                <a:latin typeface="Arial"/>
              </a:rPr>
              <a:t>Cara a cara: SVM vs. DenseNet201 sobre la misma tarea binaria</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Ambos representados por su mejor configuración — el Escenario 2 — y evaluados con el mismo criterio de éxito</a:t>
            </a:r>
          </a:p>
        </p:txBody>
      </p:sp>
      <p:graphicFrame>
        <p:nvGraphicFramePr>
          <p:cNvPr id="5" name="Table 4"/>
          <p:cNvGraphicFramePr>
            <a:graphicFrameLocks noGrp="1"/>
          </p:cNvGraphicFramePr>
          <p:nvPr/>
        </p:nvGraphicFramePr>
        <p:xfrm>
          <a:off x="877824" y="2331720"/>
          <a:ext cx="9418319" cy="5513832"/>
        </p:xfrm>
        <a:graphic>
          <a:graphicData uri="http://schemas.openxmlformats.org/drawingml/2006/table">
            <a:tbl>
              <a:tblPr>
                <a:tableStyleId>{5C22544A-7EE6-4342-B048-85BDC9FD1C3A}</a:tableStyleId>
              </a:tblPr>
              <a:tblGrid>
                <a:gridCol w="3291840"/>
                <a:gridCol w="2926079"/>
                <a:gridCol w="3200400"/>
              </a:tblGrid>
              <a:tr h="530352">
                <a:tc>
                  <a:txBody>
                    <a:bodyPr wrap="square"/>
                    <a:lstStyle/>
                    <a:p>
                      <a:pPr algn="l"/>
                      <a:r>
                        <a:rPr sz="1700" b="1">
                          <a:solidFill>
                            <a:srgbClr val="FFFFFF"/>
                          </a:solidFill>
                          <a:latin typeface="Arial"/>
                        </a:rPr>
                        <a:t>Dimensión</a:t>
                      </a:r>
                    </a:p>
                  </a:txBody>
                  <a:tcPr marL="128016" marR="91440" marT="27432" marB="27432" anchor="ctr">
                    <a:solidFill>
                      <a:srgbClr val="219BC3"/>
                    </a:solidFill>
                  </a:tcPr>
                </a:tc>
                <a:tc>
                  <a:txBody>
                    <a:bodyPr wrap="square"/>
                    <a:lstStyle/>
                    <a:p>
                      <a:pPr algn="ctr"/>
                      <a:r>
                        <a:rPr sz="1700" b="1">
                          <a:solidFill>
                            <a:srgbClr val="FFFFFF"/>
                          </a:solidFill>
                          <a:latin typeface="Arial"/>
                        </a:rPr>
                        <a:t>SVM — Esc. 2</a:t>
                      </a:r>
                    </a:p>
                  </a:txBody>
                  <a:tcPr marL="128016" marR="91440" marT="27432" marB="27432" anchor="ctr">
                    <a:solidFill>
                      <a:srgbClr val="219BC3"/>
                    </a:solidFill>
                  </a:tcPr>
                </a:tc>
                <a:tc>
                  <a:txBody>
                    <a:bodyPr wrap="square"/>
                    <a:lstStyle/>
                    <a:p>
                      <a:pPr algn="ctr"/>
                      <a:r>
                        <a:rPr sz="1700" b="1">
                          <a:solidFill>
                            <a:srgbClr val="FFFFFF"/>
                          </a:solidFill>
                          <a:latin typeface="Arial"/>
                        </a:rPr>
                        <a:t>DenseNet201 — Esc. 2 (Cabeza A)</a:t>
                      </a:r>
                    </a:p>
                  </a:txBody>
                  <a:tcPr marL="128016" marR="91440" marT="27432" marB="27432" anchor="ctr">
                    <a:solidFill>
                      <a:srgbClr val="219BC3"/>
                    </a:solidFill>
                  </a:tcPr>
                </a:tc>
              </a:tr>
              <a:tr h="498348">
                <a:tc>
                  <a:txBody>
                    <a:bodyPr wrap="square"/>
                    <a:lstStyle/>
                    <a:p>
                      <a:pPr algn="l"/>
                      <a:r>
                        <a:rPr sz="1700" b="1">
                          <a:solidFill>
                            <a:srgbClr val="00566C"/>
                          </a:solidFill>
                          <a:latin typeface="Arial"/>
                        </a:rPr>
                        <a:t>Conjunto de evaluación</a:t>
                      </a:r>
                    </a:p>
                  </a:txBody>
                  <a:tcPr marL="128016" marR="91440" marT="27432" marB="27432" anchor="ctr">
                    <a:solidFill>
                      <a:srgbClr val="FFFFFF"/>
                    </a:solidFill>
                  </a:tcPr>
                </a:tc>
                <a:tc>
                  <a:txBody>
                    <a:bodyPr wrap="square"/>
                    <a:lstStyle/>
                    <a:p>
                      <a:pPr algn="ctr"/>
                      <a:r>
                        <a:rPr sz="1700" b="0">
                          <a:solidFill>
                            <a:srgbClr val="0C0B0B"/>
                          </a:solidFill>
                          <a:latin typeface="Arial"/>
                        </a:rPr>
                        <a:t>789 imágenes (agrupadas por lesión)</a:t>
                      </a:r>
                    </a:p>
                  </a:txBody>
                  <a:tcPr marL="128016" marR="91440" marT="27432" marB="27432" anchor="ctr">
                    <a:solidFill>
                      <a:srgbClr val="FFFFFF"/>
                    </a:solidFill>
                  </a:tcPr>
                </a:tc>
                <a:tc>
                  <a:txBody>
                    <a:bodyPr wrap="square"/>
                    <a:lstStyle/>
                    <a:p>
                      <a:pPr algn="ctr"/>
                      <a:r>
                        <a:rPr sz="1700" b="0">
                          <a:solidFill>
                            <a:srgbClr val="0C0B0B"/>
                          </a:solidFill>
                          <a:latin typeface="Arial"/>
                        </a:rPr>
                        <a:t>782 imágenes de validación</a:t>
                      </a:r>
                    </a:p>
                  </a:txBody>
                  <a:tcPr marL="128016" marR="91440" marT="27432" marB="27432" anchor="ctr">
                    <a:solidFill>
                      <a:srgbClr val="FFFFFF"/>
                    </a:solidFill>
                  </a:tcPr>
                </a:tc>
              </a:tr>
              <a:tr h="498348">
                <a:tc>
                  <a:txBody>
                    <a:bodyPr wrap="square"/>
                    <a:lstStyle/>
                    <a:p>
                      <a:pPr algn="l"/>
                      <a:r>
                        <a:rPr sz="1700" b="1">
                          <a:solidFill>
                            <a:srgbClr val="00566C"/>
                          </a:solidFill>
                          <a:latin typeface="Arial"/>
                        </a:rPr>
                        <a:t>Accuracy global</a:t>
                      </a:r>
                    </a:p>
                  </a:txBody>
                  <a:tcPr marL="128016" marR="91440" marT="27432" marB="27432" anchor="ctr">
                    <a:solidFill>
                      <a:srgbClr val="F2F2F5"/>
                    </a:solidFill>
                  </a:tcPr>
                </a:tc>
                <a:tc>
                  <a:txBody>
                    <a:bodyPr wrap="square"/>
                    <a:lstStyle/>
                    <a:p>
                      <a:pPr algn="ctr"/>
                      <a:r>
                        <a:rPr sz="1700" b="0">
                          <a:solidFill>
                            <a:srgbClr val="0C0B0B"/>
                          </a:solidFill>
                          <a:latin typeface="Arial"/>
                        </a:rPr>
                        <a:t>79,85 %</a:t>
                      </a:r>
                    </a:p>
                  </a:txBody>
                  <a:tcPr marL="128016" marR="91440" marT="27432" marB="27432" anchor="ctr">
                    <a:solidFill>
                      <a:srgbClr val="F2F2F5"/>
                    </a:solidFill>
                  </a:tcPr>
                </a:tc>
                <a:tc>
                  <a:txBody>
                    <a:bodyPr wrap="square"/>
                    <a:lstStyle/>
                    <a:p>
                      <a:pPr algn="ctr"/>
                      <a:r>
                        <a:rPr sz="1700" b="1">
                          <a:solidFill>
                            <a:srgbClr val="2E7D4F"/>
                          </a:solidFill>
                          <a:latin typeface="Arial"/>
                        </a:rPr>
                        <a:t>91,43 %</a:t>
                      </a:r>
                    </a:p>
                  </a:txBody>
                  <a:tcPr marL="128016" marR="91440" marT="27432" marB="27432" anchor="ctr">
                    <a:solidFill>
                      <a:srgbClr val="F2F2F5"/>
                    </a:solidFill>
                  </a:tcPr>
                </a:tc>
              </a:tr>
              <a:tr h="498348">
                <a:tc>
                  <a:txBody>
                    <a:bodyPr wrap="square"/>
                    <a:lstStyle/>
                    <a:p>
                      <a:pPr algn="l"/>
                      <a:r>
                        <a:rPr sz="1700" b="1">
                          <a:solidFill>
                            <a:srgbClr val="00566C"/>
                          </a:solidFill>
                          <a:latin typeface="Arial"/>
                        </a:rPr>
                        <a:t>Sensibilidad (Recall Maligno)</a:t>
                      </a:r>
                    </a:p>
                  </a:txBody>
                  <a:tcPr marL="128016" marR="91440" marT="27432" marB="27432" anchor="ctr">
                    <a:solidFill>
                      <a:srgbClr val="FFFFFF"/>
                    </a:solidFill>
                  </a:tcPr>
                </a:tc>
                <a:tc>
                  <a:txBody>
                    <a:bodyPr wrap="square"/>
                    <a:lstStyle/>
                    <a:p>
                      <a:pPr algn="ctr"/>
                      <a:r>
                        <a:rPr sz="1700" b="1">
                          <a:solidFill>
                            <a:srgbClr val="2E7D4F"/>
                          </a:solidFill>
                          <a:latin typeface="Arial"/>
                        </a:rPr>
                        <a:t>92,90 %</a:t>
                      </a:r>
                    </a:p>
                  </a:txBody>
                  <a:tcPr marL="128016" marR="91440" marT="27432" marB="27432" anchor="ctr">
                    <a:solidFill>
                      <a:srgbClr val="FFFFFF"/>
                    </a:solidFill>
                  </a:tcPr>
                </a:tc>
                <a:tc>
                  <a:txBody>
                    <a:bodyPr wrap="square"/>
                    <a:lstStyle/>
                    <a:p>
                      <a:pPr algn="ctr"/>
                      <a:r>
                        <a:rPr sz="1700" b="0">
                          <a:solidFill>
                            <a:srgbClr val="0C0B0B"/>
                          </a:solidFill>
                          <a:latin typeface="Arial"/>
                        </a:rPr>
                        <a:t>90,03 %</a:t>
                      </a:r>
                    </a:p>
                  </a:txBody>
                  <a:tcPr marL="128016" marR="91440" marT="27432" marB="27432" anchor="ctr">
                    <a:solidFill>
                      <a:srgbClr val="FFFFFF"/>
                    </a:solidFill>
                  </a:tcPr>
                </a:tc>
              </a:tr>
              <a:tr h="498348">
                <a:tc>
                  <a:txBody>
                    <a:bodyPr wrap="square"/>
                    <a:lstStyle/>
                    <a:p>
                      <a:pPr algn="l"/>
                      <a:r>
                        <a:rPr sz="1700" b="1">
                          <a:solidFill>
                            <a:srgbClr val="00566C"/>
                          </a:solidFill>
                          <a:latin typeface="Arial"/>
                        </a:rPr>
                        <a:t>Especificidad (Recall Benigno)</a:t>
                      </a:r>
                    </a:p>
                  </a:txBody>
                  <a:tcPr marL="128016" marR="91440" marT="27432" marB="27432" anchor="ctr">
                    <a:solidFill>
                      <a:srgbClr val="F2F2F5"/>
                    </a:solidFill>
                  </a:tcPr>
                </a:tc>
                <a:tc>
                  <a:txBody>
                    <a:bodyPr wrap="square"/>
                    <a:lstStyle/>
                    <a:p>
                      <a:pPr algn="ctr"/>
                      <a:r>
                        <a:rPr sz="1700" b="1">
                          <a:solidFill>
                            <a:srgbClr val="C0393B"/>
                          </a:solidFill>
                          <a:latin typeface="Arial"/>
                        </a:rPr>
                        <a:t>65,90 %</a:t>
                      </a:r>
                    </a:p>
                  </a:txBody>
                  <a:tcPr marL="128016" marR="91440" marT="27432" marB="27432" anchor="ctr">
                    <a:solidFill>
                      <a:srgbClr val="F2F2F5"/>
                    </a:solidFill>
                  </a:tcPr>
                </a:tc>
                <a:tc>
                  <a:txBody>
                    <a:bodyPr wrap="square"/>
                    <a:lstStyle/>
                    <a:p>
                      <a:pPr algn="ctr"/>
                      <a:r>
                        <a:rPr sz="1700" b="1">
                          <a:solidFill>
                            <a:srgbClr val="2E7D4F"/>
                          </a:solidFill>
                          <a:latin typeface="Arial"/>
                        </a:rPr>
                        <a:t>92,84 %</a:t>
                      </a:r>
                    </a:p>
                  </a:txBody>
                  <a:tcPr marL="128016" marR="91440" marT="27432" marB="27432" anchor="ctr">
                    <a:solidFill>
                      <a:srgbClr val="F2F2F5"/>
                    </a:solidFill>
                  </a:tcPr>
                </a:tc>
              </a:tr>
              <a:tr h="498348">
                <a:tc>
                  <a:txBody>
                    <a:bodyPr wrap="square"/>
                    <a:lstStyle/>
                    <a:p>
                      <a:pPr algn="l"/>
                      <a:r>
                        <a:rPr sz="1700" b="1">
                          <a:solidFill>
                            <a:srgbClr val="00566C"/>
                          </a:solidFill>
                          <a:latin typeface="Arial"/>
                        </a:rPr>
                        <a:t>Precisión (Maligno)</a:t>
                      </a:r>
                    </a:p>
                  </a:txBody>
                  <a:tcPr marL="128016" marR="91440" marT="27432" marB="27432" anchor="ctr">
                    <a:solidFill>
                      <a:srgbClr val="FFFFFF"/>
                    </a:solidFill>
                  </a:tcPr>
                </a:tc>
                <a:tc>
                  <a:txBody>
                    <a:bodyPr wrap="square"/>
                    <a:lstStyle/>
                    <a:p>
                      <a:pPr algn="ctr"/>
                      <a:r>
                        <a:rPr sz="1700" b="0">
                          <a:solidFill>
                            <a:srgbClr val="0C0B0B"/>
                          </a:solidFill>
                          <a:latin typeface="Arial"/>
                        </a:rPr>
                        <a:t>74,50 %</a:t>
                      </a:r>
                    </a:p>
                  </a:txBody>
                  <a:tcPr marL="128016" marR="91440" marT="27432" marB="27432" anchor="ctr">
                    <a:solidFill>
                      <a:srgbClr val="FFFFFF"/>
                    </a:solidFill>
                  </a:tcPr>
                </a:tc>
                <a:tc>
                  <a:txBody>
                    <a:bodyPr wrap="square"/>
                    <a:lstStyle/>
                    <a:p>
                      <a:pPr algn="ctr"/>
                      <a:r>
                        <a:rPr sz="1700" b="1">
                          <a:solidFill>
                            <a:srgbClr val="2E7D4F"/>
                          </a:solidFill>
                          <a:latin typeface="Arial"/>
                        </a:rPr>
                        <a:t>92,63 %</a:t>
                      </a:r>
                    </a:p>
                  </a:txBody>
                  <a:tcPr marL="128016" marR="91440" marT="27432" marB="27432" anchor="ctr">
                    <a:solidFill>
                      <a:srgbClr val="FFFFFF"/>
                    </a:solidFill>
                  </a:tcPr>
                </a:tc>
              </a:tr>
              <a:tr h="498348">
                <a:tc>
                  <a:txBody>
                    <a:bodyPr wrap="square"/>
                    <a:lstStyle/>
                    <a:p>
                      <a:pPr algn="l"/>
                      <a:r>
                        <a:rPr sz="1700" b="1">
                          <a:solidFill>
                            <a:srgbClr val="00566C"/>
                          </a:solidFill>
                          <a:latin typeface="Arial"/>
                        </a:rPr>
                        <a:t>F1 (Maligno)</a:t>
                      </a:r>
                    </a:p>
                  </a:txBody>
                  <a:tcPr marL="128016" marR="91440" marT="27432" marB="27432" anchor="ctr">
                    <a:solidFill>
                      <a:srgbClr val="F2F2F5"/>
                    </a:solidFill>
                  </a:tcPr>
                </a:tc>
                <a:tc>
                  <a:txBody>
                    <a:bodyPr wrap="square"/>
                    <a:lstStyle/>
                    <a:p>
                      <a:pPr algn="ctr"/>
                      <a:r>
                        <a:rPr sz="1700" b="0">
                          <a:solidFill>
                            <a:srgbClr val="0C0B0B"/>
                          </a:solidFill>
                          <a:latin typeface="Arial"/>
                        </a:rPr>
                        <a:t>0,827</a:t>
                      </a:r>
                    </a:p>
                  </a:txBody>
                  <a:tcPr marL="128016" marR="91440" marT="27432" marB="27432" anchor="ctr">
                    <a:solidFill>
                      <a:srgbClr val="F2F2F5"/>
                    </a:solidFill>
                  </a:tcPr>
                </a:tc>
                <a:tc>
                  <a:txBody>
                    <a:bodyPr wrap="square"/>
                    <a:lstStyle/>
                    <a:p>
                      <a:pPr algn="ctr"/>
                      <a:r>
                        <a:rPr sz="1700" b="1">
                          <a:solidFill>
                            <a:srgbClr val="2E7D4F"/>
                          </a:solidFill>
                          <a:latin typeface="Arial"/>
                        </a:rPr>
                        <a:t>0,913</a:t>
                      </a:r>
                    </a:p>
                  </a:txBody>
                  <a:tcPr marL="128016" marR="91440" marT="27432" marB="27432" anchor="ctr">
                    <a:solidFill>
                      <a:srgbClr val="F2F2F5"/>
                    </a:solidFill>
                  </a:tcPr>
                </a:tc>
              </a:tr>
              <a:tr h="498348">
                <a:tc>
                  <a:txBody>
                    <a:bodyPr wrap="square"/>
                    <a:lstStyle/>
                    <a:p>
                      <a:pPr algn="l"/>
                      <a:r>
                        <a:rPr sz="1700" b="1">
                          <a:solidFill>
                            <a:srgbClr val="00566C"/>
                          </a:solidFill>
                          <a:latin typeface="Arial"/>
                        </a:rPr>
                        <a:t>AUC-ROC</a:t>
                      </a:r>
                    </a:p>
                  </a:txBody>
                  <a:tcPr marL="128016" marR="91440" marT="27432" marB="27432" anchor="ctr">
                    <a:solidFill>
                      <a:srgbClr val="FFFFFF"/>
                    </a:solidFill>
                  </a:tcPr>
                </a:tc>
                <a:tc>
                  <a:txBody>
                    <a:bodyPr wrap="square"/>
                    <a:lstStyle/>
                    <a:p>
                      <a:pPr algn="ctr"/>
                      <a:r>
                        <a:rPr sz="1700" b="0">
                          <a:solidFill>
                            <a:srgbClr val="0C0B0B"/>
                          </a:solidFill>
                          <a:latin typeface="Arial"/>
                        </a:rPr>
                        <a:t>86,43 %</a:t>
                      </a:r>
                    </a:p>
                  </a:txBody>
                  <a:tcPr marL="128016" marR="91440" marT="27432" marB="27432" anchor="ctr">
                    <a:solidFill>
                      <a:srgbClr val="FFFFFF"/>
                    </a:solidFill>
                  </a:tcPr>
                </a:tc>
                <a:tc>
                  <a:txBody>
                    <a:bodyPr wrap="square"/>
                    <a:lstStyle/>
                    <a:p>
                      <a:pPr algn="ctr"/>
                      <a:r>
                        <a:rPr sz="1700" b="1">
                          <a:solidFill>
                            <a:srgbClr val="2E7D4F"/>
                          </a:solidFill>
                          <a:latin typeface="Arial"/>
                        </a:rPr>
                        <a:t>96,50 %</a:t>
                      </a:r>
                    </a:p>
                  </a:txBody>
                  <a:tcPr marL="128016" marR="91440" marT="27432" marB="27432" anchor="ctr">
                    <a:solidFill>
                      <a:srgbClr val="FFFFFF"/>
                    </a:solidFill>
                  </a:tcPr>
                </a:tc>
              </a:tr>
              <a:tr h="498348">
                <a:tc>
                  <a:txBody>
                    <a:bodyPr wrap="square"/>
                    <a:lstStyle/>
                    <a:p>
                      <a:pPr algn="l"/>
                      <a:r>
                        <a:rPr sz="1700" b="1">
                          <a:solidFill>
                            <a:srgbClr val="00566C"/>
                          </a:solidFill>
                          <a:latin typeface="Arial"/>
                        </a:rPr>
                        <a:t>Cohen's Kappa / MCC</a:t>
                      </a:r>
                    </a:p>
                  </a:txBody>
                  <a:tcPr marL="128016" marR="91440" marT="27432" marB="27432" anchor="ctr">
                    <a:solidFill>
                      <a:srgbClr val="F2F2F5"/>
                    </a:solidFill>
                  </a:tcPr>
                </a:tc>
                <a:tc>
                  <a:txBody>
                    <a:bodyPr wrap="square"/>
                    <a:lstStyle/>
                    <a:p>
                      <a:pPr algn="ctr"/>
                      <a:r>
                        <a:rPr sz="1700" b="0">
                          <a:solidFill>
                            <a:srgbClr val="0C0B0B"/>
                          </a:solidFill>
                          <a:latin typeface="Arial"/>
                        </a:rPr>
                        <a:t>0,593 / 0,614</a:t>
                      </a:r>
                    </a:p>
                  </a:txBody>
                  <a:tcPr marL="128016" marR="91440" marT="27432" marB="27432" anchor="ctr">
                    <a:solidFill>
                      <a:srgbClr val="F2F2F5"/>
                    </a:solidFill>
                  </a:tcPr>
                </a:tc>
                <a:tc>
                  <a:txBody>
                    <a:bodyPr wrap="square"/>
                    <a:lstStyle/>
                    <a:p>
                      <a:pPr algn="ctr"/>
                      <a:r>
                        <a:rPr sz="1700" b="1">
                          <a:solidFill>
                            <a:srgbClr val="2E7D4F"/>
                          </a:solidFill>
                          <a:latin typeface="Arial"/>
                        </a:rPr>
                        <a:t>0,829 / 0,829</a:t>
                      </a:r>
                    </a:p>
                  </a:txBody>
                  <a:tcPr marL="128016" marR="91440" marT="27432" marB="27432" anchor="ctr">
                    <a:solidFill>
                      <a:srgbClr val="F2F2F5"/>
                    </a:solidFill>
                  </a:tcPr>
                </a:tc>
              </a:tr>
              <a:tr h="498348">
                <a:tc>
                  <a:txBody>
                    <a:bodyPr wrap="square"/>
                    <a:lstStyle/>
                    <a:p>
                      <a:pPr algn="l"/>
                      <a:r>
                        <a:rPr sz="1700" b="1">
                          <a:solidFill>
                            <a:srgbClr val="00566C"/>
                          </a:solidFill>
                          <a:latin typeface="Arial"/>
                        </a:rPr>
                        <a:t>Tiempo de entrenamiento</a:t>
                      </a:r>
                    </a:p>
                  </a:txBody>
                  <a:tcPr marL="128016" marR="91440" marT="27432" marB="27432" anchor="ctr">
                    <a:solidFill>
                      <a:srgbClr val="FFFFFF"/>
                    </a:solidFill>
                  </a:tcPr>
                </a:tc>
                <a:tc>
                  <a:txBody>
                    <a:bodyPr wrap="square"/>
                    <a:lstStyle/>
                    <a:p>
                      <a:pPr algn="ctr"/>
                      <a:r>
                        <a:rPr sz="1700" b="1">
                          <a:solidFill>
                            <a:srgbClr val="2E7D4F"/>
                          </a:solidFill>
                          <a:latin typeface="Arial"/>
                        </a:rPr>
                        <a:t>1,33 s</a:t>
                      </a:r>
                    </a:p>
                  </a:txBody>
                  <a:tcPr marL="128016" marR="91440" marT="27432" marB="27432" anchor="ctr">
                    <a:solidFill>
                      <a:srgbClr val="FFFFFF"/>
                    </a:solidFill>
                  </a:tcPr>
                </a:tc>
                <a:tc>
                  <a:txBody>
                    <a:bodyPr wrap="square"/>
                    <a:lstStyle/>
                    <a:p>
                      <a:pPr algn="ctr"/>
                      <a:r>
                        <a:rPr sz="1700" b="0">
                          <a:solidFill>
                            <a:srgbClr val="0C0B0B"/>
                          </a:solidFill>
                          <a:latin typeface="Arial"/>
                        </a:rPr>
                        <a:t>3.737,6 s  (62,3 min)</a:t>
                      </a:r>
                    </a:p>
                  </a:txBody>
                  <a:tcPr marL="128016" marR="91440" marT="27432" marB="27432" anchor="ctr">
                    <a:solidFill>
                      <a:srgbClr val="FFFFFF"/>
                    </a:solidFill>
                  </a:tcPr>
                </a:tc>
              </a:tr>
              <a:tr h="498348">
                <a:tc>
                  <a:txBody>
                    <a:bodyPr wrap="square"/>
                    <a:lstStyle/>
                    <a:p>
                      <a:pPr algn="l"/>
                      <a:r>
                        <a:rPr sz="1700" b="1">
                          <a:solidFill>
                            <a:srgbClr val="00566C"/>
                          </a:solidFill>
                          <a:latin typeface="Arial"/>
                        </a:rPr>
                        <a:t>Inferencia por imagen</a:t>
                      </a:r>
                    </a:p>
                  </a:txBody>
                  <a:tcPr marL="128016" marR="91440" marT="27432" marB="27432" anchor="ctr">
                    <a:solidFill>
                      <a:srgbClr val="F2F2F5"/>
                    </a:solidFill>
                  </a:tcPr>
                </a:tc>
                <a:tc>
                  <a:txBody>
                    <a:bodyPr wrap="square"/>
                    <a:lstStyle/>
                    <a:p>
                      <a:pPr algn="ctr"/>
                      <a:r>
                        <a:rPr sz="1700" b="1">
                          <a:solidFill>
                            <a:srgbClr val="2E7D4F"/>
                          </a:solidFill>
                          <a:latin typeface="Arial"/>
                        </a:rPr>
                        <a:t>0,25 ms</a:t>
                      </a:r>
                    </a:p>
                  </a:txBody>
                  <a:tcPr marL="128016" marR="91440" marT="27432" marB="27432" anchor="ctr">
                    <a:solidFill>
                      <a:srgbClr val="F2F2F5"/>
                    </a:solidFill>
                  </a:tcPr>
                </a:tc>
                <a:tc>
                  <a:txBody>
                    <a:bodyPr wrap="square"/>
                    <a:lstStyle/>
                    <a:p>
                      <a:pPr algn="ctr"/>
                      <a:r>
                        <a:rPr sz="1700" b="0">
                          <a:solidFill>
                            <a:srgbClr val="0C0B0B"/>
                          </a:solidFill>
                          <a:latin typeface="Arial"/>
                        </a:rPr>
                        <a:t>13,35 ms</a:t>
                      </a:r>
                    </a:p>
                  </a:txBody>
                  <a:tcPr marL="128016" marR="91440" marT="27432" marB="27432" anchor="ctr">
                    <a:solidFill>
                      <a:srgbClr val="F2F2F5"/>
                    </a:solidFill>
                  </a:tcPr>
                </a:tc>
              </a:tr>
            </a:tbl>
          </a:graphicData>
        </a:graphic>
      </p:graphicFrame>
      <p:pic>
        <p:nvPicPr>
          <p:cNvPr id="6" name="Picture 5" descr="c5_radar_final.png"/>
          <p:cNvPicPr>
            <a:picLocks noChangeAspect="1"/>
          </p:cNvPicPr>
          <p:nvPr/>
        </p:nvPicPr>
        <p:blipFill>
          <a:blip r:embed="rId2"/>
          <a:stretch>
            <a:fillRect/>
          </a:stretch>
        </p:blipFill>
        <p:spPr>
          <a:xfrm>
            <a:off x="10799063" y="2286000"/>
            <a:ext cx="5986157" cy="5577840"/>
          </a:xfrm>
          <a:prstGeom prst="rect">
            <a:avLst/>
          </a:prstGeom>
        </p:spPr>
      </p:pic>
      <p:sp>
        <p:nvSpPr>
          <p:cNvPr id="7" name="Rectangle 6"/>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La Sensibilidad es la única dimensión en la que gana el SVM, y por 2,87 puntos. DenseNet201 domina en todo lo demás.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29</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EVALUACIÓN Y RESULTADOS</a:t>
            </a:r>
          </a:p>
          <a:p>
            <a:pPr algn="l">
              <a:lnSpc>
                <a:spcPct val="92000"/>
              </a:lnSpc>
              <a:spcBef>
                <a:spcPts val="0"/>
              </a:spcBef>
              <a:spcAft>
                <a:spcPts val="0"/>
              </a:spcAft>
            </a:pPr>
            <a:r>
              <a:rPr sz="4000" b="1" i="0">
                <a:solidFill>
                  <a:srgbClr val="00566C"/>
                </a:solidFill>
                <a:latin typeface="Arial"/>
              </a:rPr>
              <a:t>El coste de esa ventaja: cómputo frente a capacidad asistencial</a:t>
            </a:r>
          </a:p>
        </p:txBody>
      </p:sp>
      <p:sp>
        <p:nvSpPr>
          <p:cNvPr id="4" name="TextBox 3"/>
          <p:cNvSpPr txBox="1"/>
          <p:nvPr/>
        </p:nvSpPr>
        <p:spPr>
          <a:xfrm>
            <a:off x="877824" y="1810512"/>
            <a:ext cx="15727680" cy="384048"/>
          </a:xfrm>
          <a:prstGeom prst="rect">
            <a:avLst/>
          </a:prstGeom>
          <a:noFill/>
        </p:spPr>
        <p:txBody>
          <a:bodyPr wrap="square" lIns="18288" rIns="18288" tIns="0" bIns="0" anchor="t">
            <a:spAutoFit/>
          </a:bodyPr>
          <a:lstStyle/>
          <a:p>
            <a:pPr algn="l">
              <a:spcBef>
                <a:spcPts val="0"/>
              </a:spcBef>
              <a:spcAft>
                <a:spcPts val="0"/>
              </a:spcAft>
            </a:pPr>
            <a:r>
              <a:rPr sz="2000" b="0" i="0">
                <a:solidFill>
                  <a:srgbClr val="858591"/>
                </a:solidFill>
                <a:latin typeface="Arial"/>
              </a:rPr>
              <a:t>La decisión de despliegue no depende solo de qué métrica gane en una tabla</a:t>
            </a:r>
          </a:p>
        </p:txBody>
      </p:sp>
      <p:pic>
        <p:nvPicPr>
          <p:cNvPr id="5" name="Picture 4" descr="c6_coste.png"/>
          <p:cNvPicPr>
            <a:picLocks noChangeAspect="1"/>
          </p:cNvPicPr>
          <p:nvPr/>
        </p:nvPicPr>
        <p:blipFill>
          <a:blip r:embed="rId2"/>
          <a:stretch>
            <a:fillRect/>
          </a:stretch>
        </p:blipFill>
        <p:spPr>
          <a:xfrm>
            <a:off x="877824" y="2331720"/>
            <a:ext cx="8594827" cy="3749039"/>
          </a:xfrm>
          <a:prstGeom prst="rect">
            <a:avLst/>
          </a:prstGeom>
        </p:spPr>
      </p:pic>
      <p:sp>
        <p:nvSpPr>
          <p:cNvPr id="6" name="Rectangle 5"/>
          <p:cNvSpPr/>
          <p:nvPr/>
        </p:nvSpPr>
        <p:spPr>
          <a:xfrm>
            <a:off x="9884663" y="2395728"/>
            <a:ext cx="7525511" cy="260604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9884663" y="2395728"/>
            <a:ext cx="68580" cy="260604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213847" y="2615184"/>
            <a:ext cx="6885431" cy="2194560"/>
          </a:xfrm>
          <a:prstGeom prst="rect">
            <a:avLst/>
          </a:prstGeom>
          <a:noFill/>
        </p:spPr>
        <p:txBody>
          <a:bodyPr wrap="square" lIns="18288" rIns="18288" tIns="0" bIns="0" anchor="t">
            <a:spAutoFit/>
          </a:bodyPr>
          <a:lstStyle/>
          <a:p>
            <a:pPr algn="l">
              <a:lnSpc>
                <a:spcPct val="105000"/>
              </a:lnSpc>
              <a:spcBef>
                <a:spcPts val="0"/>
              </a:spcBef>
              <a:spcAft>
                <a:spcPts val="800"/>
              </a:spcAft>
            </a:pPr>
            <a:r>
              <a:rPr sz="2100" b="1" i="0">
                <a:solidFill>
                  <a:srgbClr val="00566C"/>
                </a:solidFill>
                <a:latin typeface="Arial"/>
              </a:rPr>
              <a:t>Si el recurso escaso es el cómputo</a:t>
            </a:r>
          </a:p>
          <a:p>
            <a:pPr algn="l">
              <a:lnSpc>
                <a:spcPct val="105000"/>
              </a:lnSpc>
              <a:spcBef>
                <a:spcPts val="0"/>
              </a:spcBef>
              <a:spcAft>
                <a:spcPts val="0"/>
              </a:spcAft>
            </a:pPr>
            <a:r>
              <a:rPr sz="1800" b="0" i="0">
                <a:solidFill>
                  <a:srgbClr val="858591"/>
                </a:solidFill>
                <a:latin typeface="Arial"/>
              </a:rPr>
              <a:t>El SVM entrena en 1,33 segundos e infiere en 0,25 ms por imagen. Es viable en un centro de salud sin GPU y ofrece la sensibilidad agregada más alta de las dos opciones.</a:t>
            </a:r>
          </a:p>
        </p:txBody>
      </p:sp>
      <p:sp>
        <p:nvSpPr>
          <p:cNvPr id="9" name="Rectangle 8"/>
          <p:cNvSpPr/>
          <p:nvPr/>
        </p:nvSpPr>
        <p:spPr>
          <a:xfrm>
            <a:off x="9884663" y="5257800"/>
            <a:ext cx="7525511" cy="2606040"/>
          </a:xfrm>
          <a:prstGeom prst="rect">
            <a:avLst/>
          </a:prstGeom>
          <a:solidFill>
            <a:srgbClr val="DDEE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9884663" y="5257800"/>
            <a:ext cx="68580" cy="2606040"/>
          </a:xfrm>
          <a:prstGeom prst="rect">
            <a:avLst/>
          </a:prstGeom>
          <a:solidFill>
            <a:srgbClr val="00566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13847" y="5477256"/>
            <a:ext cx="6885431" cy="2194560"/>
          </a:xfrm>
          <a:prstGeom prst="rect">
            <a:avLst/>
          </a:prstGeom>
          <a:noFill/>
        </p:spPr>
        <p:txBody>
          <a:bodyPr wrap="square" lIns="18288" rIns="18288" tIns="0" bIns="0" anchor="t">
            <a:spAutoFit/>
          </a:bodyPr>
          <a:lstStyle/>
          <a:p>
            <a:pPr algn="l">
              <a:lnSpc>
                <a:spcPct val="105000"/>
              </a:lnSpc>
              <a:spcBef>
                <a:spcPts val="0"/>
              </a:spcBef>
              <a:spcAft>
                <a:spcPts val="800"/>
              </a:spcAft>
            </a:pPr>
            <a:r>
              <a:rPr sz="2100" b="1" i="0">
                <a:solidFill>
                  <a:srgbClr val="00566C"/>
                </a:solidFill>
                <a:latin typeface="Arial"/>
              </a:rPr>
              <a:t>Si el recurso escaso es el especialista</a:t>
            </a:r>
          </a:p>
          <a:p>
            <a:pPr algn="l">
              <a:lnSpc>
                <a:spcPct val="105000"/>
              </a:lnSpc>
              <a:spcBef>
                <a:spcPts val="0"/>
              </a:spcBef>
              <a:spcAft>
                <a:spcPts val="0"/>
              </a:spcAft>
            </a:pPr>
            <a:r>
              <a:rPr sz="1800" b="0" i="0">
                <a:solidFill>
                  <a:srgbClr val="0C0B0B"/>
                </a:solidFill>
                <a:latin typeface="Arial"/>
              </a:rPr>
              <a:t>La especificidad del 65,9 % del SVM implica derivar a consulta a una proporción muy alta de pacientes sanos. DenseNet201, con sensibilidad casi equivalente, evita ese colapso de las derivaciones.</a:t>
            </a:r>
          </a:p>
        </p:txBody>
      </p:sp>
      <p:sp>
        <p:nvSpPr>
          <p:cNvPr id="12" name="Rectangle 11"/>
          <p:cNvSpPr/>
          <p:nvPr/>
        </p:nvSpPr>
        <p:spPr>
          <a:xfrm>
            <a:off x="877824" y="6263640"/>
            <a:ext cx="8595360" cy="1618488"/>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77824" y="6263640"/>
            <a:ext cx="8595360" cy="6400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261872" y="6437376"/>
            <a:ext cx="7863840" cy="1325880"/>
          </a:xfrm>
          <a:prstGeom prst="rect">
            <a:avLst/>
          </a:prstGeom>
          <a:noFill/>
        </p:spPr>
        <p:txBody>
          <a:bodyPr wrap="square" lIns="18288" rIns="18288" tIns="0" bIns="0" anchor="t">
            <a:spAutoFit/>
          </a:bodyPr>
          <a:lstStyle/>
          <a:p>
            <a:pPr algn="l">
              <a:lnSpc>
                <a:spcPct val="105000"/>
              </a:lnSpc>
              <a:spcBef>
                <a:spcPts val="0"/>
              </a:spcBef>
              <a:spcAft>
                <a:spcPts val="700"/>
              </a:spcAft>
            </a:pPr>
            <a:r>
              <a:rPr sz="2000" b="1" i="0">
                <a:solidFill>
                  <a:srgbClr val="00566C"/>
                </a:solidFill>
                <a:latin typeface="Arial"/>
              </a:rPr>
              <a:t>El orden de magnitud</a:t>
            </a:r>
          </a:p>
          <a:p>
            <a:pPr algn="l">
              <a:lnSpc>
                <a:spcPct val="105000"/>
              </a:lnSpc>
              <a:spcBef>
                <a:spcPts val="0"/>
              </a:spcBef>
              <a:spcAft>
                <a:spcPts val="0"/>
              </a:spcAft>
            </a:pPr>
            <a:r>
              <a:rPr sz="1700" b="0" i="0">
                <a:solidFill>
                  <a:srgbClr val="858591"/>
                </a:solidFill>
                <a:latin typeface="Arial"/>
              </a:rPr>
              <a:t>DenseNet201 es miles de veces más lento en entrenamiento y decenas de veces más lento en inferencia. En complejidad efectiva aprendida, el SVM balanceado reduce sus vectores de soporte de 20.944 a 1.758 respecto de la línea base.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9015984"/>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9015984"/>
            <a:ext cx="18288000" cy="127257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2103120" y="2788920"/>
            <a:ext cx="82296"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2615184" y="2697480"/>
            <a:ext cx="12344400" cy="1417320"/>
          </a:xfrm>
          <a:prstGeom prst="rect">
            <a:avLst/>
          </a:prstGeom>
          <a:noFill/>
        </p:spPr>
        <p:txBody>
          <a:bodyPr wrap="square" lIns="18288" rIns="18288" tIns="0" bIns="0" anchor="t">
            <a:spAutoFit/>
          </a:bodyPr>
          <a:lstStyle/>
          <a:p>
            <a:pPr algn="l">
              <a:spcBef>
                <a:spcPts val="0"/>
              </a:spcBef>
              <a:spcAft>
                <a:spcPts val="0"/>
              </a:spcAft>
            </a:pPr>
            <a:r>
              <a:rPr sz="9600" b="1" i="0">
                <a:solidFill>
                  <a:srgbClr val="FFFFFF"/>
                </a:solidFill>
                <a:latin typeface="Arial"/>
              </a:rPr>
              <a:t>07</a:t>
            </a:r>
          </a:p>
        </p:txBody>
      </p:sp>
      <p:sp>
        <p:nvSpPr>
          <p:cNvPr id="6" name="TextBox 5"/>
          <p:cNvSpPr txBox="1"/>
          <p:nvPr/>
        </p:nvSpPr>
        <p:spPr>
          <a:xfrm>
            <a:off x="2651760" y="4160520"/>
            <a:ext cx="13716000" cy="1234440"/>
          </a:xfrm>
          <a:prstGeom prst="rect">
            <a:avLst/>
          </a:prstGeom>
          <a:noFill/>
        </p:spPr>
        <p:txBody>
          <a:bodyPr wrap="square" lIns="18288" rIns="18288" tIns="0" bIns="0" anchor="t">
            <a:spAutoFit/>
          </a:bodyPr>
          <a:lstStyle/>
          <a:p>
            <a:pPr algn="l">
              <a:lnSpc>
                <a:spcPct val="95000"/>
              </a:lnSpc>
              <a:spcBef>
                <a:spcPts val="0"/>
              </a:spcBef>
              <a:spcAft>
                <a:spcPts val="0"/>
              </a:spcAft>
            </a:pPr>
            <a:r>
              <a:rPr sz="5400" b="1" i="0">
                <a:solidFill>
                  <a:srgbClr val="FFFFFF"/>
                </a:solidFill>
                <a:latin typeface="Arial"/>
              </a:rPr>
              <a:t>Conclusiones y prospectiva</a:t>
            </a:r>
          </a:p>
        </p:txBody>
      </p:sp>
      <p:sp>
        <p:nvSpPr>
          <p:cNvPr id="7" name="TextBox 6"/>
          <p:cNvSpPr txBox="1"/>
          <p:nvPr/>
        </p:nvSpPr>
        <p:spPr>
          <a:xfrm>
            <a:off x="2651760" y="5440680"/>
            <a:ext cx="13258800" cy="822960"/>
          </a:xfrm>
          <a:prstGeom prst="rect">
            <a:avLst/>
          </a:prstGeom>
          <a:noFill/>
        </p:spPr>
        <p:txBody>
          <a:bodyPr wrap="square" lIns="18288" rIns="18288" tIns="0" bIns="0" anchor="t">
            <a:spAutoFit/>
          </a:bodyPr>
          <a:lstStyle/>
          <a:p>
            <a:pPr algn="l">
              <a:spcBef>
                <a:spcPts val="0"/>
              </a:spcBef>
              <a:spcAft>
                <a:spcPts val="0"/>
              </a:spcAft>
            </a:pPr>
            <a:r>
              <a:rPr sz="2400" b="0" i="0">
                <a:solidFill>
                  <a:srgbClr val="FFFFFF"/>
                </a:solidFill>
                <a:latin typeface="Arial"/>
              </a:rPr>
              <a:t>Cumplimiento de objetivos, conclusiones, limitaciones y líneas de trabajo futuro</a:t>
            </a:r>
          </a:p>
        </p:txBody>
      </p:sp>
      <p:sp>
        <p:nvSpPr>
          <p:cNvPr id="8" name="TextBox 7"/>
          <p:cNvSpPr txBox="1"/>
          <p:nvPr/>
        </p:nvSpPr>
        <p:spPr>
          <a:xfrm>
            <a:off x="2651760" y="6446520"/>
            <a:ext cx="13258800" cy="457200"/>
          </a:xfrm>
          <a:prstGeom prst="rect">
            <a:avLst/>
          </a:prstGeom>
          <a:noFill/>
        </p:spPr>
        <p:txBody>
          <a:bodyPr wrap="square" lIns="18288" rIns="18288" tIns="0" bIns="0" anchor="t">
            <a:spAutoFit/>
          </a:bodyPr>
          <a:lstStyle/>
          <a:p>
            <a:pPr algn="l">
              <a:spcBef>
                <a:spcPts val="0"/>
              </a:spcBef>
              <a:spcAft>
                <a:spcPts val="0"/>
              </a:spcAft>
            </a:pPr>
            <a:r>
              <a:rPr sz="1900" b="1" i="0">
                <a:solidFill>
                  <a:srgbClr val="FFFFFF"/>
                </a:solidFill>
                <a:latin typeface="Arial"/>
              </a:rPr>
              <a:t>2 minutos</a:t>
            </a:r>
            <a:r>
              <a:rPr sz="1900" b="0" i="0">
                <a:solidFill>
                  <a:srgbClr val="FFFFFF"/>
                </a:solidFill>
                <a:latin typeface="Arial"/>
              </a:rPr>
              <a:t>     ·     </a:t>
            </a:r>
            <a:r>
              <a:rPr sz="1900" b="0" i="0">
                <a:solidFill>
                  <a:srgbClr val="FFFFFF"/>
                </a:solidFill>
                <a:latin typeface="Arial"/>
              </a:rPr>
              <a:t>Expone: Alvaro</a:t>
            </a:r>
          </a:p>
        </p:txBody>
      </p:sp>
      <p:sp>
        <p:nvSpPr>
          <p:cNvPr id="9" name="TextBox 8"/>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30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31</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CONCLUSIONES</a:t>
            </a:r>
          </a:p>
          <a:p>
            <a:pPr algn="l">
              <a:lnSpc>
                <a:spcPct val="92000"/>
              </a:lnSpc>
              <a:spcBef>
                <a:spcPts val="0"/>
              </a:spcBef>
              <a:spcAft>
                <a:spcPts val="0"/>
              </a:spcAft>
            </a:pPr>
            <a:r>
              <a:rPr sz="4000" b="1" i="0">
                <a:solidFill>
                  <a:srgbClr val="00566C"/>
                </a:solidFill>
                <a:latin typeface="Arial"/>
              </a:rPr>
              <a:t>Cumplimiento de objetivos y conclusiones principales</a:t>
            </a:r>
          </a:p>
        </p:txBody>
      </p:sp>
      <p:graphicFrame>
        <p:nvGraphicFramePr>
          <p:cNvPr id="4" name="Table 3"/>
          <p:cNvGraphicFramePr>
            <a:graphicFrameLocks noGrp="1"/>
          </p:cNvGraphicFramePr>
          <p:nvPr/>
        </p:nvGraphicFramePr>
        <p:xfrm>
          <a:off x="877824" y="2331720"/>
          <a:ext cx="6675118" cy="3337560"/>
        </p:xfrm>
        <a:graphic>
          <a:graphicData uri="http://schemas.openxmlformats.org/drawingml/2006/table">
            <a:tbl>
              <a:tblPr>
                <a:tableStyleId>{5C22544A-7EE6-4342-B048-85BDC9FD1C3A}</a:tableStyleId>
              </a:tblPr>
              <a:tblGrid>
                <a:gridCol w="3074068"/>
                <a:gridCol w="2107932"/>
                <a:gridCol w="1493118"/>
              </a:tblGrid>
              <a:tr h="502920">
                <a:tc>
                  <a:txBody>
                    <a:bodyPr wrap="square"/>
                    <a:lstStyle/>
                    <a:p>
                      <a:pPr algn="l"/>
                      <a:r>
                        <a:rPr sz="1700" b="1">
                          <a:solidFill>
                            <a:srgbClr val="FFFFFF"/>
                          </a:solidFill>
                          <a:latin typeface="Arial"/>
                        </a:rPr>
                        <a:t>Objetivo</a:t>
                      </a:r>
                    </a:p>
                  </a:txBody>
                  <a:tcPr marL="128016" marR="91440" marT="27432" marB="27432" anchor="ctr">
                    <a:solidFill>
                      <a:srgbClr val="219BC3"/>
                    </a:solidFill>
                  </a:tcPr>
                </a:tc>
                <a:tc>
                  <a:txBody>
                    <a:bodyPr wrap="square"/>
                    <a:lstStyle/>
                    <a:p>
                      <a:pPr algn="ctr"/>
                      <a:r>
                        <a:rPr sz="1700" b="1">
                          <a:solidFill>
                            <a:srgbClr val="FFFFFF"/>
                          </a:solidFill>
                          <a:latin typeface="Arial"/>
                        </a:rPr>
                        <a:t>Evidencia</a:t>
                      </a:r>
                    </a:p>
                  </a:txBody>
                  <a:tcPr marL="128016" marR="91440" marT="27432" marB="27432" anchor="ctr">
                    <a:solidFill>
                      <a:srgbClr val="219BC3"/>
                    </a:solidFill>
                  </a:tcPr>
                </a:tc>
                <a:tc>
                  <a:txBody>
                    <a:bodyPr wrap="square"/>
                    <a:lstStyle/>
                    <a:p>
                      <a:pPr algn="ctr"/>
                      <a:r>
                        <a:rPr sz="1700" b="1">
                          <a:solidFill>
                            <a:srgbClr val="FFFFFF"/>
                          </a:solidFill>
                          <a:latin typeface="Arial"/>
                        </a:rPr>
                        <a:t>Estado</a:t>
                      </a:r>
                    </a:p>
                  </a:txBody>
                  <a:tcPr marL="128016" marR="91440" marT="27432" marB="27432" anchor="ctr">
                    <a:solidFill>
                      <a:srgbClr val="219BC3"/>
                    </a:solidFill>
                  </a:tcPr>
                </a:tc>
              </a:tr>
              <a:tr h="566928">
                <a:tc>
                  <a:txBody>
                    <a:bodyPr wrap="square"/>
                    <a:lstStyle/>
                    <a:p>
                      <a:pPr algn="l"/>
                      <a:r>
                        <a:rPr sz="1700" b="1">
                          <a:solidFill>
                            <a:srgbClr val="00566C"/>
                          </a:solidFill>
                          <a:latin typeface="Arial"/>
                        </a:rPr>
                        <a:t>Realizar el EDA</a:t>
                      </a:r>
                    </a:p>
                  </a:txBody>
                  <a:tcPr marL="128016" marR="91440" marT="27432" marB="27432" anchor="ctr">
                    <a:solidFill>
                      <a:srgbClr val="FFFFFF"/>
                    </a:solidFill>
                  </a:tcPr>
                </a:tc>
                <a:tc>
                  <a:txBody>
                    <a:bodyPr wrap="square"/>
                    <a:lstStyle/>
                    <a:p>
                      <a:pPr algn="ctr"/>
                      <a:r>
                        <a:rPr sz="1700" b="0">
                          <a:solidFill>
                            <a:srgbClr val="0C0B0B"/>
                          </a:solidFill>
                          <a:latin typeface="Arial"/>
                        </a:rPr>
                        <a:t>Cap. 5.2</a:t>
                      </a:r>
                    </a:p>
                  </a:txBody>
                  <a:tcPr marL="128016" marR="91440" marT="27432" marB="27432" anchor="ctr">
                    <a:solidFill>
                      <a:srgbClr val="FFFFFF"/>
                    </a:solidFill>
                  </a:tcPr>
                </a:tc>
                <a:tc>
                  <a:txBody>
                    <a:bodyPr wrap="square"/>
                    <a:lstStyle/>
                    <a:p>
                      <a:pPr algn="ctr"/>
                      <a:r>
                        <a:rPr sz="1700" b="1">
                          <a:solidFill>
                            <a:srgbClr val="2E7D4F"/>
                          </a:solidFill>
                          <a:latin typeface="Arial"/>
                        </a:rPr>
                        <a:t>Cumplido</a:t>
                      </a:r>
                    </a:p>
                  </a:txBody>
                  <a:tcPr marL="128016" marR="91440" marT="27432" marB="27432" anchor="ctr">
                    <a:solidFill>
                      <a:srgbClr val="FFFFFF"/>
                    </a:solidFill>
                  </a:tcPr>
                </a:tc>
              </a:tr>
              <a:tr h="566928">
                <a:tc>
                  <a:txBody>
                    <a:bodyPr wrap="square"/>
                    <a:lstStyle/>
                    <a:p>
                      <a:pPr algn="l"/>
                      <a:r>
                        <a:rPr sz="1700" b="1">
                          <a:solidFill>
                            <a:srgbClr val="00566C"/>
                          </a:solidFill>
                          <a:latin typeface="Arial"/>
                        </a:rPr>
                        <a:t>Preparar y balancear los datos</a:t>
                      </a:r>
                    </a:p>
                  </a:txBody>
                  <a:tcPr marL="128016" marR="91440" marT="27432" marB="27432" anchor="ctr">
                    <a:solidFill>
                      <a:srgbClr val="F2F2F5"/>
                    </a:solidFill>
                  </a:tcPr>
                </a:tc>
                <a:tc>
                  <a:txBody>
                    <a:bodyPr wrap="square"/>
                    <a:lstStyle/>
                    <a:p>
                      <a:pPr algn="ctr"/>
                      <a:r>
                        <a:rPr sz="1700" b="0">
                          <a:solidFill>
                            <a:srgbClr val="0C0B0B"/>
                          </a:solidFill>
                          <a:latin typeface="Arial"/>
                        </a:rPr>
                        <a:t>Cap. 5.3</a:t>
                      </a:r>
                    </a:p>
                  </a:txBody>
                  <a:tcPr marL="128016" marR="91440" marT="27432" marB="27432" anchor="ctr">
                    <a:solidFill>
                      <a:srgbClr val="F2F2F5"/>
                    </a:solidFill>
                  </a:tcPr>
                </a:tc>
                <a:tc>
                  <a:txBody>
                    <a:bodyPr wrap="square"/>
                    <a:lstStyle/>
                    <a:p>
                      <a:pPr algn="ctr"/>
                      <a:r>
                        <a:rPr sz="1700" b="1">
                          <a:solidFill>
                            <a:srgbClr val="2E7D4F"/>
                          </a:solidFill>
                          <a:latin typeface="Arial"/>
                        </a:rPr>
                        <a:t>Cumplido</a:t>
                      </a:r>
                    </a:p>
                  </a:txBody>
                  <a:tcPr marL="128016" marR="91440" marT="27432" marB="27432" anchor="ctr">
                    <a:solidFill>
                      <a:srgbClr val="F2F2F5"/>
                    </a:solidFill>
                  </a:tcPr>
                </a:tc>
              </a:tr>
              <a:tr h="566928">
                <a:tc>
                  <a:txBody>
                    <a:bodyPr wrap="square"/>
                    <a:lstStyle/>
                    <a:p>
                      <a:pPr algn="l"/>
                      <a:r>
                        <a:rPr sz="1700" b="1">
                          <a:solidFill>
                            <a:srgbClr val="00566C"/>
                          </a:solidFill>
                          <a:latin typeface="Arial"/>
                        </a:rPr>
                        <a:t>Implementar SVM</a:t>
                      </a:r>
                    </a:p>
                  </a:txBody>
                  <a:tcPr marL="128016" marR="91440" marT="27432" marB="27432" anchor="ctr">
                    <a:solidFill>
                      <a:srgbClr val="FFFFFF"/>
                    </a:solidFill>
                  </a:tcPr>
                </a:tc>
                <a:tc>
                  <a:txBody>
                    <a:bodyPr wrap="square"/>
                    <a:lstStyle/>
                    <a:p>
                      <a:pPr algn="ctr"/>
                      <a:r>
                        <a:rPr sz="1700" b="0">
                          <a:solidFill>
                            <a:srgbClr val="0C0B0B"/>
                          </a:solidFill>
                          <a:latin typeface="Arial"/>
                        </a:rPr>
                        <a:t>Cap. 5.4.2-3 · 5.5.2-3</a:t>
                      </a:r>
                    </a:p>
                  </a:txBody>
                  <a:tcPr marL="128016" marR="91440" marT="27432" marB="27432" anchor="ctr">
                    <a:solidFill>
                      <a:srgbClr val="FFFFFF"/>
                    </a:solidFill>
                  </a:tcPr>
                </a:tc>
                <a:tc>
                  <a:txBody>
                    <a:bodyPr wrap="square"/>
                    <a:lstStyle/>
                    <a:p>
                      <a:pPr algn="ctr"/>
                      <a:r>
                        <a:rPr sz="1700" b="1">
                          <a:solidFill>
                            <a:srgbClr val="2E7D4F"/>
                          </a:solidFill>
                          <a:latin typeface="Arial"/>
                        </a:rPr>
                        <a:t>Cumplido</a:t>
                      </a:r>
                    </a:p>
                  </a:txBody>
                  <a:tcPr marL="128016" marR="91440" marT="27432" marB="27432" anchor="ctr">
                    <a:solidFill>
                      <a:srgbClr val="FFFFFF"/>
                    </a:solidFill>
                  </a:tcPr>
                </a:tc>
              </a:tr>
              <a:tr h="566928">
                <a:tc>
                  <a:txBody>
                    <a:bodyPr wrap="square"/>
                    <a:lstStyle/>
                    <a:p>
                      <a:pPr algn="l"/>
                      <a:r>
                        <a:rPr sz="1700" b="1">
                          <a:solidFill>
                            <a:srgbClr val="00566C"/>
                          </a:solidFill>
                          <a:latin typeface="Arial"/>
                        </a:rPr>
                        <a:t>Implementar DenseNet201</a:t>
                      </a:r>
                    </a:p>
                  </a:txBody>
                  <a:tcPr marL="128016" marR="91440" marT="27432" marB="27432" anchor="ctr">
                    <a:solidFill>
                      <a:srgbClr val="F2F2F5"/>
                    </a:solidFill>
                  </a:tcPr>
                </a:tc>
                <a:tc>
                  <a:txBody>
                    <a:bodyPr wrap="square"/>
                    <a:lstStyle/>
                    <a:p>
                      <a:pPr algn="ctr"/>
                      <a:r>
                        <a:rPr sz="1700" b="0">
                          <a:solidFill>
                            <a:srgbClr val="0C0B0B"/>
                          </a:solidFill>
                          <a:latin typeface="Arial"/>
                        </a:rPr>
                        <a:t>Cap. 5.4.4-5 · 5.5.4-5</a:t>
                      </a:r>
                    </a:p>
                  </a:txBody>
                  <a:tcPr marL="128016" marR="91440" marT="27432" marB="27432" anchor="ctr">
                    <a:solidFill>
                      <a:srgbClr val="F2F2F5"/>
                    </a:solidFill>
                  </a:tcPr>
                </a:tc>
                <a:tc>
                  <a:txBody>
                    <a:bodyPr wrap="square"/>
                    <a:lstStyle/>
                    <a:p>
                      <a:pPr algn="ctr"/>
                      <a:r>
                        <a:rPr sz="1700" b="1">
                          <a:solidFill>
                            <a:srgbClr val="2E7D4F"/>
                          </a:solidFill>
                          <a:latin typeface="Arial"/>
                        </a:rPr>
                        <a:t>Cumplido</a:t>
                      </a:r>
                    </a:p>
                  </a:txBody>
                  <a:tcPr marL="128016" marR="91440" marT="27432" marB="27432" anchor="ctr">
                    <a:solidFill>
                      <a:srgbClr val="F2F2F5"/>
                    </a:solidFill>
                  </a:tcPr>
                </a:tc>
              </a:tr>
              <a:tr h="566928">
                <a:tc>
                  <a:txBody>
                    <a:bodyPr wrap="square"/>
                    <a:lstStyle/>
                    <a:p>
                      <a:pPr algn="l"/>
                      <a:r>
                        <a:rPr sz="1700" b="1">
                          <a:solidFill>
                            <a:srgbClr val="00566C"/>
                          </a:solidFill>
                          <a:latin typeface="Arial"/>
                        </a:rPr>
                        <a:t>Comparar los modelos</a:t>
                      </a:r>
                    </a:p>
                  </a:txBody>
                  <a:tcPr marL="128016" marR="91440" marT="27432" marB="27432" anchor="ctr">
                    <a:solidFill>
                      <a:srgbClr val="FFFFFF"/>
                    </a:solidFill>
                  </a:tcPr>
                </a:tc>
                <a:tc>
                  <a:txBody>
                    <a:bodyPr wrap="square"/>
                    <a:lstStyle/>
                    <a:p>
                      <a:pPr algn="ctr"/>
                      <a:r>
                        <a:rPr sz="1700" b="0">
                          <a:solidFill>
                            <a:srgbClr val="0C0B0B"/>
                          </a:solidFill>
                          <a:latin typeface="Arial"/>
                        </a:rPr>
                        <a:t>Cap. 5.5.6</a:t>
                      </a:r>
                    </a:p>
                  </a:txBody>
                  <a:tcPr marL="128016" marR="91440" marT="27432" marB="27432" anchor="ctr">
                    <a:solidFill>
                      <a:srgbClr val="FFFFFF"/>
                    </a:solidFill>
                  </a:tcPr>
                </a:tc>
                <a:tc>
                  <a:txBody>
                    <a:bodyPr wrap="square"/>
                    <a:lstStyle/>
                    <a:p>
                      <a:pPr algn="ctr"/>
                      <a:r>
                        <a:rPr sz="1700" b="1">
                          <a:solidFill>
                            <a:srgbClr val="2E7D4F"/>
                          </a:solidFill>
                          <a:latin typeface="Arial"/>
                        </a:rPr>
                        <a:t>Cumplido</a:t>
                      </a:r>
                    </a:p>
                  </a:txBody>
                  <a:tcPr marL="128016" marR="91440" marT="27432" marB="27432" anchor="ctr">
                    <a:solidFill>
                      <a:srgbClr val="FFFFFF"/>
                    </a:solidFill>
                  </a:tcPr>
                </a:tc>
              </a:tr>
            </a:tbl>
          </a:graphicData>
        </a:graphic>
      </p:graphicFrame>
      <p:sp>
        <p:nvSpPr>
          <p:cNvPr id="5" name="Rectangle 4"/>
          <p:cNvSpPr/>
          <p:nvPr/>
        </p:nvSpPr>
        <p:spPr>
          <a:xfrm>
            <a:off x="877824" y="5669280"/>
            <a:ext cx="6675120" cy="2212848"/>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877824" y="5669280"/>
            <a:ext cx="68580" cy="2212848"/>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207007" y="5888736"/>
            <a:ext cx="6126480" cy="1783080"/>
          </a:xfrm>
          <a:prstGeom prst="rect">
            <a:avLst/>
          </a:prstGeom>
          <a:noFill/>
        </p:spPr>
        <p:txBody>
          <a:bodyPr wrap="square" lIns="18288" rIns="18288" tIns="0" bIns="0" anchor="t">
            <a:spAutoFit/>
          </a:bodyPr>
          <a:lstStyle/>
          <a:p>
            <a:pPr algn="l">
              <a:lnSpc>
                <a:spcPct val="105000"/>
              </a:lnSpc>
              <a:spcBef>
                <a:spcPts val="0"/>
              </a:spcBef>
              <a:spcAft>
                <a:spcPts val="700"/>
              </a:spcAft>
            </a:pPr>
            <a:r>
              <a:rPr sz="2000" b="1" i="0">
                <a:solidFill>
                  <a:srgbClr val="00566C"/>
                </a:solidFill>
                <a:latin typeface="Arial"/>
              </a:rPr>
              <a:t>Reproducibilidad</a:t>
            </a:r>
          </a:p>
          <a:p>
            <a:pPr algn="l">
              <a:lnSpc>
                <a:spcPct val="105000"/>
              </a:lnSpc>
              <a:spcBef>
                <a:spcPts val="0"/>
              </a:spcBef>
              <a:spcAft>
                <a:spcPts val="700"/>
              </a:spcAft>
            </a:pPr>
            <a:r>
              <a:rPr sz="1700" b="0" i="0">
                <a:solidFill>
                  <a:srgbClr val="858591"/>
                </a:solidFill>
                <a:latin typeface="Arial"/>
              </a:rPr>
              <a:t>Todo el código —ingesta, EDA, preprocesamiento, SVM y DenseNet201— está versionado en GitHub, con métricas exportadas a Excel y JSON y los modelos serializados.</a:t>
            </a:r>
          </a:p>
          <a:p>
            <a:pPr algn="l">
              <a:lnSpc>
                <a:spcPct val="105000"/>
              </a:lnSpc>
              <a:spcBef>
                <a:spcPts val="0"/>
              </a:spcBef>
              <a:spcAft>
                <a:spcPts val="0"/>
              </a:spcAft>
            </a:pPr>
            <a:r>
              <a:rPr sz="1700" b="1" i="0">
                <a:solidFill>
                  <a:srgbClr val="219BC3"/>
                </a:solidFill>
                <a:latin typeface="Arial"/>
              </a:rPr>
              <a:t>github.com/marzo27/UNIR_TFM_HAM10000</a:t>
            </a:r>
          </a:p>
        </p:txBody>
      </p:sp>
      <p:sp>
        <p:nvSpPr>
          <p:cNvPr id="8" name="Rectangle 7"/>
          <p:cNvSpPr/>
          <p:nvPr/>
        </p:nvSpPr>
        <p:spPr>
          <a:xfrm>
            <a:off x="8101583" y="2331720"/>
            <a:ext cx="9308591" cy="1316736"/>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101583" y="2331720"/>
            <a:ext cx="68580" cy="1316736"/>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430767" y="2478024"/>
            <a:ext cx="8714231" cy="1060704"/>
          </a:xfrm>
          <a:prstGeom prst="rect">
            <a:avLst/>
          </a:prstGeom>
          <a:noFill/>
        </p:spPr>
        <p:txBody>
          <a:bodyPr wrap="square" lIns="18288" rIns="18288" tIns="0" bIns="0" anchor="t">
            <a:spAutoFit/>
          </a:bodyPr>
          <a:lstStyle/>
          <a:p>
            <a:pPr algn="l">
              <a:lnSpc>
                <a:spcPct val="103000"/>
              </a:lnSpc>
              <a:spcBef>
                <a:spcPts val="0"/>
              </a:spcBef>
              <a:spcAft>
                <a:spcPts val="0"/>
              </a:spcAft>
            </a:pPr>
            <a:r>
              <a:rPr sz="1900" b="1" i="0">
                <a:solidFill>
                  <a:srgbClr val="219BC3"/>
                </a:solidFill>
                <a:latin typeface="Arial"/>
              </a:rPr>
              <a:t>01   </a:t>
            </a:r>
            <a:r>
              <a:rPr sz="1900" b="1" i="0">
                <a:solidFill>
                  <a:srgbClr val="00566C"/>
                </a:solidFill>
                <a:latin typeface="Arial"/>
              </a:rPr>
              <a:t>No hay un ganador absoluto</a:t>
            </a:r>
          </a:p>
          <a:p>
            <a:pPr algn="l">
              <a:lnSpc>
                <a:spcPct val="103000"/>
              </a:lnSpc>
              <a:spcBef>
                <a:spcPts val="0"/>
              </a:spcBef>
              <a:spcAft>
                <a:spcPts val="0"/>
              </a:spcAft>
            </a:pPr>
            <a:r>
              <a:rPr sz="1600" b="0" i="0">
                <a:solidFill>
                  <a:srgbClr val="858591"/>
                </a:solidFill>
                <a:latin typeface="Arial"/>
              </a:rPr>
              <a:t>El SVM del Escenario 2 ofrece la sensibilidad agregada más alta (92,9 %) a coste computacional casi nulo. DenseNet201 ofrece una sensibilidad casi equivalente (90,03 %) con especificidad, precisión, AUC-ROC y Kappa muy superiores.</a:t>
            </a:r>
          </a:p>
        </p:txBody>
      </p:sp>
      <p:sp>
        <p:nvSpPr>
          <p:cNvPr id="11" name="Rectangle 10"/>
          <p:cNvSpPr/>
          <p:nvPr/>
        </p:nvSpPr>
        <p:spPr>
          <a:xfrm>
            <a:off x="8101583" y="3758183"/>
            <a:ext cx="9308591" cy="1316736"/>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101583" y="3758183"/>
            <a:ext cx="68580" cy="1316736"/>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430767" y="3904487"/>
            <a:ext cx="8714231" cy="1060704"/>
          </a:xfrm>
          <a:prstGeom prst="rect">
            <a:avLst/>
          </a:prstGeom>
          <a:noFill/>
        </p:spPr>
        <p:txBody>
          <a:bodyPr wrap="square" lIns="18288" rIns="18288" tIns="0" bIns="0" anchor="t">
            <a:spAutoFit/>
          </a:bodyPr>
          <a:lstStyle/>
          <a:p>
            <a:pPr algn="l">
              <a:lnSpc>
                <a:spcPct val="103000"/>
              </a:lnSpc>
              <a:spcBef>
                <a:spcPts val="0"/>
              </a:spcBef>
              <a:spcAft>
                <a:spcPts val="0"/>
              </a:spcAft>
            </a:pPr>
            <a:r>
              <a:rPr sz="1900" b="1" i="0">
                <a:solidFill>
                  <a:srgbClr val="219BC3"/>
                </a:solidFill>
                <a:latin typeface="Arial"/>
              </a:rPr>
              <a:t>02   </a:t>
            </a:r>
            <a:r>
              <a:rPr sz="1900" b="1" i="0">
                <a:solidFill>
                  <a:srgbClr val="00566C"/>
                </a:solidFill>
                <a:latin typeface="Arial"/>
              </a:rPr>
              <a:t>Balancear el dataset desplaza el punto de operación</a:t>
            </a:r>
          </a:p>
          <a:p>
            <a:pPr algn="l">
              <a:lnSpc>
                <a:spcPct val="103000"/>
              </a:lnSpc>
              <a:spcBef>
                <a:spcPts val="0"/>
              </a:spcBef>
              <a:spcAft>
                <a:spcPts val="0"/>
              </a:spcAft>
            </a:pPr>
            <a:r>
              <a:rPr sz="1600" b="0" i="0">
                <a:solidFill>
                  <a:srgbClr val="858591"/>
                </a:solidFill>
                <a:latin typeface="Arial"/>
              </a:rPr>
              <a:t>El efecto se reproduce en los dos algoritmos: sube la sensibilidad, baja la especificidad y el AUC-ROC apenas se mueve. No cambia lo que el modelo aprende, sino dónde decide.</a:t>
            </a:r>
          </a:p>
        </p:txBody>
      </p:sp>
      <p:sp>
        <p:nvSpPr>
          <p:cNvPr id="14" name="Rectangle 13"/>
          <p:cNvSpPr/>
          <p:nvPr/>
        </p:nvSpPr>
        <p:spPr>
          <a:xfrm>
            <a:off x="8101583" y="5184648"/>
            <a:ext cx="9308591" cy="1316736"/>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101583" y="5184648"/>
            <a:ext cx="68580" cy="1316736"/>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430767" y="5330952"/>
            <a:ext cx="8714231" cy="1060704"/>
          </a:xfrm>
          <a:prstGeom prst="rect">
            <a:avLst/>
          </a:prstGeom>
          <a:noFill/>
        </p:spPr>
        <p:txBody>
          <a:bodyPr wrap="square" lIns="18288" rIns="18288" tIns="0" bIns="0" anchor="t">
            <a:spAutoFit/>
          </a:bodyPr>
          <a:lstStyle/>
          <a:p>
            <a:pPr algn="l">
              <a:lnSpc>
                <a:spcPct val="103000"/>
              </a:lnSpc>
              <a:spcBef>
                <a:spcPts val="0"/>
              </a:spcBef>
              <a:spcAft>
                <a:spcPts val="0"/>
              </a:spcAft>
            </a:pPr>
            <a:r>
              <a:rPr sz="1900" b="1" i="0">
                <a:solidFill>
                  <a:srgbClr val="219BC3"/>
                </a:solidFill>
                <a:latin typeface="Arial"/>
              </a:rPr>
              <a:t>03   </a:t>
            </a:r>
            <a:r>
              <a:rPr sz="1900" b="1" i="0">
                <a:solidFill>
                  <a:srgbClr val="00566C"/>
                </a:solidFill>
                <a:latin typeface="Arial"/>
              </a:rPr>
              <a:t>Las dos cabezas responden a necesidades clínicas distintas</a:t>
            </a:r>
          </a:p>
          <a:p>
            <a:pPr algn="l">
              <a:lnSpc>
                <a:spcPct val="103000"/>
              </a:lnSpc>
              <a:spcBef>
                <a:spcPts val="0"/>
              </a:spcBef>
              <a:spcAft>
                <a:spcPts val="0"/>
              </a:spcAft>
            </a:pPr>
            <a:r>
              <a:rPr sz="1600" b="0" i="0">
                <a:solidFill>
                  <a:srgbClr val="858591"/>
                </a:solidFill>
                <a:latin typeface="Arial"/>
              </a:rPr>
              <a:t>El Escenario 1 maximiza el diagnóstico específico entre las siete patologías y encaja en cribado masivo. El Escenario 2 reduce los falsos negativos a la mitad y encaja en segunda opinión oncológica.</a:t>
            </a:r>
          </a:p>
        </p:txBody>
      </p:sp>
      <p:sp>
        <p:nvSpPr>
          <p:cNvPr id="17" name="Rectangle 16"/>
          <p:cNvSpPr/>
          <p:nvPr/>
        </p:nvSpPr>
        <p:spPr>
          <a:xfrm>
            <a:off x="8101583" y="6611112"/>
            <a:ext cx="9308591" cy="1316736"/>
          </a:xfrm>
          <a:prstGeom prst="rect">
            <a:avLst/>
          </a:prstGeom>
          <a:solidFill>
            <a:srgbClr val="FFFFFF"/>
          </a:solidFill>
          <a:ln w="1270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101583" y="6611112"/>
            <a:ext cx="68580" cy="1316736"/>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430767" y="6757416"/>
            <a:ext cx="8714231" cy="1060704"/>
          </a:xfrm>
          <a:prstGeom prst="rect">
            <a:avLst/>
          </a:prstGeom>
          <a:noFill/>
        </p:spPr>
        <p:txBody>
          <a:bodyPr wrap="square" lIns="18288" rIns="18288" tIns="0" bIns="0" anchor="t">
            <a:spAutoFit/>
          </a:bodyPr>
          <a:lstStyle/>
          <a:p>
            <a:pPr algn="l">
              <a:lnSpc>
                <a:spcPct val="103000"/>
              </a:lnSpc>
              <a:spcBef>
                <a:spcPts val="0"/>
              </a:spcBef>
              <a:spcAft>
                <a:spcPts val="0"/>
              </a:spcAft>
            </a:pPr>
            <a:r>
              <a:rPr sz="1900" b="1" i="0">
                <a:solidFill>
                  <a:srgbClr val="219BC3"/>
                </a:solidFill>
                <a:latin typeface="Arial"/>
              </a:rPr>
              <a:t>04   </a:t>
            </a:r>
            <a:r>
              <a:rPr sz="1900" b="1" i="0">
                <a:solidFill>
                  <a:srgbClr val="00566C"/>
                </a:solidFill>
                <a:latin typeface="Arial"/>
              </a:rPr>
              <a:t>La decisión de despliegue es contextual</a:t>
            </a:r>
          </a:p>
          <a:p>
            <a:pPr algn="l">
              <a:lnSpc>
                <a:spcPct val="103000"/>
              </a:lnSpc>
              <a:spcBef>
                <a:spcPts val="0"/>
              </a:spcBef>
              <a:spcAft>
                <a:spcPts val="0"/>
              </a:spcAft>
            </a:pPr>
            <a:r>
              <a:rPr sz="1600" b="0" i="0">
                <a:solidFill>
                  <a:srgbClr val="858591"/>
                </a:solidFill>
                <a:latin typeface="Arial"/>
              </a:rPr>
              <a:t>Depende de qué recurso sea más escaso en el punto de uso: el cómputo disponible o la capacidad de atención especializada para revisar las derivaciones del sistema.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6879824" y="9198864"/>
            <a:ext cx="1188720" cy="731520"/>
          </a:xfrm>
          <a:prstGeom prst="rect">
            <a:avLst/>
          </a:prstGeom>
          <a:noFill/>
        </p:spPr>
        <p:txBody>
          <a:bodyPr wrap="square" lIns="18288" rIns="18288" tIns="0" bIns="0" anchor="t">
            <a:spAutoFit/>
          </a:bodyPr>
          <a:lstStyle/>
          <a:p>
            <a:pPr algn="l">
              <a:lnSpc>
                <a:spcPct val="100000"/>
              </a:lnSpc>
              <a:spcBef>
                <a:spcPts val="0"/>
              </a:spcBef>
              <a:spcAft>
                <a:spcPts val="0"/>
              </a:spcAft>
            </a:pPr>
            <a:r>
              <a:rPr sz="1500" b="0" i="0">
                <a:solidFill>
                  <a:srgbClr val="858591"/>
                </a:solidFill>
                <a:latin typeface="Arial"/>
              </a:rPr>
              <a:t>pág.</a:t>
            </a:r>
          </a:p>
          <a:p>
            <a:pPr algn="l">
              <a:lnSpc>
                <a:spcPct val="100000"/>
              </a:lnSpc>
              <a:spcBef>
                <a:spcPts val="0"/>
              </a:spcBef>
              <a:spcAft>
                <a:spcPts val="0"/>
              </a:spcAft>
            </a:pPr>
            <a:r>
              <a:rPr sz="1500" b="1" i="0">
                <a:solidFill>
                  <a:srgbClr val="858591"/>
                </a:solidFill>
                <a:latin typeface="Arial"/>
              </a:rPr>
              <a:t>32</a:t>
            </a:r>
          </a:p>
        </p:txBody>
      </p:sp>
      <p:sp>
        <p:nvSpPr>
          <p:cNvPr id="3" name="TextBox 2"/>
          <p:cNvSpPr txBox="1"/>
          <p:nvPr/>
        </p:nvSpPr>
        <p:spPr>
          <a:xfrm>
            <a:off x="877824" y="640080"/>
            <a:ext cx="15727680" cy="1115568"/>
          </a:xfrm>
          <a:prstGeom prst="rect">
            <a:avLst/>
          </a:prstGeom>
          <a:noFill/>
        </p:spPr>
        <p:txBody>
          <a:bodyPr wrap="square" lIns="18288" rIns="18288" tIns="0" bIns="0" anchor="ctr">
            <a:spAutoFit/>
          </a:bodyPr>
          <a:lstStyle/>
          <a:p>
            <a:pPr algn="l">
              <a:lnSpc>
                <a:spcPct val="92000"/>
              </a:lnSpc>
              <a:spcBef>
                <a:spcPts val="0"/>
              </a:spcBef>
              <a:spcAft>
                <a:spcPts val="500"/>
              </a:spcAft>
            </a:pPr>
            <a:r>
              <a:rPr sz="2300" b="1" i="0">
                <a:solidFill>
                  <a:srgbClr val="219BC3"/>
                </a:solidFill>
                <a:latin typeface="Arial"/>
              </a:rPr>
              <a:t>CONCLUSIONES</a:t>
            </a:r>
          </a:p>
          <a:p>
            <a:pPr algn="l">
              <a:lnSpc>
                <a:spcPct val="92000"/>
              </a:lnSpc>
              <a:spcBef>
                <a:spcPts val="0"/>
              </a:spcBef>
              <a:spcAft>
                <a:spcPts val="0"/>
              </a:spcAft>
            </a:pPr>
            <a:r>
              <a:rPr sz="4000" b="1" i="0">
                <a:solidFill>
                  <a:srgbClr val="00566C"/>
                </a:solidFill>
                <a:latin typeface="Arial"/>
              </a:rPr>
              <a:t>Limitaciones reconocidas y líneas de trabajo futuro</a:t>
            </a:r>
          </a:p>
        </p:txBody>
      </p:sp>
      <p:sp>
        <p:nvSpPr>
          <p:cNvPr id="4" name="TextBox 3"/>
          <p:cNvSpPr txBox="1"/>
          <p:nvPr/>
        </p:nvSpPr>
        <p:spPr>
          <a:xfrm>
            <a:off x="877824" y="2176272"/>
            <a:ext cx="7863840" cy="438912"/>
          </a:xfrm>
          <a:prstGeom prst="rect">
            <a:avLst/>
          </a:prstGeom>
          <a:noFill/>
        </p:spPr>
        <p:txBody>
          <a:bodyPr wrap="square" lIns="18288" rIns="18288" tIns="0" bIns="0" anchor="t">
            <a:spAutoFit/>
          </a:bodyPr>
          <a:lstStyle/>
          <a:p>
            <a:pPr algn="l">
              <a:spcBef>
                <a:spcPts val="0"/>
              </a:spcBef>
              <a:spcAft>
                <a:spcPts val="0"/>
              </a:spcAft>
            </a:pPr>
            <a:r>
              <a:rPr sz="2600" b="1" i="0">
                <a:solidFill>
                  <a:srgbClr val="C0393B"/>
                </a:solidFill>
                <a:latin typeface="Arial"/>
              </a:rPr>
              <a:t>Limitaciones</a:t>
            </a:r>
          </a:p>
        </p:txBody>
      </p:sp>
      <p:sp>
        <p:nvSpPr>
          <p:cNvPr id="5" name="Rectangle 4"/>
          <p:cNvSpPr/>
          <p:nvPr/>
        </p:nvSpPr>
        <p:spPr>
          <a:xfrm>
            <a:off x="877824" y="2670048"/>
            <a:ext cx="7863840" cy="1280160"/>
          </a:xfrm>
          <a:prstGeom prst="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877824" y="2670048"/>
            <a:ext cx="64008" cy="1280160"/>
          </a:xfrm>
          <a:prstGeom prst="rect">
            <a:avLst/>
          </a:prstGeom>
          <a:solidFill>
            <a:srgbClr val="C03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88720" y="2788920"/>
            <a:ext cx="7315200" cy="1060704"/>
          </a:xfrm>
          <a:prstGeom prst="rect">
            <a:avLst/>
          </a:prstGeom>
          <a:noFill/>
        </p:spPr>
        <p:txBody>
          <a:bodyPr wrap="square" lIns="18288" rIns="18288" tIns="0" bIns="0" anchor="t">
            <a:spAutoFit/>
          </a:bodyPr>
          <a:lstStyle/>
          <a:p>
            <a:pPr algn="l">
              <a:lnSpc>
                <a:spcPct val="103000"/>
              </a:lnSpc>
              <a:spcBef>
                <a:spcPts val="0"/>
              </a:spcBef>
              <a:spcAft>
                <a:spcPts val="500"/>
              </a:spcAft>
            </a:pPr>
            <a:r>
              <a:rPr sz="1900" b="1" i="0">
                <a:solidFill>
                  <a:srgbClr val="00566C"/>
                </a:solidFill>
                <a:latin typeface="Arial"/>
              </a:rPr>
              <a:t>Sesgo fenotípico y demográfico</a:t>
            </a:r>
          </a:p>
          <a:p>
            <a:pPr algn="l">
              <a:lnSpc>
                <a:spcPct val="103000"/>
              </a:lnSpc>
              <a:spcBef>
                <a:spcPts val="0"/>
              </a:spcBef>
              <a:spcAft>
                <a:spcPts val="0"/>
              </a:spcAft>
            </a:pPr>
            <a:r>
              <a:rPr sz="1600" b="0" i="0">
                <a:solidFill>
                  <a:srgbClr val="858591"/>
                </a:solidFill>
                <a:latin typeface="Arial"/>
              </a:rPr>
              <a:t>HAM10000 procede de poblaciones europeas y australianas (fototipos I–III). La demografía ecuatoriana es predominantemente III–V: falta representatividad étnica local.</a:t>
            </a:r>
          </a:p>
        </p:txBody>
      </p:sp>
      <p:sp>
        <p:nvSpPr>
          <p:cNvPr id="8" name="Rectangle 7"/>
          <p:cNvSpPr/>
          <p:nvPr/>
        </p:nvSpPr>
        <p:spPr>
          <a:xfrm>
            <a:off x="877824" y="4023360"/>
            <a:ext cx="7863840" cy="1280160"/>
          </a:xfrm>
          <a:prstGeom prst="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77824" y="4023360"/>
            <a:ext cx="64008" cy="1280160"/>
          </a:xfrm>
          <a:prstGeom prst="rect">
            <a:avLst/>
          </a:prstGeom>
          <a:solidFill>
            <a:srgbClr val="C03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188720" y="4142232"/>
            <a:ext cx="7315200" cy="1060704"/>
          </a:xfrm>
          <a:prstGeom prst="rect">
            <a:avLst/>
          </a:prstGeom>
          <a:noFill/>
        </p:spPr>
        <p:txBody>
          <a:bodyPr wrap="square" lIns="18288" rIns="18288" tIns="0" bIns="0" anchor="t">
            <a:spAutoFit/>
          </a:bodyPr>
          <a:lstStyle/>
          <a:p>
            <a:pPr algn="l">
              <a:lnSpc>
                <a:spcPct val="103000"/>
              </a:lnSpc>
              <a:spcBef>
                <a:spcPts val="0"/>
              </a:spcBef>
              <a:spcAft>
                <a:spcPts val="500"/>
              </a:spcAft>
            </a:pPr>
            <a:r>
              <a:rPr sz="1900" b="1" i="0">
                <a:solidFill>
                  <a:srgbClr val="00566C"/>
                </a:solidFill>
                <a:latin typeface="Arial"/>
              </a:rPr>
              <a:t>Exclusión de las variables clínicas auxiliares</a:t>
            </a:r>
          </a:p>
          <a:p>
            <a:pPr algn="l">
              <a:lnSpc>
                <a:spcPct val="103000"/>
              </a:lnSpc>
              <a:spcBef>
                <a:spcPts val="0"/>
              </a:spcBef>
              <a:spcAft>
                <a:spcPts val="0"/>
              </a:spcAft>
            </a:pPr>
            <a:r>
              <a:rPr sz="1600" b="0" i="0">
                <a:solidFill>
                  <a:srgbClr val="858591"/>
                </a:solidFill>
                <a:latin typeface="Arial"/>
              </a:rPr>
              <a:t>La red opera solo sobre píxeles: no integrar edad, sexo y localización deja sin explotar la señal que el propio EDA identificó como informativa.</a:t>
            </a:r>
          </a:p>
        </p:txBody>
      </p:sp>
      <p:sp>
        <p:nvSpPr>
          <p:cNvPr id="11" name="Rectangle 10"/>
          <p:cNvSpPr/>
          <p:nvPr/>
        </p:nvSpPr>
        <p:spPr>
          <a:xfrm>
            <a:off x="877824" y="5376672"/>
            <a:ext cx="7863840" cy="1280160"/>
          </a:xfrm>
          <a:prstGeom prst="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77824" y="5376672"/>
            <a:ext cx="64008" cy="1280160"/>
          </a:xfrm>
          <a:prstGeom prst="rect">
            <a:avLst/>
          </a:prstGeom>
          <a:solidFill>
            <a:srgbClr val="C03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188720" y="5495544"/>
            <a:ext cx="7315200" cy="1060704"/>
          </a:xfrm>
          <a:prstGeom prst="rect">
            <a:avLst/>
          </a:prstGeom>
          <a:noFill/>
        </p:spPr>
        <p:txBody>
          <a:bodyPr wrap="square" lIns="18288" rIns="18288" tIns="0" bIns="0" anchor="t">
            <a:spAutoFit/>
          </a:bodyPr>
          <a:lstStyle/>
          <a:p>
            <a:pPr algn="l">
              <a:lnSpc>
                <a:spcPct val="103000"/>
              </a:lnSpc>
              <a:spcBef>
                <a:spcPts val="0"/>
              </a:spcBef>
              <a:spcAft>
                <a:spcPts val="500"/>
              </a:spcAft>
            </a:pPr>
            <a:r>
              <a:rPr sz="1900" b="1" i="0">
                <a:solidFill>
                  <a:srgbClr val="00566C"/>
                </a:solidFill>
                <a:latin typeface="Arial"/>
              </a:rPr>
              <a:t>Infrarrepresentación de subtipos críticos</a:t>
            </a:r>
          </a:p>
          <a:p>
            <a:pPr algn="l">
              <a:lnSpc>
                <a:spcPct val="103000"/>
              </a:lnSpc>
              <a:spcBef>
                <a:spcPts val="0"/>
              </a:spcBef>
              <a:spcAft>
                <a:spcPts val="0"/>
              </a:spcAft>
            </a:pPr>
            <a:r>
              <a:rPr sz="1600" b="0" i="0">
                <a:solidFill>
                  <a:srgbClr val="858591"/>
                </a:solidFill>
                <a:latin typeface="Arial"/>
              </a:rPr>
              <a:t>El melanoma acral lentiginoso, de altísima mortalidad local, está severamente infrarrepresentado en la muestra de entrenamiento.</a:t>
            </a:r>
          </a:p>
        </p:txBody>
      </p:sp>
      <p:sp>
        <p:nvSpPr>
          <p:cNvPr id="14" name="Rectangle 13"/>
          <p:cNvSpPr/>
          <p:nvPr/>
        </p:nvSpPr>
        <p:spPr>
          <a:xfrm>
            <a:off x="877824" y="6729984"/>
            <a:ext cx="7863840" cy="1280160"/>
          </a:xfrm>
          <a:prstGeom prst="rect">
            <a:avLst/>
          </a:prstGeom>
          <a:solidFill>
            <a:srgbClr val="FB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877824" y="6729984"/>
            <a:ext cx="64008" cy="1280160"/>
          </a:xfrm>
          <a:prstGeom prst="rect">
            <a:avLst/>
          </a:prstGeom>
          <a:solidFill>
            <a:srgbClr val="C03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188720" y="6848856"/>
            <a:ext cx="7315200" cy="1060704"/>
          </a:xfrm>
          <a:prstGeom prst="rect">
            <a:avLst/>
          </a:prstGeom>
          <a:noFill/>
        </p:spPr>
        <p:txBody>
          <a:bodyPr wrap="square" lIns="18288" rIns="18288" tIns="0" bIns="0" anchor="t">
            <a:spAutoFit/>
          </a:bodyPr>
          <a:lstStyle/>
          <a:p>
            <a:pPr algn="l">
              <a:lnSpc>
                <a:spcPct val="103000"/>
              </a:lnSpc>
              <a:spcBef>
                <a:spcPts val="0"/>
              </a:spcBef>
              <a:spcAft>
                <a:spcPts val="500"/>
              </a:spcAft>
            </a:pPr>
            <a:r>
              <a:rPr sz="1900" b="1" i="0">
                <a:solidFill>
                  <a:srgbClr val="00566C"/>
                </a:solidFill>
                <a:latin typeface="Arial"/>
              </a:rPr>
              <a:t>Partición del Escenario 1 de DenseNet201</a:t>
            </a:r>
          </a:p>
          <a:p>
            <a:pPr algn="l">
              <a:lnSpc>
                <a:spcPct val="103000"/>
              </a:lnSpc>
              <a:spcBef>
                <a:spcPts val="0"/>
              </a:spcBef>
              <a:spcAft>
                <a:spcPts val="0"/>
              </a:spcAft>
            </a:pPr>
            <a:r>
              <a:rPr sz="1600" b="0" i="0">
                <a:solidFill>
                  <a:srgbClr val="858591"/>
                </a:solidFill>
                <a:latin typeface="Arial"/>
              </a:rPr>
              <a:t>Se realizó estratificada por clase, sin agrupar por lesion_id. El Escenario 2 sí aplica el agrupamiento.</a:t>
            </a:r>
          </a:p>
        </p:txBody>
      </p:sp>
      <p:sp>
        <p:nvSpPr>
          <p:cNvPr id="17" name="TextBox 16"/>
          <p:cNvSpPr txBox="1"/>
          <p:nvPr/>
        </p:nvSpPr>
        <p:spPr>
          <a:xfrm>
            <a:off x="9336024" y="2176272"/>
            <a:ext cx="8074152" cy="438912"/>
          </a:xfrm>
          <a:prstGeom prst="rect">
            <a:avLst/>
          </a:prstGeom>
          <a:noFill/>
        </p:spPr>
        <p:txBody>
          <a:bodyPr wrap="square" lIns="18288" rIns="18288" tIns="0" bIns="0" anchor="t">
            <a:spAutoFit/>
          </a:bodyPr>
          <a:lstStyle/>
          <a:p>
            <a:pPr algn="l">
              <a:spcBef>
                <a:spcPts val="0"/>
              </a:spcBef>
              <a:spcAft>
                <a:spcPts val="0"/>
              </a:spcAft>
            </a:pPr>
            <a:r>
              <a:rPr sz="2600" b="1" i="0">
                <a:solidFill>
                  <a:srgbClr val="219BC3"/>
                </a:solidFill>
                <a:latin typeface="Arial"/>
              </a:rPr>
              <a:t>Trabajo futuro</a:t>
            </a:r>
          </a:p>
        </p:txBody>
      </p:sp>
      <p:sp>
        <p:nvSpPr>
          <p:cNvPr id="18" name="Rectangle 17"/>
          <p:cNvSpPr/>
          <p:nvPr/>
        </p:nvSpPr>
        <p:spPr>
          <a:xfrm>
            <a:off x="9336024" y="2670048"/>
            <a:ext cx="8074152" cy="128016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9336024" y="2670048"/>
            <a:ext cx="64008" cy="128016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646920" y="2788920"/>
            <a:ext cx="7525512" cy="1060704"/>
          </a:xfrm>
          <a:prstGeom prst="rect">
            <a:avLst/>
          </a:prstGeom>
          <a:noFill/>
        </p:spPr>
        <p:txBody>
          <a:bodyPr wrap="square" lIns="18288" rIns="18288" tIns="0" bIns="0" anchor="t">
            <a:spAutoFit/>
          </a:bodyPr>
          <a:lstStyle/>
          <a:p>
            <a:pPr algn="l">
              <a:lnSpc>
                <a:spcPct val="103000"/>
              </a:lnSpc>
              <a:spcBef>
                <a:spcPts val="0"/>
              </a:spcBef>
              <a:spcAft>
                <a:spcPts val="500"/>
              </a:spcAft>
            </a:pPr>
            <a:r>
              <a:rPr sz="1900" b="1" i="0">
                <a:solidFill>
                  <a:srgbClr val="00566C"/>
                </a:solidFill>
                <a:latin typeface="Arial"/>
              </a:rPr>
              <a:t>Muestreo asimétrico por cabeza lineal</a:t>
            </a:r>
          </a:p>
          <a:p>
            <a:pPr algn="l">
              <a:lnSpc>
                <a:spcPct val="103000"/>
              </a:lnSpc>
              <a:spcBef>
                <a:spcPts val="0"/>
              </a:spcBef>
              <a:spcAft>
                <a:spcPts val="0"/>
              </a:spcAft>
            </a:pPr>
            <a:r>
              <a:rPr sz="1600" b="0" i="0">
                <a:solidFill>
                  <a:srgbClr val="858591"/>
                </a:solidFill>
                <a:latin typeface="Arial"/>
              </a:rPr>
              <a:t>Alimentar cada cabeza con un lote distinto en el mismo ciclo: la Cabeza A con el dataset balanceado y la Cabeza B con el original, para resolver el trade-off observado.</a:t>
            </a:r>
          </a:p>
        </p:txBody>
      </p:sp>
      <p:sp>
        <p:nvSpPr>
          <p:cNvPr id="21" name="Rectangle 20"/>
          <p:cNvSpPr/>
          <p:nvPr/>
        </p:nvSpPr>
        <p:spPr>
          <a:xfrm>
            <a:off x="9336024" y="4023360"/>
            <a:ext cx="8074152" cy="128016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9336024" y="4023360"/>
            <a:ext cx="64008" cy="128016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646920" y="4142232"/>
            <a:ext cx="7525512" cy="1060704"/>
          </a:xfrm>
          <a:prstGeom prst="rect">
            <a:avLst/>
          </a:prstGeom>
          <a:noFill/>
        </p:spPr>
        <p:txBody>
          <a:bodyPr wrap="square" lIns="18288" rIns="18288" tIns="0" bIns="0" anchor="t">
            <a:spAutoFit/>
          </a:bodyPr>
          <a:lstStyle/>
          <a:p>
            <a:pPr algn="l">
              <a:lnSpc>
                <a:spcPct val="103000"/>
              </a:lnSpc>
              <a:spcBef>
                <a:spcPts val="0"/>
              </a:spcBef>
              <a:spcAft>
                <a:spcPts val="500"/>
              </a:spcAft>
            </a:pPr>
            <a:r>
              <a:rPr sz="1900" b="1" i="0">
                <a:solidFill>
                  <a:srgbClr val="00566C"/>
                </a:solidFill>
                <a:latin typeface="Arial"/>
              </a:rPr>
              <a:t>Modelado multimodal integrado</a:t>
            </a:r>
          </a:p>
          <a:p>
            <a:pPr algn="l">
              <a:lnSpc>
                <a:spcPct val="103000"/>
              </a:lnSpc>
              <a:spcBef>
                <a:spcPts val="0"/>
              </a:spcBef>
              <a:spcAft>
                <a:spcPts val="0"/>
              </a:spcAft>
            </a:pPr>
            <a:r>
              <a:rPr sz="1600" b="0" i="0">
                <a:solidFill>
                  <a:srgbClr val="858591"/>
                </a:solidFill>
                <a:latin typeface="Arial"/>
              </a:rPr>
              <a:t>Fusionar el vector visual de DenseNet201 con una red densa que procese edad, sexo y localización anatómica.</a:t>
            </a:r>
          </a:p>
        </p:txBody>
      </p:sp>
      <p:sp>
        <p:nvSpPr>
          <p:cNvPr id="24" name="Rectangle 23"/>
          <p:cNvSpPr/>
          <p:nvPr/>
        </p:nvSpPr>
        <p:spPr>
          <a:xfrm>
            <a:off x="9336024" y="5376672"/>
            <a:ext cx="8074152" cy="128016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9336024" y="5376672"/>
            <a:ext cx="64008" cy="128016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646920" y="5495544"/>
            <a:ext cx="7525512" cy="1060704"/>
          </a:xfrm>
          <a:prstGeom prst="rect">
            <a:avLst/>
          </a:prstGeom>
          <a:noFill/>
        </p:spPr>
        <p:txBody>
          <a:bodyPr wrap="square" lIns="18288" rIns="18288" tIns="0" bIns="0" anchor="t">
            <a:spAutoFit/>
          </a:bodyPr>
          <a:lstStyle/>
          <a:p>
            <a:pPr algn="l">
              <a:lnSpc>
                <a:spcPct val="103000"/>
              </a:lnSpc>
              <a:spcBef>
                <a:spcPts val="0"/>
              </a:spcBef>
              <a:spcAft>
                <a:spcPts val="500"/>
              </a:spcAft>
            </a:pPr>
            <a:r>
              <a:rPr sz="1900" b="1" i="0">
                <a:solidFill>
                  <a:srgbClr val="00566C"/>
                </a:solidFill>
                <a:latin typeface="Arial"/>
              </a:rPr>
              <a:t>Arquitecturas alternativas</a:t>
            </a:r>
          </a:p>
          <a:p>
            <a:pPr algn="l">
              <a:lnSpc>
                <a:spcPct val="103000"/>
              </a:lnSpc>
              <a:spcBef>
                <a:spcPts val="0"/>
              </a:spcBef>
              <a:spcAft>
                <a:spcPts val="0"/>
              </a:spcAft>
            </a:pPr>
            <a:r>
              <a:rPr sz="1600" b="0" i="0">
                <a:solidFill>
                  <a:srgbClr val="858591"/>
                </a:solidFill>
                <a:latin typeface="Arial"/>
              </a:rPr>
              <a:t>Evaluar EfficientNet y Vision Transformers frente a DenseNet201 en relación precisión / coste.</a:t>
            </a:r>
          </a:p>
        </p:txBody>
      </p:sp>
      <p:sp>
        <p:nvSpPr>
          <p:cNvPr id="27" name="Rectangle 26"/>
          <p:cNvSpPr/>
          <p:nvPr/>
        </p:nvSpPr>
        <p:spPr>
          <a:xfrm>
            <a:off x="9336024" y="6729984"/>
            <a:ext cx="8074152" cy="1280160"/>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336024" y="6729984"/>
            <a:ext cx="64008" cy="1280160"/>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646920" y="6848856"/>
            <a:ext cx="7525512" cy="1060704"/>
          </a:xfrm>
          <a:prstGeom prst="rect">
            <a:avLst/>
          </a:prstGeom>
          <a:noFill/>
        </p:spPr>
        <p:txBody>
          <a:bodyPr wrap="square" lIns="18288" rIns="18288" tIns="0" bIns="0" anchor="t">
            <a:spAutoFit/>
          </a:bodyPr>
          <a:lstStyle/>
          <a:p>
            <a:pPr algn="l">
              <a:lnSpc>
                <a:spcPct val="103000"/>
              </a:lnSpc>
              <a:spcBef>
                <a:spcPts val="0"/>
              </a:spcBef>
              <a:spcAft>
                <a:spcPts val="500"/>
              </a:spcAft>
            </a:pPr>
            <a:r>
              <a:rPr sz="1900" b="1" i="0">
                <a:solidFill>
                  <a:srgbClr val="00566C"/>
                </a:solidFill>
                <a:latin typeface="Arial"/>
              </a:rPr>
              <a:t>Validación multicéntrica e integración CDSS</a:t>
            </a:r>
          </a:p>
          <a:p>
            <a:pPr algn="l">
              <a:lnSpc>
                <a:spcPct val="103000"/>
              </a:lnSpc>
              <a:spcBef>
                <a:spcPts val="0"/>
              </a:spcBef>
              <a:spcAft>
                <a:spcPts val="0"/>
              </a:spcAft>
            </a:pPr>
            <a:r>
              <a:rPr sz="1600" b="0" i="0">
                <a:solidFill>
                  <a:srgbClr val="858591"/>
                </a:solidFill>
                <a:latin typeface="Arial"/>
              </a:rPr>
              <a:t>Validar sobre datos de centros ecuatorianos e integrar el modelo en el flujo de trabajo real del dermatólogo, con trazabilidad de las decisiones.</a:t>
            </a:r>
          </a:p>
        </p:txBody>
      </p:sp>
      <p:sp>
        <p:nvSpPr>
          <p:cNvPr id="30" name="Rectangle 29"/>
          <p:cNvSpPr/>
          <p:nvPr/>
        </p:nvSpPr>
        <p:spPr>
          <a:xfrm>
            <a:off x="877824" y="8101583"/>
            <a:ext cx="16532351" cy="713232"/>
          </a:xfrm>
          <a:prstGeom prst="rect">
            <a:avLst/>
          </a:prstGeom>
          <a:solidFill>
            <a:srgbClr val="F2F2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77824" y="8101583"/>
            <a:ext cx="68580" cy="713232"/>
          </a:xfrm>
          <a:prstGeom prst="rect">
            <a:avLst/>
          </a:prstGeom>
          <a:solidFill>
            <a:srgbClr val="219BC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1170432" y="8101583"/>
            <a:ext cx="16075151" cy="713232"/>
          </a:xfrm>
          <a:prstGeom prst="rect">
            <a:avLst/>
          </a:prstGeom>
          <a:noFill/>
        </p:spPr>
        <p:txBody>
          <a:bodyPr wrap="square" lIns="18288" rIns="18288" tIns="0" bIns="0" anchor="ctr">
            <a:spAutoFit/>
          </a:bodyPr>
          <a:lstStyle/>
          <a:p>
            <a:pPr algn="l">
              <a:spcBef>
                <a:spcPts val="0"/>
              </a:spcBef>
              <a:spcAft>
                <a:spcPts val="0"/>
              </a:spcAft>
            </a:pPr>
            <a:r>
              <a:rPr sz="2100" b="1" i="0">
                <a:solidFill>
                  <a:srgbClr val="00566C"/>
                </a:solidFill>
                <a:latin typeface="Arial"/>
              </a:rPr>
              <a:t>La limitación más relevante no es técnica sino de representatividad: sin validación sobre fototipos locales, ningún resultado de esta memoria es directamente trasladable a la clínica ecuatoriana.</a:t>
            </a:r>
          </a:p>
        </p:txBody>
      </p:sp>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15073</TotalTime>
  <Application>LibreOffice/26.2.4.2$Linux_X86_64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2015-01-20T06:47:48Z</dcterms:created>
  <dc:creator>UNIR</dc:creator>
  <dc:description/>
  <cp:keywords/>
  <dc:language>en-US</dc:language>
  <cp:lastModifiedBy>David Somovilla Lumbreras</cp:lastModifiedBy>
  <dcterms:modified xsi:type="dcterms:W3CDTF">2023-02-24T07:37:44Z</dcterms:modified>
  <cp:revision>1291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0x010100A3E1C0FC74B3174194FF149F9456036A</vt:lpwstr>
  </property>
</Properties>
</file>