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</p:sldIdLst>
  <p:sldSz cx="18288000" cy="10288588"/>
  <p:notesSz cx="6796088" cy="992505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de imágenes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1-97F0-4253-8503-BB631DB5D565}"/>
              </c:ext>
            </c:extLst>
          </c:dPt>
          <c:dPt>
            <c:idx val="1"/>
            <c:invertIfNegative val="1"/>
            <c:bubble3D val="0"/>
            <c:spPr>
              <a:solidFill>
                <a:srgbClr val="B03024"/>
              </a:solidFill>
            </c:spPr>
            <c:extLst>
              <c:ext xmlns:c16="http://schemas.microsoft.com/office/drawing/2014/chart" uri="{C3380CC4-5D6E-409C-BE32-E72D297353CC}">
                <c16:uniqueId val="{00000003-97F0-4253-8503-BB631DB5D565}"/>
              </c:ext>
            </c:extLst>
          </c:dPt>
          <c:dPt>
            <c:idx val="2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5-97F0-4253-8503-BB631DB5D565}"/>
              </c:ext>
            </c:extLst>
          </c:dPt>
          <c:dPt>
            <c:idx val="3"/>
            <c:invertIfNegative val="1"/>
            <c:bubble3D val="0"/>
            <c:spPr>
              <a:solidFill>
                <a:srgbClr val="B03024"/>
              </a:solidFill>
            </c:spPr>
            <c:extLst>
              <c:ext xmlns:c16="http://schemas.microsoft.com/office/drawing/2014/chart" uri="{C3380CC4-5D6E-409C-BE32-E72D297353CC}">
                <c16:uniqueId val="{00000007-97F0-4253-8503-BB631DB5D565}"/>
              </c:ext>
            </c:extLst>
          </c:dPt>
          <c:dPt>
            <c:idx val="4"/>
            <c:invertIfNegative val="1"/>
            <c:bubble3D val="0"/>
            <c:spPr>
              <a:solidFill>
                <a:srgbClr val="B03024"/>
              </a:solidFill>
            </c:spPr>
            <c:extLst>
              <c:ext xmlns:c16="http://schemas.microsoft.com/office/drawing/2014/chart" uri="{C3380CC4-5D6E-409C-BE32-E72D297353CC}">
                <c16:uniqueId val="{00000009-97F0-4253-8503-BB631DB5D565}"/>
              </c:ext>
            </c:extLst>
          </c:dPt>
          <c:dPt>
            <c:idx val="5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B-97F0-4253-8503-BB631DB5D565}"/>
              </c:ext>
            </c:extLst>
          </c:dPt>
          <c:dPt>
            <c:idx val="6"/>
            <c:invertIfNegative val="1"/>
            <c:bubble3D val="0"/>
            <c:spPr>
              <a:solidFill>
                <a:srgbClr val="219BC3"/>
              </a:solidFill>
            </c:spPr>
            <c:extLst>
              <c:ext xmlns:c16="http://schemas.microsoft.com/office/drawing/2014/chart" uri="{C3380CC4-5D6E-409C-BE32-E72D297353CC}">
                <c16:uniqueId val="{0000000D-97F0-4253-8503-BB631DB5D56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00566C"/>
                    </a:solidFill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nv</c:v>
                </c:pt>
                <c:pt idx="1">
                  <c:v>mel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66.900000000000006</c:v>
                </c:pt>
                <c:pt idx="1">
                  <c:v>11.1</c:v>
                </c:pt>
                <c:pt idx="2">
                  <c:v>11</c:v>
                </c:pt>
                <c:pt idx="3">
                  <c:v>5.0999999999999996</c:v>
                </c:pt>
                <c:pt idx="4">
                  <c:v>3.3</c:v>
                </c:pt>
                <c:pt idx="5">
                  <c:v>1.4</c:v>
                </c:pt>
                <c:pt idx="6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7F0-4253-8503-BB631DB5D5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400" b="1">
                <a:solidFill>
                  <a:srgbClr val="00566C"/>
                </a:solidFill>
              </a:defRPr>
            </a:pPr>
            <a:endParaRPr lang="es-EC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0"/>
            <a:ext cx="6796800" cy="992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hdr"/>
          </p:nvPr>
        </p:nvSpPr>
        <p:spPr>
          <a:xfrm>
            <a:off x="0" y="-36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3849840" y="-36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  <a:def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422280" y="1240920"/>
            <a:ext cx="5952960" cy="33498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n-US" sz="6600" b="0" u="none" strike="noStrike">
                <a:solidFill>
                  <a:srgbClr val="0C0B0B"/>
                </a:solidFill>
                <a:effectLst/>
                <a:uFillTx/>
                <a:latin typeface="Franklin Gothic Medium"/>
              </a:rPr>
              <a:t>Click to move the slide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79320" y="4776480"/>
            <a:ext cx="5438880" cy="3908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2960" algn="l"/>
                <a:tab pos="1825560" algn="l"/>
                <a:tab pos="2738520" algn="l"/>
                <a:tab pos="3651120" algn="l"/>
                <a:tab pos="4564080" algn="l"/>
                <a:tab pos="5477040" algn="l"/>
                <a:tab pos="6389640" algn="l"/>
                <a:tab pos="7302600" algn="l"/>
                <a:tab pos="8215200" algn="l"/>
                <a:tab pos="9128160" algn="l"/>
                <a:tab pos="10040760" algn="l"/>
                <a:tab pos="1095372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42768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3849840" y="9427680"/>
            <a:ext cx="2946240" cy="49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  <a:def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EA4532C-A64F-4BCD-ABE1-3A73CF6A1081}" type="slidenum">
              <a:rPr lang="uk-UA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[AMBOS | 0,5 min] Bienvenida. Presentarse ambos autores. Agradecer al tribunal y al director Victor D. Diaz Suarez.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0,75 min] Recorrer las 4 grandes secciones de la defensa: introduccion/objetivos, normativa/datos, modelado y resultados/conclusiones. 26 diapositivas, 30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1,25 min] Abrir con la magnitud del problema y la urgencia clinica. El dato de 131 dias conecta con el 'embudo logistico' que motiva el uso de IA como apoyo, no sustituto, del especialista.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1,25 min] Explicar por que Recall/Sensibilidad es el eje de todo el TFM: coste clinico asimetrico del falso negativo. Esto se retomara en cada tabla de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1,25 min] Presentar las 7 clases diagnosticas y remarcar que 3 de ellas son malignas (mel, bcc, akiec) y suman menos del 20% de las imagenes: esto anticipa el problema de desbalance. Dataset: 10.015 imagenes, 7.470 lesiones unicas (ISIC Archive).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 min] Situar el TFM frente a 5 antecedentes directos. Todos comparten dataset o modelo base, pero ninguno prioriza la Sensibilidad clinica como este TFM.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1,25 min] Situar el TFM dentro de la literatura: transicion ML clasico -&gt; Deep Learning. La tabla comparativa de trabajos relacionados va en la diapositiva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0,75 min] Leer el objetivo general. Los objetivos especificos se detallan en la siguiente diapositiva con el layout de iconos.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 min] Recorrer las 4 columnas: Datos, SVM, DenseNet201 y Evaluacion agrupan los 5 objetivos especificos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[Alvaro/Christian | 1,25 min] Recorrer las 5 fases del CRISP-DM adaptado. Es el hilo conductor del capitulo 5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1,25 min] Marco legal ecuatoriano. Dejar sembrada la idea del sesgo fenotipico que se retomara en limitaciones.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1,25 min] El hallazgo mas determinante del EDA: proporcion benigno:maligno = 4,1:1 (barras en rojo = clases malignas: mel, bcc, akiec). Por eso el accuracy global es una metrica enganosa y se prioriza F1 por clase y recall en malignas.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1,25 min] EDA de metadatos clinicos: edad, sexo y localizacion correlacionan con malignidad. La infrarrepresentacion de localizaciones acrales se retoma en limitaciones.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1,25 min] Introducir el hilo conductor 'Escenario 1 vs Escenario 2' que se repetira en SVM y DenseNet201.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Explicar el pipeline de 9 pasos de forma resumida: PCA, kernel RBF y el rol de class_weight=balanced.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 min] El accuracy global oculta comportamientos muy heterogeneos: nv domina por su soporte (F1=0,822), pero mel y df tienen el peor desempeño pese a ser clases malignas o raras.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1,25 min] La fila clave es Sensibilidad Malignidad: +28,4 puntos es el resultado mas citado en las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 min] Presentar la arquitectura multitarea como aporte metodologico propio: un unico backbone, dos cabezas con objetivos distintos. (DenseNet 1 de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1,25 min] Detalles de entrenamiento: Adam, 30 epocas, weighted cross-entropy y augmentation. (DenseNet 2 de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 min] Contraste: la Cabeza B (7 clases) empeora con el balanceo, la Cabeza A (binaria) mejora. Es el mismo backbone, dos lecturas distintas. (DenseNet 3 de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[AMBOS | 2 min] Diapositiva bisagra de la defensa. SVM gana solo en sensibilidad (+2,87 pts); DenseNet201 domina en todo lo demas a cambio de mucho mas computo. Cerrar con la pregunta: que recurso escasea mas, computo o especialistas?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0,75 min] Mostrar brevemente el repositorio de GitHub y la trazabilidad de metricas en Excel. Transicion a cumplimiento de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0,75 min] Verificacion formal: los 5 objetivos especificos quedan acreditados antes de pasar a las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[Christian | 1,5 min] Cerrar el argumento central del TFM: el ganador depende de si el cuello de botella es computo o capacidad de atencion especializada.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[Alvaro | 1,5 min] Combinar autocritica (sesgo fenotipico, falta de variables clinicas) con la hoja de ruta futura: multimodal, validacion en Ecuador, nuevas arquitecturas.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[AMBOS | 0,5 min] Agradecer al tribunal y al director. Quedar disponibles para preguntas. Repositorio de codigo en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/>
          <p:cNvPicPr/>
          <p:nvPr/>
        </p:nvPicPr>
        <p:blipFill>
          <a:blip r:embed="rId2"/>
          <a:stretch/>
        </p:blipFill>
        <p:spPr>
          <a:xfrm>
            <a:off x="503280" y="9240840"/>
            <a:ext cx="3317760" cy="743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3"/>
          <p:cNvSpPr/>
          <p:nvPr/>
        </p:nvSpPr>
        <p:spPr>
          <a:xfrm>
            <a:off x="16745040" y="9186840"/>
            <a:ext cx="0" cy="743040"/>
          </a:xfrm>
          <a:prstGeom prst="line">
            <a:avLst/>
          </a:prstGeom>
          <a:ln w="63360">
            <a:solidFill>
              <a:srgbClr val="219BC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4" name="Imagen 2" descr="Texto&#10;&#10;Descripción generada automáticamente"/>
          <p:cNvPicPr/>
          <p:nvPr/>
        </p:nvPicPr>
        <p:blipFill>
          <a:blip r:embed="rId2"/>
          <a:stretch/>
        </p:blipFill>
        <p:spPr>
          <a:xfrm>
            <a:off x="515880" y="9255240"/>
            <a:ext cx="3317760" cy="74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Straight Connector 9"/>
          <p:cNvSpPr/>
          <p:nvPr/>
        </p:nvSpPr>
        <p:spPr>
          <a:xfrm>
            <a:off x="704880" y="685800"/>
            <a:ext cx="0" cy="1028880"/>
          </a:xfrm>
          <a:prstGeom prst="line">
            <a:avLst/>
          </a:prstGeom>
          <a:ln w="63360">
            <a:solidFill>
              <a:srgbClr val="219BC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/>
          <p:nvPr/>
        </p:nvSpPr>
        <p:spPr>
          <a:xfrm>
            <a:off x="0" y="0"/>
            <a:ext cx="18288000" cy="9002880"/>
          </a:xfrm>
          <a:prstGeom prst="rect">
            <a:avLst/>
          </a:prstGeom>
          <a:solidFill>
            <a:srgbClr val="219B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4" name="Rectángulo 15"/>
          <p:cNvSpPr/>
          <p:nvPr/>
        </p:nvSpPr>
        <p:spPr>
          <a:xfrm>
            <a:off x="0" y="9040680"/>
            <a:ext cx="18288000" cy="1246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5" name="TextBox 10"/>
          <p:cNvSpPr/>
          <p:nvPr/>
        </p:nvSpPr>
        <p:spPr>
          <a:xfrm>
            <a:off x="2673360" y="2749680"/>
            <a:ext cx="12941280" cy="3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Evaluación comparativa de SVM y DenseNet201</a:t>
            </a:r>
            <a:endParaRPr lang="en-US" sz="95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para la clasificación automática de</a:t>
            </a:r>
            <a:endParaRPr lang="en-US" sz="95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r>
              <a:rPr sz="3200" b="1">
                <a:solidFill>
                  <a:srgbClr val="FFFFFF"/>
                </a:solidFill>
                <a:latin typeface="Arial"/>
              </a:rPr>
              <a:t>enfermedades dermatológicas</a:t>
            </a:r>
          </a:p>
        </p:txBody>
      </p:sp>
      <p:sp>
        <p:nvSpPr>
          <p:cNvPr id="16" name="TextBox 10"/>
          <p:cNvSpPr/>
          <p:nvPr/>
        </p:nvSpPr>
        <p:spPr>
          <a:xfrm>
            <a:off x="307800" y="6650000"/>
            <a:ext cx="17795880" cy="1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Christian Gutiérrez Gutiérrez  ·  Alvaro Gutiérrez Burbano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r>
              <a:rPr sz="1500" b="0">
                <a:solidFill>
                  <a:srgbClr val="FFFFFF"/>
                </a:solidFill>
                <a:latin typeface="Arial"/>
              </a:rPr>
              <a:t>Director: Víctor D. Díaz Suárez</a:t>
            </a:r>
          </a:p>
          <a:p>
            <a:r>
              <a:rPr sz="1500" b="0">
                <a:solidFill>
                  <a:srgbClr val="FFFFFF"/>
                </a:solidFill>
                <a:latin typeface="Arial"/>
              </a:rPr>
              <a:t>Máster Universitario en Análisis y Visualización de Datos Masivos — UNIR</a:t>
            </a:r>
          </a:p>
        </p:txBody>
      </p:sp>
      <p:grpSp>
        <p:nvGrpSpPr>
          <p:cNvPr id="17" name="Agrupar 33"/>
          <p:cNvGrpSpPr/>
          <p:nvPr/>
        </p:nvGrpSpPr>
        <p:grpSpPr>
          <a:xfrm>
            <a:off x="4294080" y="2455920"/>
            <a:ext cx="795600" cy="708120"/>
            <a:chOff x="4294080" y="2455920"/>
            <a:chExt cx="795600" cy="708120"/>
          </a:xfrm>
        </p:grpSpPr>
        <p:sp>
          <p:nvSpPr>
            <p:cNvPr id="18" name="Conector recto 34"/>
            <p:cNvSpPr/>
            <p:nvPr/>
          </p:nvSpPr>
          <p:spPr>
            <a:xfrm>
              <a:off x="4294080" y="2468520"/>
              <a:ext cx="0" cy="69552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19" name="Conector recto 35"/>
            <p:cNvSpPr/>
            <p:nvPr/>
          </p:nvSpPr>
          <p:spPr>
            <a:xfrm flipH="1">
              <a:off x="4294080" y="2455920"/>
              <a:ext cx="795600" cy="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grpSp>
        <p:nvGrpSpPr>
          <p:cNvPr id="20" name="Agrupar 36"/>
          <p:cNvGrpSpPr/>
          <p:nvPr/>
        </p:nvGrpSpPr>
        <p:grpSpPr>
          <a:xfrm>
            <a:off x="13157280" y="5581800"/>
            <a:ext cx="794880" cy="707760"/>
            <a:chOff x="13157280" y="5581800"/>
            <a:chExt cx="794880" cy="707760"/>
          </a:xfrm>
        </p:grpSpPr>
        <p:sp>
          <p:nvSpPr>
            <p:cNvPr id="21" name="Conector recto 37"/>
            <p:cNvSpPr/>
            <p:nvPr/>
          </p:nvSpPr>
          <p:spPr>
            <a:xfrm flipV="1">
              <a:off x="13952160" y="5581800"/>
              <a:ext cx="0" cy="69516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22" name="Conector recto 38"/>
            <p:cNvSpPr/>
            <p:nvPr/>
          </p:nvSpPr>
          <p:spPr>
            <a:xfrm>
              <a:off x="13157280" y="6289560"/>
              <a:ext cx="792360" cy="0"/>
            </a:xfrm>
            <a:prstGeom prst="line">
              <a:avLst/>
            </a:prstGeom>
            <a:ln w="63360" cap="sq">
              <a:solidFill>
                <a:srgbClr val="FFFFFF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pic>
        <p:nvPicPr>
          <p:cNvPr id="23" name="Imagen 2" descr="Texto&#10;&#10;Descripción generada automáticamente"/>
          <p:cNvPicPr/>
          <p:nvPr/>
        </p:nvPicPr>
        <p:blipFill>
          <a:blip r:embed="rId3"/>
          <a:stretch/>
        </p:blipFill>
        <p:spPr>
          <a:xfrm>
            <a:off x="493560" y="9247320"/>
            <a:ext cx="3318120" cy="742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/>
          <p:nvPr/>
        </p:nvSpPr>
        <p:spPr>
          <a:xfrm rot="5400000" flipH="1" flipV="1">
            <a:off x="-571320" y="570600"/>
            <a:ext cx="10287000" cy="9144000"/>
          </a:xfrm>
          <a:prstGeom prst="rect">
            <a:avLst/>
          </a:prstGeom>
          <a:solidFill>
            <a:srgbClr val="219BC3"/>
          </a:solidFill>
          <a:ln w="12600">
            <a:solidFill>
              <a:srgbClr val="15718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5" name="TextBox 11"/>
          <p:cNvSpPr/>
          <p:nvPr/>
        </p:nvSpPr>
        <p:spPr>
          <a:xfrm>
            <a:off x="10341000" y="3443400"/>
            <a:ext cx="777564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01 –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Introducción y objetivos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6" name="TextBox 12"/>
          <p:cNvSpPr/>
          <p:nvPr/>
        </p:nvSpPr>
        <p:spPr>
          <a:xfrm>
            <a:off x="10341000" y="4226040"/>
            <a:ext cx="744228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02 - 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Normativa y datos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7" name="TextBox 13"/>
          <p:cNvSpPr/>
          <p:nvPr/>
        </p:nvSpPr>
        <p:spPr>
          <a:xfrm>
            <a:off x="10341000" y="5006880"/>
            <a:ext cx="762300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03 - 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SVM y DenseNet201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8" name="TextBox 15"/>
          <p:cNvSpPr/>
          <p:nvPr/>
        </p:nvSpPr>
        <p:spPr>
          <a:xfrm>
            <a:off x="10341000" y="5789520"/>
            <a:ext cx="769284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2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04 - </a:t>
            </a:r>
            <a:r>
              <a:rPr lang="es-ES_tradnl" sz="32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Resultados y conclusiones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9" name="TextBox 10"/>
          <p:cNvSpPr/>
          <p:nvPr/>
        </p:nvSpPr>
        <p:spPr>
          <a:xfrm>
            <a:off x="685800" y="4213080"/>
            <a:ext cx="7772400" cy="182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Roboto Black"/>
              </a:rPr>
              <a:t>ÍNDICE</a:t>
            </a:r>
            <a:endParaRPr lang="en-US" sz="11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Introducción · 01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Motivación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Incidencia global creciente  </a:t>
            </a:r>
            <a:r>
              <a:rPr sz="1400" b="0">
                <a:solidFill>
                  <a:srgbClr val="858591"/>
                </a:solidFill>
                <a:latin typeface="Arial"/>
              </a:rPr>
              <a:t>Más de 330.000 nuevos casos de melanoma al año en el mundo (Langselius, Rumgay y de Vries, 2025).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El tiempo es supervivencia  </a:t>
            </a:r>
            <a:r>
              <a:rPr sz="1400" b="0">
                <a:solidFill>
                  <a:srgbClr val="858591"/>
                </a:solidFill>
                <a:latin typeface="Arial"/>
              </a:rPr>
              <a:t>Detectado en fase localizada, el melanoma supera el 99% de supervivencia relativa a 5 años (American Cancer Society, 2026).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Cuello de botella clínico  </a:t>
            </a:r>
            <a:r>
              <a:rPr sz="1400" b="0">
                <a:solidFill>
                  <a:srgbClr val="858591"/>
                </a:solidFill>
                <a:latin typeface="Arial"/>
              </a:rPr>
              <a:t>131 días de espera media para una primera consulta de dermatología en España; la saturación es aún mayor en contextos como Ecuador.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Cáncer de piel: una emergencia de salud pública en expansión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3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Introducción · 02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Planteamiento del trabajo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Dos paradigmas frente a frente  </a:t>
            </a:r>
            <a:r>
              <a:rPr sz="1400" b="0">
                <a:solidFill>
                  <a:srgbClr val="858591"/>
                </a:solidFill>
                <a:latin typeface="Arial"/>
              </a:rPr>
              <a:t>Machine Learning tradicional (SVM) frente a Deep Learning con Transfer Learning (DenseNet201) sobre el mismo problema.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La métrica que manda: Sensibilidad  </a:t>
            </a:r>
            <a:r>
              <a:rPr sz="1400" b="0">
                <a:solidFill>
                  <a:srgbClr val="858591"/>
                </a:solidFill>
                <a:latin typeface="Arial"/>
              </a:rPr>
              <a:t>Un falso negativo —lesión maligna etiquetada como benigna— tiene un coste clínico muy superior al de un falso positivo.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Medición robusta  </a:t>
            </a:r>
            <a:r>
              <a:rPr sz="1400" b="0">
                <a:solidFill>
                  <a:srgbClr val="858591"/>
                </a:solidFill>
                <a:latin typeface="Arial"/>
              </a:rPr>
              <a:t>F1-Score y AUC-ROC como respaldo, dado el fuerte desbalance de clases del dataset HAM10000.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Una comparativa, no una carrera por el accuracy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el criterio de éxito es clínico, no estadístico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4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Contexto · 03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HAM10000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Código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Diagnóstico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N imágenes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%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Malignidad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nv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Nevus melanocítico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6.705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66,9%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mel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Melanoma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1.113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11,1%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Maligno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bkl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Queratosis benigna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1.099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11,0%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Carcinoma basocelular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514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5,1%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Maligno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akiec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Queratosis actínica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327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3,3%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Maligno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vasc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Lesión vascular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142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1,4%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df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Dermatofibroma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115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1,1%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Benigno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</a:t>
            </a: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Contexto · 04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Trabajos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Autor (año)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Dataset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Modelo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Métrica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Relación con el TFM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Bechelli y Delhommelle, 2022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Kaggle + HAM10000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ResNet50/VGG16 vs. SVM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Acc. 83,6%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DL &gt; ML clásico; el TFM prioriza Sensibilidad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Sönmez et al., 2023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HAM10000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MobileNetV2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Acc. 80,79%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Mismo dataset; usa augmentation, no balanceo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Çevik y Zengin, 2019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HAM10000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VGGNET personalizada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Acc. 85,62%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Valida ReLU + Adam, usados en el TFM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Sánchez Sánchez, 2024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HAM10000 (ISIC 2018)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EfficientNet + DenseNet121 + NASNet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BMA 0,7645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Antecedente cercano; prioriza recall en malignas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Goceri, 2021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DermNet/DermQuest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Segmentación + 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Acc. 95,24%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Mismo modelo base; aplica segmentación previa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 rowSpan="2"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Ningún estudio prioriza la Sensibilidad clínica como criterio principal de éxito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0</a:t>
            </a: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Contexto · 05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Estado del arte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 SVM a las redes profundas  </a:t>
            </a:r>
            <a:r>
              <a:rPr sz="1400" b="0">
                <a:solidFill>
                  <a:srgbClr val="858591"/>
                </a:solidFill>
                <a:latin typeface="Arial"/>
              </a:rPr>
              <a:t>La literatura documenta el tránsito del Machine Learning clásico hacia arquitecturas de Deep Learning en clasificación dermatoscópica (Bechelli y Delhommelle, 2022).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No solo precisión  </a:t>
            </a:r>
            <a:r>
              <a:rPr sz="1400" b="0">
                <a:solidFill>
                  <a:srgbClr val="858591"/>
                </a:solidFill>
                <a:latin typeface="Arial"/>
              </a:rPr>
              <a:t>Los sistemas deben ser interpretables y computacionalmente viables para integrarse en la práctica clínica real.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CDSS: apoyo, no sustitución  </a:t>
            </a:r>
            <a:r>
              <a:rPr sz="1400" b="0">
                <a:solidFill>
                  <a:srgbClr val="858591"/>
                </a:solidFill>
                <a:latin typeface="Arial"/>
              </a:rPr>
              <a:t>Un Sistema de Soporte a la Decisión Clínica no reemplaza al dermatólogo: reduce tiempos y homogeneiza el cribado inicial.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El ojo clínico más entrenado también se equivoca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variabilidad entre especialistas y fatiga diagnóstica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7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Objetivos · 06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Objetivo general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Objetivo general  </a:t>
            </a:r>
            <a:r>
              <a:rPr sz="1400" b="0">
                <a:solidFill>
                  <a:srgbClr val="858591"/>
                </a:solidFill>
                <a:latin typeface="Arial"/>
              </a:rPr>
              <a:t>Determinar cuál de los dos paradigmas —SVM o DenseNet201— ofrece el mejor equilibrio entre rendimiento clínico y viabilidad de despliegue.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Alcance  </a:t>
            </a:r>
            <a:r>
              <a:rPr sz="1400" b="0">
                <a:solidFill>
                  <a:srgbClr val="858591"/>
                </a:solidFill>
                <a:latin typeface="Arial"/>
              </a:rPr>
              <a:t>Clasificación de 7 tipos de lesiones cutáneas del dataset HAM10000, en dos escenarios de balanceo de clases.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Objetivos específicos  </a:t>
            </a:r>
            <a:r>
              <a:rPr sz="1400" b="0">
                <a:solidFill>
                  <a:srgbClr val="858591"/>
                </a:solidFill>
                <a:latin typeface="Arial"/>
              </a:rPr>
              <a:t>Se detallan a continuación, agrupados en 4 bloques: datos, SVM, DenseNet201 y evaluación.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Determinar el modelo óptimo para el cribado dermatológico automatizado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8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Objetivos · 07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Específicos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pSp>
        <p:nvGrpSpPr>
          <p:cNvPr id="35" name="Group 58"/>
          <p:cNvGrpSpPr/>
          <p:nvPr/>
        </p:nvGrpSpPr>
        <p:grpSpPr>
          <a:xfrm>
            <a:off x="1370160" y="2933640"/>
            <a:ext cx="3693960" cy="5252040"/>
            <a:chOff x="1370160" y="2933640"/>
            <a:chExt cx="3693960" cy="5252040"/>
          </a:xfrm>
        </p:grpSpPr>
        <p:sp>
          <p:nvSpPr>
            <p:cNvPr id="36" name="TextBox 41"/>
            <p:cNvSpPr/>
            <p:nvPr/>
          </p:nvSpPr>
          <p:spPr>
            <a:xfrm>
              <a:off x="1370160" y="3747960"/>
              <a:ext cx="36939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3600" b="0" u="none" strike="noStrike">
                  <a:solidFill>
                    <a:srgbClr val="219BC3"/>
                  </a:solidFill>
                  <a:effectLst/>
                  <a:uFillTx/>
                  <a:latin typeface="Arial"/>
                  <a:ea typeface="Arial"/>
                </a:rPr>
                <a:t>Datos</a:t>
              </a:r>
              <a:endParaRPr lang="en-US" sz="36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37" name="Freeform 122"/>
            <p:cNvSpPr/>
            <p:nvPr/>
          </p:nvSpPr>
          <p:spPr>
            <a:xfrm>
              <a:off x="1370160" y="2933640"/>
              <a:ext cx="628200" cy="628200"/>
            </a:xfrm>
            <a:custGeom>
              <a:avLst/>
              <a:gdLst>
                <a:gd name="GluePoint1X" fmla="*/ 2147483646 w 176"/>
                <a:gd name="GluePoint1Y" fmla="*/ 2147483646 h 176"/>
                <a:gd name="GluePoint2X" fmla="*/ 2147483646 w 176"/>
                <a:gd name="GluePoint2Y" fmla="*/ 2147483646 h 176"/>
                <a:gd name="GluePoint3X" fmla="*/ 2147483646 w 176"/>
                <a:gd name="GluePoint3Y" fmla="*/ 2147483646 h 176"/>
                <a:gd name="GluePoint4X" fmla="*/ 2147483646 w 176"/>
                <a:gd name="GluePoint4Y" fmla="*/ 2147483646 h 176"/>
                <a:gd name="GluePoint5X" fmla="*/ 2147483646 w 176"/>
                <a:gd name="GluePoint5Y" fmla="*/ 2147483646 h 176"/>
                <a:gd name="GluePoint6X" fmla="*/ 2147483646 w 176"/>
                <a:gd name="GluePoint6Y" fmla="*/ 2147483646 h 176"/>
                <a:gd name="GluePoint7X" fmla="*/ 2147483646 w 176"/>
                <a:gd name="GluePoint7Y" fmla="*/ 2147483646 h 176"/>
                <a:gd name="GluePoint8X" fmla="*/ 2147483646 w 176"/>
                <a:gd name="GluePoint8Y" fmla="*/ 0 h 176"/>
                <a:gd name="GluePoint9X" fmla="*/ 2147483646 w 176"/>
                <a:gd name="GluePoint9Y" fmla="*/ 0 h 176"/>
                <a:gd name="GluePoint10X" fmla="*/ 2147483646 w 176"/>
                <a:gd name="GluePoint10Y" fmla="*/ 2147483646 h 176"/>
                <a:gd name="GluePoint11X" fmla="*/ 2147483646 w 176"/>
                <a:gd name="GluePoint11Y" fmla="*/ 2147483646 h 176"/>
                <a:gd name="GluePoint12X" fmla="*/ 2147483646 w 176"/>
                <a:gd name="GluePoint12Y" fmla="*/ 2147483646 h 176"/>
                <a:gd name="GluePoint13X" fmla="*/ 2147483646 w 176"/>
                <a:gd name="GluePoint13Y" fmla="*/ 2147483646 h 176"/>
                <a:gd name="GluePoint14X" fmla="*/ 2147483646 w 176"/>
                <a:gd name="GluePoint14Y" fmla="*/ 2147483646 h 176"/>
                <a:gd name="GluePoint15X" fmla="*/ 2147483646 w 176"/>
                <a:gd name="GluePoint15Y" fmla="*/ 2147483646 h 176"/>
                <a:gd name="GluePoint16X" fmla="*/ 0 w 176"/>
                <a:gd name="GluePoint16Y" fmla="*/ 2147483646 h 176"/>
                <a:gd name="GluePoint17X" fmla="*/ 2147483646 w 176"/>
                <a:gd name="GluePoint17Y" fmla="*/ 2147483646 h 176"/>
                <a:gd name="GluePoint18X" fmla="*/ 2147483646 w 176"/>
                <a:gd name="GluePoint18Y" fmla="*/ 2147483646 h 176"/>
                <a:gd name="GluePoint19X" fmla="*/ 2147483646 w 176"/>
                <a:gd name="GluePoint19Y" fmla="*/ 2147483646 h 176"/>
                <a:gd name="GluePoint20X" fmla="*/ 2147483646 w 176"/>
                <a:gd name="GluePoint20Y" fmla="*/ 2147483646 h 176"/>
                <a:gd name="GluePoint21X" fmla="*/ 2147483646 w 176"/>
                <a:gd name="GluePoint21Y" fmla="*/ 2147483646 h 176"/>
                <a:gd name="GluePoint22X" fmla="*/ 2147483646 w 176"/>
                <a:gd name="GluePoint22Y" fmla="*/ 2147483646 h 176"/>
                <a:gd name="GluePoint23X" fmla="*/ 2147483646 w 176"/>
                <a:gd name="GluePoint23Y" fmla="*/ 2147483646 h 176"/>
                <a:gd name="GluePoint24X" fmla="*/ 2147483646 w 176"/>
                <a:gd name="GluePoint24Y" fmla="*/ 2147483646 h 176"/>
                <a:gd name="GluePoint25X" fmla="*/ 2147483646 w 176"/>
                <a:gd name="GluePoint25Y" fmla="*/ 2147483646 h 176"/>
                <a:gd name="GluePoint26X" fmla="*/ 2147483646 w 176"/>
                <a:gd name="GluePoint26Y" fmla="*/ 2147483646 h 176"/>
                <a:gd name="GluePoint27X" fmla="*/ 2147483646 w 176"/>
                <a:gd name="GluePoint27Y" fmla="*/ 2147483646 h 176"/>
                <a:gd name="GluePoint28X" fmla="*/ 2147483646 w 176"/>
                <a:gd name="GluePoint28Y" fmla="*/ 2147483646 h 176"/>
                <a:gd name="GluePoint29X" fmla="*/ 2147483646 w 176"/>
                <a:gd name="GluePoint29Y" fmla="*/ 2147483646 h 176"/>
                <a:gd name="GluePoint30X" fmla="*/ 2147483646 w 176"/>
                <a:gd name="GluePoint30Y" fmla="*/ 2147483646 h 176"/>
                <a:gd name="GluePoint31X" fmla="*/ 2147483646 w 176"/>
                <a:gd name="GluePoint31Y" fmla="*/ 2147483646 h 176"/>
                <a:gd name="GluePoint32X" fmla="*/ 2147483646 w 176"/>
                <a:gd name="GluePoint32Y" fmla="*/ 2147483646 h 176"/>
                <a:gd name="GluePoint33X" fmla="*/ 2147483646 w 176"/>
                <a:gd name="GluePoint33Y" fmla="*/ 2147483646 h 176"/>
                <a:gd name="GluePoint34X" fmla="*/ 2147483646 w 176"/>
                <a:gd name="GluePoint34Y" fmla="*/ 2147483646 h 176"/>
                <a:gd name="GluePoint35X" fmla="*/ 2147483646 w 176"/>
                <a:gd name="GluePoint35Y" fmla="*/ 2147483646 h 176"/>
                <a:gd name="GluePoint36X" fmla="*/ 2147483646 w 176"/>
                <a:gd name="GluePoint36Y" fmla="*/ 2147483646 h 176"/>
                <a:gd name="GluePoint37X" fmla="*/ 2147483646 w 176"/>
                <a:gd name="GluePoint37Y" fmla="*/ 2147483646 h 176"/>
                <a:gd name="GluePoint38X" fmla="*/ 2147483646 w 176"/>
                <a:gd name="GluePoint38Y" fmla="*/ 2147483646 h 176"/>
                <a:gd name="GluePoint39X" fmla="*/ 2147483646 w 176"/>
                <a:gd name="GluePoint39Y" fmla="*/ 2147483646 h 176"/>
                <a:gd name="GluePoint40X" fmla="*/ 2147483646 w 176"/>
                <a:gd name="GluePoint40Y" fmla="*/ 2147483646 h 176"/>
                <a:gd name="GluePoint41X" fmla="*/ 2147483646 w 176"/>
                <a:gd name="GluePoint41Y" fmla="*/ 2147483646 h 176"/>
                <a:gd name="GluePoint42X" fmla="*/ 2147483646 w 176"/>
                <a:gd name="GluePoint42Y" fmla="*/ 2147483646 h 176"/>
                <a:gd name="GluePoint43X" fmla="*/ 2147483646 w 176"/>
                <a:gd name="GluePoint43Y" fmla="*/ 2147483646 h 176"/>
                <a:gd name="GluePoint44X" fmla="*/ 2147483646 w 176"/>
                <a:gd name="GluePoint44Y" fmla="*/ 2147483646 h 176"/>
                <a:gd name="GluePoint45X" fmla="*/ 2147483646 w 176"/>
                <a:gd name="GluePoint45Y" fmla="*/ 2147483646 h 176"/>
                <a:gd name="GluePoint46X" fmla="*/ 2147483646 w 176"/>
                <a:gd name="GluePoint46Y" fmla="*/ 2147483646 h 176"/>
                <a:gd name="GluePoint47X" fmla="*/ 2147483646 w 176"/>
                <a:gd name="GluePoint47Y" fmla="*/ 2147483646 h 176"/>
                <a:gd name="GluePoint48X" fmla="*/ 2147483646 w 176"/>
                <a:gd name="GluePoint48Y" fmla="*/ 2147483646 h 176"/>
                <a:gd name="GluePoint49X" fmla="*/ 2147483646 w 176"/>
                <a:gd name="GluePoint49Y" fmla="*/ 2147483646 h 176"/>
                <a:gd name="GluePoint50X" fmla="*/ 2147483646 w 176"/>
                <a:gd name="GluePoint50Y" fmla="*/ 2147483646 h 176"/>
                <a:gd name="GluePoint51X" fmla="*/ 2147483646 w 176"/>
                <a:gd name="GluePoint51Y" fmla="*/ 2147483646 h 176"/>
                <a:gd name="GluePoint52X" fmla="*/ 2147483646 w 176"/>
                <a:gd name="GluePoint52Y" fmla="*/ 2147483646 h 176"/>
                <a:gd name="GluePoint53X" fmla="*/ 2147483646 w 176"/>
                <a:gd name="GluePoint53Y" fmla="*/ 2147483646 h 1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</a:cxnLst>
              <a:rect l="l" t="t" r="r" b="b"/>
              <a:pathLst>
                <a:path w="176" h="176">
                  <a:moveTo>
                    <a:pt x="176" y="52"/>
                  </a:moveTo>
                  <a:cubicBezTo>
                    <a:pt x="176" y="51"/>
                    <a:pt x="176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6" y="1"/>
                    <a:pt x="125" y="0"/>
                    <a:pt x="12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3"/>
                    <a:pt x="0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4"/>
                    <a:pt x="85" y="174"/>
                    <a:pt x="85" y="174"/>
                  </a:cubicBezTo>
                  <a:cubicBezTo>
                    <a:pt x="86" y="175"/>
                    <a:pt x="87" y="176"/>
                    <a:pt x="88" y="176"/>
                  </a:cubicBezTo>
                  <a:cubicBezTo>
                    <a:pt x="89" y="176"/>
                    <a:pt x="90" y="175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6" y="54"/>
                    <a:pt x="176" y="53"/>
                    <a:pt x="176" y="52"/>
                  </a:cubicBezTo>
                  <a:moveTo>
                    <a:pt x="122" y="8"/>
                  </a:moveTo>
                  <a:cubicBezTo>
                    <a:pt x="162" y="48"/>
                    <a:pt x="162" y="48"/>
                    <a:pt x="162" y="48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06" y="8"/>
                    <a:pt x="106" y="8"/>
                    <a:pt x="106" y="8"/>
                  </a:cubicBezTo>
                  <a:lnTo>
                    <a:pt x="122" y="8"/>
                  </a:lnTo>
                  <a:close/>
                  <a:moveTo>
                    <a:pt x="98" y="8"/>
                  </a:moveTo>
                  <a:cubicBezTo>
                    <a:pt x="118" y="48"/>
                    <a:pt x="118" y="48"/>
                    <a:pt x="11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78" y="8"/>
                    <a:pt x="78" y="8"/>
                    <a:pt x="78" y="8"/>
                  </a:cubicBezTo>
                  <a:lnTo>
                    <a:pt x="98" y="8"/>
                  </a:lnTo>
                  <a:close/>
                  <a:moveTo>
                    <a:pt x="54" y="8"/>
                  </a:moveTo>
                  <a:cubicBezTo>
                    <a:pt x="70" y="8"/>
                    <a:pt x="70" y="8"/>
                    <a:pt x="70" y="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14" y="48"/>
                    <a:pt x="14" y="48"/>
                    <a:pt x="14" y="48"/>
                  </a:cubicBezTo>
                  <a:lnTo>
                    <a:pt x="54" y="8"/>
                  </a:lnTo>
                  <a:close/>
                  <a:moveTo>
                    <a:pt x="12" y="56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77" y="149"/>
                    <a:pt x="77" y="149"/>
                    <a:pt x="77" y="149"/>
                  </a:cubicBezTo>
                  <a:lnTo>
                    <a:pt x="12" y="56"/>
                  </a:lnTo>
                  <a:close/>
                  <a:moveTo>
                    <a:pt x="88" y="158"/>
                  </a:moveTo>
                  <a:cubicBezTo>
                    <a:pt x="57" y="56"/>
                    <a:pt x="57" y="56"/>
                    <a:pt x="57" y="56"/>
                  </a:cubicBezTo>
                  <a:cubicBezTo>
                    <a:pt x="119" y="56"/>
                    <a:pt x="119" y="56"/>
                    <a:pt x="119" y="56"/>
                  </a:cubicBezTo>
                  <a:lnTo>
                    <a:pt x="88" y="158"/>
                  </a:lnTo>
                  <a:close/>
                  <a:moveTo>
                    <a:pt x="99" y="149"/>
                  </a:moveTo>
                  <a:cubicBezTo>
                    <a:pt x="127" y="56"/>
                    <a:pt x="127" y="56"/>
                    <a:pt x="127" y="56"/>
                  </a:cubicBezTo>
                  <a:cubicBezTo>
                    <a:pt x="164" y="56"/>
                    <a:pt x="164" y="56"/>
                    <a:pt x="164" y="56"/>
                  </a:cubicBezTo>
                  <a:lnTo>
                    <a:pt x="99" y="149"/>
                  </a:lnTo>
                  <a:close/>
                </a:path>
              </a:pathLst>
            </a:custGeom>
            <a:solidFill>
              <a:srgbClr val="219B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38" name="TextBox 52"/>
            <p:cNvSpPr/>
            <p:nvPr/>
          </p:nvSpPr>
          <p:spPr>
            <a:xfrm>
              <a:off x="1370160" y="4737600"/>
              <a:ext cx="3583440" cy="344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EDA sobre HAM10000: sesgos y distribución de clases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Pipeline de preprocesamiento y limpieza de imágenes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Balanceo por sobremuestreo (SMOTE) y submuestreo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Partición estratificada por lesion_id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sp>
        <p:nvSpPr>
          <p:cNvPr id="39" name="TextBox 42"/>
          <p:cNvSpPr/>
          <p:nvPr/>
        </p:nvSpPr>
        <p:spPr>
          <a:xfrm>
            <a:off x="5357880" y="3710160"/>
            <a:ext cx="36399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SVM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0" name="Freeform 441"/>
          <p:cNvSpPr/>
          <p:nvPr/>
        </p:nvSpPr>
        <p:spPr>
          <a:xfrm>
            <a:off x="5357880" y="2933640"/>
            <a:ext cx="573120" cy="573120"/>
          </a:xfrm>
          <a:custGeom>
            <a:avLst/>
            <a:gdLst>
              <a:gd name="GluePoint1X" fmla="*/ 573087 w 176"/>
              <a:gd name="GluePoint1Y" fmla="*/ 169321 h 176"/>
              <a:gd name="GluePoint2X" fmla="*/ 403766 w 176"/>
              <a:gd name="GluePoint2Y" fmla="*/ 0 h 176"/>
              <a:gd name="GluePoint3X" fmla="*/ 286544 w 176"/>
              <a:gd name="GluePoint3Y" fmla="*/ 48843 h 176"/>
              <a:gd name="GluePoint4X" fmla="*/ 169321 w 176"/>
              <a:gd name="GluePoint4Y" fmla="*/ 0 h 176"/>
              <a:gd name="GluePoint5X" fmla="*/ 0 w 176"/>
              <a:gd name="GluePoint5Y" fmla="*/ 169321 h 176"/>
              <a:gd name="GluePoint6X" fmla="*/ 0 w 176"/>
              <a:gd name="GluePoint6Y" fmla="*/ 188859 h 176"/>
              <a:gd name="GluePoint7X" fmla="*/ 286544 w 176"/>
              <a:gd name="GluePoint7Y" fmla="*/ 573088 h 176"/>
              <a:gd name="GluePoint8X" fmla="*/ 573087 w 176"/>
              <a:gd name="GluePoint8Y" fmla="*/ 188859 h 176"/>
              <a:gd name="GluePoint9X" fmla="*/ 573087 w 176"/>
              <a:gd name="GluePoint9Y" fmla="*/ 169321 h 176"/>
              <a:gd name="GluePoint10X" fmla="*/ 547038 w 176"/>
              <a:gd name="GluePoint10Y" fmla="*/ 185602 h 176"/>
              <a:gd name="GluePoint11X" fmla="*/ 286544 w 176"/>
              <a:gd name="GluePoint11Y" fmla="*/ 543782 h 176"/>
              <a:gd name="GluePoint12X" fmla="*/ 26049 w 176"/>
              <a:gd name="GluePoint12Y" fmla="*/ 185602 h 176"/>
              <a:gd name="GluePoint13X" fmla="*/ 26049 w 176"/>
              <a:gd name="GluePoint13Y" fmla="*/ 169321 h 176"/>
              <a:gd name="GluePoint14X" fmla="*/ 169321 w 176"/>
              <a:gd name="GluePoint14Y" fmla="*/ 26049 h 176"/>
              <a:gd name="GluePoint15X" fmla="*/ 267006 w 176"/>
              <a:gd name="GluePoint15Y" fmla="*/ 65124 h 176"/>
              <a:gd name="GluePoint16X" fmla="*/ 280031 w 176"/>
              <a:gd name="GluePoint16Y" fmla="*/ 78148 h 176"/>
              <a:gd name="GluePoint17X" fmla="*/ 234445 w 176"/>
              <a:gd name="GluePoint17Y" fmla="*/ 182346 h 176"/>
              <a:gd name="GluePoint18X" fmla="*/ 299568 w 176"/>
              <a:gd name="GluePoint18Y" fmla="*/ 260495 h 176"/>
              <a:gd name="GluePoint19X" fmla="*/ 247469 w 176"/>
              <a:gd name="GluePoint19Y" fmla="*/ 377717 h 176"/>
              <a:gd name="GluePoint20X" fmla="*/ 286544 w 176"/>
              <a:gd name="GluePoint20Y" fmla="*/ 442841 h 176"/>
              <a:gd name="GluePoint21X" fmla="*/ 276775 w 176"/>
              <a:gd name="GluePoint21Y" fmla="*/ 377717 h 176"/>
              <a:gd name="GluePoint22X" fmla="*/ 328874 w 176"/>
              <a:gd name="GluePoint22Y" fmla="*/ 253982 h 176"/>
              <a:gd name="GluePoint23X" fmla="*/ 267006 w 176"/>
              <a:gd name="GluePoint23Y" fmla="*/ 179090 h 176"/>
              <a:gd name="GluePoint24X" fmla="*/ 319105 w 176"/>
              <a:gd name="GluePoint24Y" fmla="*/ 52099 h 176"/>
              <a:gd name="GluePoint25X" fmla="*/ 403766 w 176"/>
              <a:gd name="GluePoint25Y" fmla="*/ 26049 h 176"/>
              <a:gd name="GluePoint26X" fmla="*/ 547038 w 176"/>
              <a:gd name="GluePoint26Y" fmla="*/ 169321 h 176"/>
              <a:gd name="GluePoint27X" fmla="*/ 547038 w 176"/>
              <a:gd name="GluePoint27Y" fmla="*/ 185602 h 1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</a:cxnLst>
            <a:rect l="l" t="t" r="r" b="b"/>
            <a:pathLst>
              <a:path w="176" h="176">
                <a:moveTo>
                  <a:pt x="176" y="52"/>
                </a:moveTo>
                <a:cubicBezTo>
                  <a:pt x="176" y="23"/>
                  <a:pt x="153" y="0"/>
                  <a:pt x="124" y="0"/>
                </a:cubicBezTo>
                <a:cubicBezTo>
                  <a:pt x="110" y="0"/>
                  <a:pt x="97" y="6"/>
                  <a:pt x="88" y="15"/>
                </a:cubicBezTo>
                <a:cubicBezTo>
                  <a:pt x="79" y="6"/>
                  <a:pt x="66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55"/>
                  <a:pt x="1" y="59"/>
                  <a:pt x="0" y="58"/>
                </a:cubicBezTo>
                <a:cubicBezTo>
                  <a:pt x="6" y="109"/>
                  <a:pt x="80" y="176"/>
                  <a:pt x="88" y="176"/>
                </a:cubicBezTo>
                <a:cubicBezTo>
                  <a:pt x="96" y="176"/>
                  <a:pt x="170" y="109"/>
                  <a:pt x="176" y="58"/>
                </a:cubicBezTo>
                <a:cubicBezTo>
                  <a:pt x="175" y="59"/>
                  <a:pt x="176" y="55"/>
                  <a:pt x="176" y="52"/>
                </a:cubicBezTo>
                <a:moveTo>
                  <a:pt x="168" y="57"/>
                </a:moveTo>
                <a:cubicBezTo>
                  <a:pt x="163" y="100"/>
                  <a:pt x="103" y="158"/>
                  <a:pt x="88" y="167"/>
                </a:cubicBezTo>
                <a:cubicBezTo>
                  <a:pt x="73" y="158"/>
                  <a:pt x="13" y="100"/>
                  <a:pt x="8" y="57"/>
                </a:cubicBezTo>
                <a:cubicBezTo>
                  <a:pt x="8" y="57"/>
                  <a:pt x="8" y="55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63" y="8"/>
                  <a:pt x="74" y="12"/>
                  <a:pt x="82" y="20"/>
                </a:cubicBezTo>
                <a:cubicBezTo>
                  <a:pt x="86" y="24"/>
                  <a:pt x="86" y="24"/>
                  <a:pt x="86" y="24"/>
                </a:cubicBezTo>
                <a:cubicBezTo>
                  <a:pt x="72" y="56"/>
                  <a:pt x="72" y="56"/>
                  <a:pt x="72" y="56"/>
                </a:cubicBezTo>
                <a:cubicBezTo>
                  <a:pt x="92" y="80"/>
                  <a:pt x="92" y="80"/>
                  <a:pt x="92" y="80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101" y="78"/>
                  <a:pt x="101" y="78"/>
                  <a:pt x="101" y="78"/>
                </a:cubicBezTo>
                <a:cubicBezTo>
                  <a:pt x="82" y="55"/>
                  <a:pt x="82" y="55"/>
                  <a:pt x="82" y="55"/>
                </a:cubicBezTo>
                <a:cubicBezTo>
                  <a:pt x="98" y="16"/>
                  <a:pt x="98" y="16"/>
                  <a:pt x="98" y="16"/>
                </a:cubicBezTo>
                <a:cubicBezTo>
                  <a:pt x="106" y="11"/>
                  <a:pt x="115" y="8"/>
                  <a:pt x="124" y="8"/>
                </a:cubicBezTo>
                <a:cubicBezTo>
                  <a:pt x="148" y="8"/>
                  <a:pt x="168" y="28"/>
                  <a:pt x="168" y="52"/>
                </a:cubicBezTo>
                <a:cubicBezTo>
                  <a:pt x="168" y="55"/>
                  <a:pt x="168" y="57"/>
                  <a:pt x="168" y="57"/>
                </a:cubicBezTo>
              </a:path>
            </a:pathLst>
          </a:cu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1" name="TextBox 53"/>
          <p:cNvSpPr/>
          <p:nvPr/>
        </p:nvSpPr>
        <p:spPr>
          <a:xfrm>
            <a:off x="5357880" y="4738680"/>
            <a:ext cx="3583080" cy="344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Extracción paramétrica de características y PCA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Clasificador SVC con kernel RBF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Línea base de Machine Learning tradicional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Class_weight balanceado para clases minoritarias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pSp>
        <p:nvGrpSpPr>
          <p:cNvPr id="42" name="Group 61"/>
          <p:cNvGrpSpPr/>
          <p:nvPr/>
        </p:nvGrpSpPr>
        <p:grpSpPr>
          <a:xfrm>
            <a:off x="9290160" y="2933640"/>
            <a:ext cx="3695760" cy="5252040"/>
            <a:chOff x="9290160" y="2933640"/>
            <a:chExt cx="3695760" cy="5252040"/>
          </a:xfrm>
        </p:grpSpPr>
        <p:sp>
          <p:nvSpPr>
            <p:cNvPr id="43" name="TextBox 40"/>
            <p:cNvSpPr/>
            <p:nvPr/>
          </p:nvSpPr>
          <p:spPr>
            <a:xfrm>
              <a:off x="9290160" y="3703320"/>
              <a:ext cx="36957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3600" b="0" u="none" strike="noStrike">
                  <a:solidFill>
                    <a:srgbClr val="219BC3"/>
                  </a:solidFill>
                  <a:effectLst/>
                  <a:uFillTx/>
                  <a:latin typeface="Arial"/>
                  <a:ea typeface="Arial"/>
                </a:rPr>
                <a:t>DenseNet201</a:t>
              </a:r>
              <a:endParaRPr lang="en-US" sz="36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44" name="Freeform 355"/>
            <p:cNvSpPr/>
            <p:nvPr/>
          </p:nvSpPr>
          <p:spPr>
            <a:xfrm>
              <a:off x="9290160" y="2933640"/>
              <a:ext cx="614880" cy="628200"/>
            </a:xfrm>
            <a:custGeom>
              <a:avLst/>
              <a:gdLst>
                <a:gd name="GluePoint1X" fmla="*/ 2147483646 w 176"/>
                <a:gd name="GluePoint1Y" fmla="*/ 2147483646 h 176"/>
                <a:gd name="GluePoint2X" fmla="*/ 2147483646 w 176"/>
                <a:gd name="GluePoint2Y" fmla="*/ 2147483646 h 176"/>
                <a:gd name="GluePoint3X" fmla="*/ 2147483646 w 176"/>
                <a:gd name="GluePoint3Y" fmla="*/ 2147483646 h 176"/>
                <a:gd name="GluePoint4X" fmla="*/ 2147483646 w 176"/>
                <a:gd name="GluePoint4Y" fmla="*/ 2147483646 h 176"/>
                <a:gd name="GluePoint5X" fmla="*/ 2147483646 w 176"/>
                <a:gd name="GluePoint5Y" fmla="*/ 2147483646 h 176"/>
                <a:gd name="GluePoint6X" fmla="*/ 2147483646 w 176"/>
                <a:gd name="GluePoint6Y" fmla="*/ 2147483646 h 176"/>
                <a:gd name="GluePoint7X" fmla="*/ 2147483646 w 176"/>
                <a:gd name="GluePoint7Y" fmla="*/ 2147483646 h 176"/>
                <a:gd name="GluePoint8X" fmla="*/ 2147483646 w 176"/>
                <a:gd name="GluePoint8Y" fmla="*/ 2147483646 h 176"/>
                <a:gd name="GluePoint9X" fmla="*/ 2147483646 w 176"/>
                <a:gd name="GluePoint9Y" fmla="*/ 0 h 176"/>
                <a:gd name="GluePoint10X" fmla="*/ 2147483646 w 176"/>
                <a:gd name="GluePoint10Y" fmla="*/ 2147483646 h 176"/>
                <a:gd name="GluePoint11X" fmla="*/ 2147483646 w 176"/>
                <a:gd name="GluePoint11Y" fmla="*/ 2147483646 h 176"/>
                <a:gd name="GluePoint12X" fmla="*/ 2147483646 w 176"/>
                <a:gd name="GluePoint12Y" fmla="*/ 2147483646 h 176"/>
                <a:gd name="GluePoint13X" fmla="*/ 2147483646 w 176"/>
                <a:gd name="GluePoint13Y" fmla="*/ 2147483646 h 176"/>
                <a:gd name="GluePoint14X" fmla="*/ 2147483646 w 176"/>
                <a:gd name="GluePoint14Y" fmla="*/ 2147483646 h 176"/>
                <a:gd name="GluePoint15X" fmla="*/ 2147483646 w 176"/>
                <a:gd name="GluePoint15Y" fmla="*/ 2147483646 h 176"/>
                <a:gd name="GluePoint16X" fmla="*/ 2147483646 w 176"/>
                <a:gd name="GluePoint16Y" fmla="*/ 2147483646 h 176"/>
                <a:gd name="GluePoint17X" fmla="*/ 2147483646 w 176"/>
                <a:gd name="GluePoint17Y" fmla="*/ 2147483646 h 176"/>
                <a:gd name="GluePoint18X" fmla="*/ 2147483646 w 176"/>
                <a:gd name="GluePoint18Y" fmla="*/ 2147483646 h 176"/>
                <a:gd name="GluePoint19X" fmla="*/ 2147483646 w 176"/>
                <a:gd name="GluePoint19Y" fmla="*/ 2147483646 h 176"/>
                <a:gd name="GluePoint20X" fmla="*/ 2147483646 w 176"/>
                <a:gd name="GluePoint20Y" fmla="*/ 2147483646 h 176"/>
                <a:gd name="GluePoint21X" fmla="*/ 2147483646 w 176"/>
                <a:gd name="GluePoint21Y" fmla="*/ 2147483646 h 176"/>
                <a:gd name="GluePoint22X" fmla="*/ 2147483646 w 176"/>
                <a:gd name="GluePoint22Y" fmla="*/ 2147483646 h 176"/>
                <a:gd name="GluePoint23X" fmla="*/ 2147483646 w 176"/>
                <a:gd name="GluePoint23Y" fmla="*/ 2147483646 h 176"/>
                <a:gd name="GluePoint24X" fmla="*/ 2147483646 w 176"/>
                <a:gd name="GluePoint24Y" fmla="*/ 2147483646 h 176"/>
                <a:gd name="GluePoint25X" fmla="*/ 2147483646 w 176"/>
                <a:gd name="GluePoint25Y" fmla="*/ 2147483646 h 176"/>
                <a:gd name="GluePoint26X" fmla="*/ 2147483646 w 176"/>
                <a:gd name="GluePoint26Y" fmla="*/ 2147483646 h 176"/>
                <a:gd name="GluePoint27X" fmla="*/ 2147483646 w 176"/>
                <a:gd name="GluePoint27Y" fmla="*/ 2147483646 h 176"/>
                <a:gd name="GluePoint28X" fmla="*/ 2147483646 w 176"/>
                <a:gd name="GluePoint28Y" fmla="*/ 2147483646 h 176"/>
                <a:gd name="GluePoint29X" fmla="*/ 2147483646 w 176"/>
                <a:gd name="GluePoint29Y" fmla="*/ 2147483646 h 176"/>
                <a:gd name="GluePoint30X" fmla="*/ 2147483646 w 176"/>
                <a:gd name="GluePoint30Y" fmla="*/ 2147483646 h 176"/>
                <a:gd name="GluePoint31X" fmla="*/ 2147483646 w 176"/>
                <a:gd name="GluePoint31Y" fmla="*/ 2147483646 h 176"/>
                <a:gd name="GluePoint32X" fmla="*/ 2147483646 w 176"/>
                <a:gd name="GluePoint32Y" fmla="*/ 2147483646 h 176"/>
                <a:gd name="GluePoint33X" fmla="*/ 2147483646 w 176"/>
                <a:gd name="GluePoint33Y" fmla="*/ 2147483646 h 1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l" t="t" r="r" b="b"/>
              <a:pathLst>
                <a:path w="176" h="176">
                  <a:moveTo>
                    <a:pt x="43" y="48"/>
                  </a:moveTo>
                  <a:cubicBezTo>
                    <a:pt x="44" y="50"/>
                    <a:pt x="47" y="50"/>
                    <a:pt x="48" y="48"/>
                  </a:cubicBezTo>
                  <a:cubicBezTo>
                    <a:pt x="50" y="47"/>
                    <a:pt x="50" y="44"/>
                    <a:pt x="48" y="43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27" y="24"/>
                    <a:pt x="26" y="26"/>
                  </a:cubicBezTo>
                  <a:cubicBezTo>
                    <a:pt x="24" y="27"/>
                    <a:pt x="24" y="30"/>
                    <a:pt x="26" y="31"/>
                  </a:cubicBezTo>
                  <a:lnTo>
                    <a:pt x="43" y="48"/>
                  </a:lnTo>
                  <a:close/>
                  <a:moveTo>
                    <a:pt x="32" y="88"/>
                  </a:moveTo>
                  <a:cubicBezTo>
                    <a:pt x="32" y="86"/>
                    <a:pt x="30" y="84"/>
                    <a:pt x="28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0" y="86"/>
                    <a:pt x="0" y="88"/>
                  </a:cubicBezTo>
                  <a:cubicBezTo>
                    <a:pt x="0" y="90"/>
                    <a:pt x="2" y="92"/>
                    <a:pt x="4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30" y="92"/>
                    <a:pt x="32" y="90"/>
                    <a:pt x="32" y="88"/>
                  </a:cubicBezTo>
                  <a:moveTo>
                    <a:pt x="88" y="32"/>
                  </a:moveTo>
                  <a:cubicBezTo>
                    <a:pt x="90" y="32"/>
                    <a:pt x="92" y="30"/>
                    <a:pt x="92" y="2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6" y="0"/>
                    <a:pt x="84" y="2"/>
                    <a:pt x="84" y="4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4" y="30"/>
                    <a:pt x="86" y="32"/>
                    <a:pt x="88" y="32"/>
                  </a:cubicBezTo>
                  <a:moveTo>
                    <a:pt x="133" y="48"/>
                  </a:moveTo>
                  <a:cubicBezTo>
                    <a:pt x="150" y="31"/>
                    <a:pt x="150" y="31"/>
                    <a:pt x="150" y="31"/>
                  </a:cubicBezTo>
                  <a:cubicBezTo>
                    <a:pt x="152" y="30"/>
                    <a:pt x="152" y="27"/>
                    <a:pt x="150" y="26"/>
                  </a:cubicBezTo>
                  <a:cubicBezTo>
                    <a:pt x="149" y="24"/>
                    <a:pt x="146" y="24"/>
                    <a:pt x="145" y="26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6" y="44"/>
                    <a:pt x="126" y="47"/>
                    <a:pt x="128" y="48"/>
                  </a:cubicBezTo>
                  <a:cubicBezTo>
                    <a:pt x="129" y="50"/>
                    <a:pt x="132" y="50"/>
                    <a:pt x="133" y="48"/>
                  </a:cubicBezTo>
                  <a:moveTo>
                    <a:pt x="43" y="128"/>
                  </a:moveTo>
                  <a:cubicBezTo>
                    <a:pt x="26" y="145"/>
                    <a:pt x="26" y="145"/>
                    <a:pt x="26" y="145"/>
                  </a:cubicBezTo>
                  <a:cubicBezTo>
                    <a:pt x="24" y="146"/>
                    <a:pt x="24" y="149"/>
                    <a:pt x="26" y="150"/>
                  </a:cubicBezTo>
                  <a:cubicBezTo>
                    <a:pt x="27" y="152"/>
                    <a:pt x="30" y="152"/>
                    <a:pt x="31" y="150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50" y="132"/>
                    <a:pt x="50" y="129"/>
                    <a:pt x="48" y="128"/>
                  </a:cubicBezTo>
                  <a:cubicBezTo>
                    <a:pt x="47" y="126"/>
                    <a:pt x="44" y="126"/>
                    <a:pt x="43" y="128"/>
                  </a:cubicBezTo>
                  <a:moveTo>
                    <a:pt x="172" y="84"/>
                  </a:moveTo>
                  <a:cubicBezTo>
                    <a:pt x="148" y="84"/>
                    <a:pt x="148" y="84"/>
                    <a:pt x="148" y="84"/>
                  </a:cubicBezTo>
                  <a:cubicBezTo>
                    <a:pt x="146" y="84"/>
                    <a:pt x="144" y="86"/>
                    <a:pt x="144" y="88"/>
                  </a:cubicBezTo>
                  <a:cubicBezTo>
                    <a:pt x="144" y="90"/>
                    <a:pt x="146" y="92"/>
                    <a:pt x="148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74" y="92"/>
                    <a:pt x="176" y="90"/>
                    <a:pt x="176" y="88"/>
                  </a:cubicBezTo>
                  <a:cubicBezTo>
                    <a:pt x="176" y="86"/>
                    <a:pt x="174" y="84"/>
                    <a:pt x="172" y="84"/>
                  </a:cubicBezTo>
                  <a:moveTo>
                    <a:pt x="133" y="128"/>
                  </a:moveTo>
                  <a:cubicBezTo>
                    <a:pt x="132" y="126"/>
                    <a:pt x="129" y="126"/>
                    <a:pt x="128" y="128"/>
                  </a:cubicBezTo>
                  <a:cubicBezTo>
                    <a:pt x="126" y="129"/>
                    <a:pt x="126" y="132"/>
                    <a:pt x="128" y="133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6" y="152"/>
                    <a:pt x="149" y="152"/>
                    <a:pt x="150" y="150"/>
                  </a:cubicBezTo>
                  <a:cubicBezTo>
                    <a:pt x="152" y="149"/>
                    <a:pt x="152" y="146"/>
                    <a:pt x="150" y="145"/>
                  </a:cubicBezTo>
                  <a:lnTo>
                    <a:pt x="133" y="128"/>
                  </a:lnTo>
                  <a:close/>
                  <a:moveTo>
                    <a:pt x="88" y="40"/>
                  </a:moveTo>
                  <a:cubicBezTo>
                    <a:pt x="61" y="40"/>
                    <a:pt x="40" y="61"/>
                    <a:pt x="40" y="88"/>
                  </a:cubicBezTo>
                  <a:cubicBezTo>
                    <a:pt x="40" y="115"/>
                    <a:pt x="61" y="136"/>
                    <a:pt x="88" y="136"/>
                  </a:cubicBezTo>
                  <a:cubicBezTo>
                    <a:pt x="115" y="136"/>
                    <a:pt x="136" y="115"/>
                    <a:pt x="136" y="88"/>
                  </a:cubicBezTo>
                  <a:cubicBezTo>
                    <a:pt x="136" y="61"/>
                    <a:pt x="115" y="40"/>
                    <a:pt x="88" y="40"/>
                  </a:cubicBezTo>
                  <a:moveTo>
                    <a:pt x="88" y="128"/>
                  </a:moveTo>
                  <a:cubicBezTo>
                    <a:pt x="66" y="128"/>
                    <a:pt x="48" y="110"/>
                    <a:pt x="48" y="88"/>
                  </a:cubicBezTo>
                  <a:cubicBezTo>
                    <a:pt x="48" y="66"/>
                    <a:pt x="66" y="48"/>
                    <a:pt x="88" y="48"/>
                  </a:cubicBezTo>
                  <a:cubicBezTo>
                    <a:pt x="110" y="48"/>
                    <a:pt x="128" y="66"/>
                    <a:pt x="128" y="88"/>
                  </a:cubicBezTo>
                  <a:cubicBezTo>
                    <a:pt x="128" y="110"/>
                    <a:pt x="110" y="128"/>
                    <a:pt x="88" y="128"/>
                  </a:cubicBezTo>
                  <a:moveTo>
                    <a:pt x="88" y="144"/>
                  </a:moveTo>
                  <a:cubicBezTo>
                    <a:pt x="86" y="144"/>
                    <a:pt x="84" y="146"/>
                    <a:pt x="84" y="148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4"/>
                    <a:pt x="86" y="176"/>
                    <a:pt x="88" y="176"/>
                  </a:cubicBezTo>
                  <a:cubicBezTo>
                    <a:pt x="90" y="176"/>
                    <a:pt x="92" y="174"/>
                    <a:pt x="92" y="172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6"/>
                    <a:pt x="90" y="144"/>
                    <a:pt x="88" y="144"/>
                  </a:cubicBezTo>
                </a:path>
              </a:pathLst>
            </a:custGeom>
            <a:solidFill>
              <a:srgbClr val="219B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45" name="TextBox 54"/>
            <p:cNvSpPr/>
            <p:nvPr/>
          </p:nvSpPr>
          <p:spPr>
            <a:xfrm>
              <a:off x="9290160" y="4737600"/>
              <a:ext cx="3585240" cy="344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Transfer Learning sobre backbone preentrenado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Arquitectura de doble cabeza: triaje + diagnóstico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Aprendizaje profundo de jerarquías visuales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  <a:p>
              <a:pPr marL="341280" indent="-341280">
                <a:lnSpc>
                  <a:spcPct val="100000"/>
                </a:lnSpc>
                <a:buClr>
                  <a:srgbClr val="219BC3"/>
                </a:buClr>
                <a:buFont typeface="Wingdings" charset="2"/>
                <a:buChar char=""/>
                <a:tabLst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r>
                <a:rPr lang="es-ES_tradnl" sz="2000" b="0" u="none" strike="noStrike">
                  <a:solidFill>
                    <a:srgbClr val="858591"/>
                  </a:solidFill>
                  <a:effectLst/>
                  <a:uFillTx/>
                  <a:latin typeface="Arial"/>
                  <a:ea typeface="Arial"/>
                </a:rPr>
                <a:t>Data augmentation: flips y rotaciones</a:t>
              </a:r>
              <a:endParaRPr lang="en-US" sz="20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sp>
        <p:nvSpPr>
          <p:cNvPr id="46" name="TextBox 43"/>
          <p:cNvSpPr/>
          <p:nvPr/>
        </p:nvSpPr>
        <p:spPr>
          <a:xfrm>
            <a:off x="13277880" y="3706920"/>
            <a:ext cx="36399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Evaluación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7" name="Freeform 371"/>
          <p:cNvSpPr/>
          <p:nvPr/>
        </p:nvSpPr>
        <p:spPr>
          <a:xfrm>
            <a:off x="13277880" y="2933640"/>
            <a:ext cx="628560" cy="628560"/>
          </a:xfrm>
          <a:custGeom>
            <a:avLst/>
            <a:gdLst>
              <a:gd name="GluePoint1X" fmla="*/ 342900 w 176"/>
              <a:gd name="GluePoint1Y" fmla="*/ 442913 h 176"/>
              <a:gd name="GluePoint2X" fmla="*/ 328613 w 176"/>
              <a:gd name="GluePoint2Y" fmla="*/ 428625 h 176"/>
              <a:gd name="GluePoint3X" fmla="*/ 317897 w 176"/>
              <a:gd name="GluePoint3Y" fmla="*/ 432197 h 176"/>
              <a:gd name="GluePoint4X" fmla="*/ 232172 w 176"/>
              <a:gd name="GluePoint4Y" fmla="*/ 517922 h 176"/>
              <a:gd name="GluePoint5X" fmla="*/ 228600 w 176"/>
              <a:gd name="GluePoint5Y" fmla="*/ 528638 h 176"/>
              <a:gd name="GluePoint6X" fmla="*/ 242888 w 176"/>
              <a:gd name="GluePoint6Y" fmla="*/ 542925 h 176"/>
              <a:gd name="GluePoint7X" fmla="*/ 292894 w 176"/>
              <a:gd name="GluePoint7Y" fmla="*/ 542925 h 176"/>
              <a:gd name="GluePoint8X" fmla="*/ 232172 w 176"/>
              <a:gd name="GluePoint8Y" fmla="*/ 603647 h 176"/>
              <a:gd name="GluePoint9X" fmla="*/ 228600 w 176"/>
              <a:gd name="GluePoint9Y" fmla="*/ 614363 h 176"/>
              <a:gd name="GluePoint10X" fmla="*/ 242888 w 176"/>
              <a:gd name="GluePoint10Y" fmla="*/ 628650 h 176"/>
              <a:gd name="GluePoint11X" fmla="*/ 253603 w 176"/>
              <a:gd name="GluePoint11Y" fmla="*/ 625078 h 176"/>
              <a:gd name="GluePoint12X" fmla="*/ 339328 w 176"/>
              <a:gd name="GluePoint12Y" fmla="*/ 539353 h 176"/>
              <a:gd name="GluePoint13X" fmla="*/ 342900 w 176"/>
              <a:gd name="GluePoint13Y" fmla="*/ 528638 h 176"/>
              <a:gd name="GluePoint14X" fmla="*/ 328613 w 176"/>
              <a:gd name="GluePoint14Y" fmla="*/ 514350 h 176"/>
              <a:gd name="GluePoint15X" fmla="*/ 328613 w 176"/>
              <a:gd name="GluePoint15Y" fmla="*/ 514350 h 176"/>
              <a:gd name="GluePoint16X" fmla="*/ 278606 w 176"/>
              <a:gd name="GluePoint16Y" fmla="*/ 514350 h 176"/>
              <a:gd name="GluePoint17X" fmla="*/ 339328 w 176"/>
              <a:gd name="GluePoint17Y" fmla="*/ 453628 h 176"/>
              <a:gd name="GluePoint18X" fmla="*/ 342900 w 176"/>
              <a:gd name="GluePoint18Y" fmla="*/ 442913 h 176"/>
              <a:gd name="GluePoint19X" fmla="*/ 185738 w 176"/>
              <a:gd name="GluePoint19Y" fmla="*/ 457200 h 176"/>
              <a:gd name="GluePoint20X" fmla="*/ 175022 w 176"/>
              <a:gd name="GluePoint20Y" fmla="*/ 460772 h 176"/>
              <a:gd name="GluePoint21X" fmla="*/ 89297 w 176"/>
              <a:gd name="GluePoint21Y" fmla="*/ 546497 h 176"/>
              <a:gd name="GluePoint22X" fmla="*/ 85725 w 176"/>
              <a:gd name="GluePoint22Y" fmla="*/ 557213 h 176"/>
              <a:gd name="GluePoint23X" fmla="*/ 100013 w 176"/>
              <a:gd name="GluePoint23Y" fmla="*/ 571500 h 176"/>
              <a:gd name="GluePoint24X" fmla="*/ 110728 w 176"/>
              <a:gd name="GluePoint24Y" fmla="*/ 567928 h 176"/>
              <a:gd name="GluePoint25X" fmla="*/ 196453 w 176"/>
              <a:gd name="GluePoint25Y" fmla="*/ 482203 h 176"/>
              <a:gd name="GluePoint26X" fmla="*/ 200025 w 176"/>
              <a:gd name="GluePoint26Y" fmla="*/ 471488 h 176"/>
              <a:gd name="GluePoint27X" fmla="*/ 185738 w 176"/>
              <a:gd name="GluePoint27Y" fmla="*/ 457200 h 176"/>
              <a:gd name="GluePoint28X" fmla="*/ 542925 w 176"/>
              <a:gd name="GluePoint28Y" fmla="*/ 146447 h 176"/>
              <a:gd name="GluePoint29X" fmla="*/ 542925 w 176"/>
              <a:gd name="GluePoint29Y" fmla="*/ 142875 h 176"/>
              <a:gd name="GluePoint30X" fmla="*/ 457200 w 176"/>
              <a:gd name="GluePoint30Y" fmla="*/ 57150 h 176"/>
              <a:gd name="GluePoint31X" fmla="*/ 400050 w 176"/>
              <a:gd name="GluePoint31Y" fmla="*/ 78581 h 176"/>
              <a:gd name="GluePoint32X" fmla="*/ 257175 w 176"/>
              <a:gd name="GluePoint32Y" fmla="*/ 0 h 176"/>
              <a:gd name="GluePoint33X" fmla="*/ 89297 w 176"/>
              <a:gd name="GluePoint33Y" fmla="*/ 146447 h 176"/>
              <a:gd name="GluePoint34X" fmla="*/ 0 w 176"/>
              <a:gd name="GluePoint34Y" fmla="*/ 257175 h 176"/>
              <a:gd name="GluePoint35X" fmla="*/ 114300 w 176"/>
              <a:gd name="GluePoint35Y" fmla="*/ 371475 h 176"/>
              <a:gd name="GluePoint36X" fmla="*/ 514350 w 176"/>
              <a:gd name="GluePoint36Y" fmla="*/ 371475 h 176"/>
              <a:gd name="GluePoint37X" fmla="*/ 628650 w 176"/>
              <a:gd name="GluePoint37Y" fmla="*/ 257175 h 176"/>
              <a:gd name="GluePoint38X" fmla="*/ 542925 w 176"/>
              <a:gd name="GluePoint38Y" fmla="*/ 146447 h 176"/>
              <a:gd name="GluePoint39X" fmla="*/ 514350 w 176"/>
              <a:gd name="GluePoint39Y" fmla="*/ 342900 h 176"/>
              <a:gd name="GluePoint40X" fmla="*/ 114300 w 176"/>
              <a:gd name="GluePoint40Y" fmla="*/ 342900 h 176"/>
              <a:gd name="GluePoint41X" fmla="*/ 28575 w 176"/>
              <a:gd name="GluePoint41Y" fmla="*/ 257175 h 176"/>
              <a:gd name="GluePoint42X" fmla="*/ 92869 w 176"/>
              <a:gd name="GluePoint42Y" fmla="*/ 175022 h 176"/>
              <a:gd name="GluePoint43X" fmla="*/ 114300 w 176"/>
              <a:gd name="GluePoint43Y" fmla="*/ 150019 h 176"/>
              <a:gd name="GluePoint44X" fmla="*/ 257175 w 176"/>
              <a:gd name="GluePoint44Y" fmla="*/ 28575 h 176"/>
              <a:gd name="GluePoint45X" fmla="*/ 364331 w 176"/>
              <a:gd name="GluePoint45Y" fmla="*/ 78581 h 176"/>
              <a:gd name="GluePoint46X" fmla="*/ 396478 w 176"/>
              <a:gd name="GluePoint46Y" fmla="*/ 107156 h 176"/>
              <a:gd name="GluePoint47X" fmla="*/ 400050 w 176"/>
              <a:gd name="GluePoint47Y" fmla="*/ 107156 h 176"/>
              <a:gd name="GluePoint48X" fmla="*/ 417909 w 176"/>
              <a:gd name="GluePoint48Y" fmla="*/ 100013 h 176"/>
              <a:gd name="GluePoint49X" fmla="*/ 457200 w 176"/>
              <a:gd name="GluePoint49Y" fmla="*/ 85725 h 176"/>
              <a:gd name="GluePoint50X" fmla="*/ 514350 w 176"/>
              <a:gd name="GluePoint50Y" fmla="*/ 142875 h 176"/>
              <a:gd name="GluePoint51X" fmla="*/ 514350 w 176"/>
              <a:gd name="GluePoint51Y" fmla="*/ 146447 h 176"/>
              <a:gd name="GluePoint52X" fmla="*/ 535781 w 176"/>
              <a:gd name="GluePoint52Y" fmla="*/ 175022 h 176"/>
              <a:gd name="GluePoint53X" fmla="*/ 600075 w 176"/>
              <a:gd name="GluePoint53Y" fmla="*/ 257175 h 176"/>
              <a:gd name="GluePoint54X" fmla="*/ 514350 w 176"/>
              <a:gd name="GluePoint54Y" fmla="*/ 342900 h 176"/>
              <a:gd name="GluePoint55X" fmla="*/ 485775 w 176"/>
              <a:gd name="GluePoint55Y" fmla="*/ 457200 h 176"/>
              <a:gd name="GluePoint56X" fmla="*/ 475059 w 176"/>
              <a:gd name="GluePoint56Y" fmla="*/ 460772 h 176"/>
              <a:gd name="GluePoint57X" fmla="*/ 389334 w 176"/>
              <a:gd name="GluePoint57Y" fmla="*/ 546497 h 176"/>
              <a:gd name="GluePoint58X" fmla="*/ 385763 w 176"/>
              <a:gd name="GluePoint58Y" fmla="*/ 557213 h 176"/>
              <a:gd name="GluePoint59X" fmla="*/ 400050 w 176"/>
              <a:gd name="GluePoint59Y" fmla="*/ 571500 h 176"/>
              <a:gd name="GluePoint60X" fmla="*/ 410766 w 176"/>
              <a:gd name="GluePoint60Y" fmla="*/ 567928 h 176"/>
              <a:gd name="GluePoint61X" fmla="*/ 496491 w 176"/>
              <a:gd name="GluePoint61Y" fmla="*/ 482203 h 176"/>
              <a:gd name="GluePoint62X" fmla="*/ 500063 w 176"/>
              <a:gd name="GluePoint62Y" fmla="*/ 471488 h 176"/>
              <a:gd name="GluePoint63X" fmla="*/ 485775 w 176"/>
              <a:gd name="GluePoint63Y" fmla="*/ 457200 h 1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</a:cxnLst>
            <a:rect l="l" t="t" r="r" b="b"/>
            <a:pathLst>
              <a:path w="176" h="176">
                <a:moveTo>
                  <a:pt x="96" y="124"/>
                </a:moveTo>
                <a:cubicBezTo>
                  <a:pt x="96" y="122"/>
                  <a:pt x="94" y="120"/>
                  <a:pt x="92" y="120"/>
                </a:cubicBezTo>
                <a:cubicBezTo>
                  <a:pt x="91" y="120"/>
                  <a:pt x="90" y="120"/>
                  <a:pt x="89" y="121"/>
                </a:cubicBezTo>
                <a:cubicBezTo>
                  <a:pt x="65" y="145"/>
                  <a:pt x="65" y="145"/>
                  <a:pt x="65" y="145"/>
                </a:cubicBezTo>
                <a:cubicBezTo>
                  <a:pt x="64" y="146"/>
                  <a:pt x="64" y="147"/>
                  <a:pt x="64" y="148"/>
                </a:cubicBezTo>
                <a:cubicBezTo>
                  <a:pt x="64" y="150"/>
                  <a:pt x="66" y="152"/>
                  <a:pt x="68" y="152"/>
                </a:cubicBezTo>
                <a:cubicBezTo>
                  <a:pt x="82" y="152"/>
                  <a:pt x="82" y="152"/>
                  <a:pt x="82" y="152"/>
                </a:cubicBezTo>
                <a:cubicBezTo>
                  <a:pt x="65" y="169"/>
                  <a:pt x="65" y="169"/>
                  <a:pt x="65" y="169"/>
                </a:cubicBezTo>
                <a:cubicBezTo>
                  <a:pt x="64" y="170"/>
                  <a:pt x="64" y="171"/>
                  <a:pt x="64" y="172"/>
                </a:cubicBezTo>
                <a:cubicBezTo>
                  <a:pt x="64" y="174"/>
                  <a:pt x="66" y="176"/>
                  <a:pt x="68" y="176"/>
                </a:cubicBezTo>
                <a:cubicBezTo>
                  <a:pt x="69" y="176"/>
                  <a:pt x="70" y="176"/>
                  <a:pt x="71" y="175"/>
                </a:cubicBezTo>
                <a:cubicBezTo>
                  <a:pt x="95" y="151"/>
                  <a:pt x="95" y="151"/>
                  <a:pt x="95" y="151"/>
                </a:cubicBezTo>
                <a:cubicBezTo>
                  <a:pt x="96" y="150"/>
                  <a:pt x="96" y="149"/>
                  <a:pt x="96" y="148"/>
                </a:cubicBezTo>
                <a:cubicBezTo>
                  <a:pt x="96" y="146"/>
                  <a:pt x="94" y="144"/>
                  <a:pt x="92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6" y="126"/>
                  <a:pt x="96" y="125"/>
                  <a:pt x="96" y="124"/>
                </a:cubicBezTo>
                <a:moveTo>
                  <a:pt x="52" y="128"/>
                </a:moveTo>
                <a:cubicBezTo>
                  <a:pt x="51" y="128"/>
                  <a:pt x="50" y="128"/>
                  <a:pt x="49" y="129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4" y="154"/>
                  <a:pt x="24" y="155"/>
                  <a:pt x="24" y="156"/>
                </a:cubicBezTo>
                <a:cubicBezTo>
                  <a:pt x="24" y="158"/>
                  <a:pt x="26" y="160"/>
                  <a:pt x="28" y="160"/>
                </a:cubicBezTo>
                <a:cubicBezTo>
                  <a:pt x="29" y="160"/>
                  <a:pt x="30" y="160"/>
                  <a:pt x="31" y="15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56" y="134"/>
                  <a:pt x="56" y="133"/>
                  <a:pt x="56" y="132"/>
                </a:cubicBezTo>
                <a:cubicBezTo>
                  <a:pt x="56" y="130"/>
                  <a:pt x="54" y="128"/>
                  <a:pt x="52" y="128"/>
                </a:cubicBezTo>
                <a:moveTo>
                  <a:pt x="152" y="41"/>
                </a:moveTo>
                <a:cubicBezTo>
                  <a:pt x="152" y="41"/>
                  <a:pt x="152" y="40"/>
                  <a:pt x="152" y="40"/>
                </a:cubicBezTo>
                <a:cubicBezTo>
                  <a:pt x="152" y="27"/>
                  <a:pt x="141" y="16"/>
                  <a:pt x="128" y="16"/>
                </a:cubicBezTo>
                <a:cubicBezTo>
                  <a:pt x="122" y="16"/>
                  <a:pt x="116" y="18"/>
                  <a:pt x="112" y="22"/>
                </a:cubicBezTo>
                <a:cubicBezTo>
                  <a:pt x="104" y="9"/>
                  <a:pt x="89" y="0"/>
                  <a:pt x="72" y="0"/>
                </a:cubicBezTo>
                <a:cubicBezTo>
                  <a:pt x="48" y="0"/>
                  <a:pt x="28" y="18"/>
                  <a:pt x="25" y="41"/>
                </a:cubicBezTo>
                <a:cubicBezTo>
                  <a:pt x="10" y="44"/>
                  <a:pt x="0" y="57"/>
                  <a:pt x="0" y="72"/>
                </a:cubicBezTo>
                <a:cubicBezTo>
                  <a:pt x="0" y="90"/>
                  <a:pt x="14" y="104"/>
                  <a:pt x="32" y="104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62" y="104"/>
                  <a:pt x="176" y="90"/>
                  <a:pt x="176" y="72"/>
                </a:cubicBezTo>
                <a:cubicBezTo>
                  <a:pt x="176" y="57"/>
                  <a:pt x="166" y="45"/>
                  <a:pt x="152" y="41"/>
                </a:cubicBezTo>
                <a:moveTo>
                  <a:pt x="144" y="96"/>
                </a:moveTo>
                <a:cubicBezTo>
                  <a:pt x="32" y="96"/>
                  <a:pt x="32" y="96"/>
                  <a:pt x="32" y="96"/>
                </a:cubicBezTo>
                <a:cubicBezTo>
                  <a:pt x="19" y="96"/>
                  <a:pt x="8" y="85"/>
                  <a:pt x="8" y="72"/>
                </a:cubicBezTo>
                <a:cubicBezTo>
                  <a:pt x="8" y="61"/>
                  <a:pt x="16" y="51"/>
                  <a:pt x="26" y="49"/>
                </a:cubicBezTo>
                <a:cubicBezTo>
                  <a:pt x="30" y="48"/>
                  <a:pt x="32" y="45"/>
                  <a:pt x="32" y="42"/>
                </a:cubicBezTo>
                <a:cubicBezTo>
                  <a:pt x="35" y="23"/>
                  <a:pt x="52" y="8"/>
                  <a:pt x="72" y="8"/>
                </a:cubicBezTo>
                <a:cubicBezTo>
                  <a:pt x="86" y="8"/>
                  <a:pt x="94" y="11"/>
                  <a:pt x="102" y="22"/>
                </a:cubicBezTo>
                <a:cubicBezTo>
                  <a:pt x="103" y="24"/>
                  <a:pt x="109" y="30"/>
                  <a:pt x="111" y="30"/>
                </a:cubicBezTo>
                <a:cubicBezTo>
                  <a:pt x="111" y="30"/>
                  <a:pt x="112" y="30"/>
                  <a:pt x="112" y="30"/>
                </a:cubicBezTo>
                <a:cubicBezTo>
                  <a:pt x="114" y="30"/>
                  <a:pt x="116" y="29"/>
                  <a:pt x="117" y="28"/>
                </a:cubicBezTo>
                <a:cubicBezTo>
                  <a:pt x="120" y="25"/>
                  <a:pt x="124" y="24"/>
                  <a:pt x="128" y="24"/>
                </a:cubicBezTo>
                <a:cubicBezTo>
                  <a:pt x="137" y="24"/>
                  <a:pt x="144" y="31"/>
                  <a:pt x="144" y="40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44"/>
                  <a:pt x="146" y="48"/>
                  <a:pt x="150" y="49"/>
                </a:cubicBezTo>
                <a:cubicBezTo>
                  <a:pt x="161" y="52"/>
                  <a:pt x="168" y="61"/>
                  <a:pt x="168" y="72"/>
                </a:cubicBezTo>
                <a:cubicBezTo>
                  <a:pt x="168" y="85"/>
                  <a:pt x="157" y="96"/>
                  <a:pt x="144" y="96"/>
                </a:cubicBezTo>
                <a:moveTo>
                  <a:pt x="136" y="128"/>
                </a:moveTo>
                <a:cubicBezTo>
                  <a:pt x="135" y="128"/>
                  <a:pt x="134" y="128"/>
                  <a:pt x="133" y="129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8" y="154"/>
                  <a:pt x="108" y="155"/>
                  <a:pt x="108" y="156"/>
                </a:cubicBezTo>
                <a:cubicBezTo>
                  <a:pt x="108" y="158"/>
                  <a:pt x="110" y="160"/>
                  <a:pt x="112" y="160"/>
                </a:cubicBezTo>
                <a:cubicBezTo>
                  <a:pt x="113" y="160"/>
                  <a:pt x="114" y="160"/>
                  <a:pt x="115" y="159"/>
                </a:cubicBezTo>
                <a:cubicBezTo>
                  <a:pt x="139" y="135"/>
                  <a:pt x="139" y="135"/>
                  <a:pt x="139" y="135"/>
                </a:cubicBezTo>
                <a:cubicBezTo>
                  <a:pt x="140" y="134"/>
                  <a:pt x="140" y="133"/>
                  <a:pt x="140" y="132"/>
                </a:cubicBezTo>
                <a:cubicBezTo>
                  <a:pt x="140" y="130"/>
                  <a:pt x="138" y="128"/>
                  <a:pt x="136" y="128"/>
                </a:cubicBezTo>
              </a:path>
            </a:pathLst>
          </a:cu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8" name="TextBox 55"/>
          <p:cNvSpPr/>
          <p:nvPr/>
        </p:nvSpPr>
        <p:spPr>
          <a:xfrm>
            <a:off x="13277880" y="4721400"/>
            <a:ext cx="3584520" cy="344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Métricas clínicas: Sensibilidad, F1-Score, AUC-ROC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Comparación SVM vs. DenseNet201 en ambos escenarios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Contraste con trabajos relacionados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 marL="341280" indent="-341280">
              <a:lnSpc>
                <a:spcPct val="100000"/>
              </a:lnSpc>
              <a:buClr>
                <a:srgbClr val="0C0B0B"/>
              </a:buClr>
              <a:buFont typeface="Courier New"/>
              <a:buChar char="o"/>
              <a:tabLst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0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Cumplimiento de los 5 objetivos específicos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9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0</a:t>
            </a:r>
            <a:fld id="{DAFEEF9C-C1B4-4CAB-A13B-26A505C1E036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9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traight Connector 26"/>
          <p:cNvSpPr/>
          <p:nvPr/>
        </p:nvSpPr>
        <p:spPr>
          <a:xfrm flipH="1">
            <a:off x="1422360" y="5143680"/>
            <a:ext cx="15194160" cy="0"/>
          </a:xfrm>
          <a:prstGeom prst="line">
            <a:avLst/>
          </a:prstGeom>
          <a:ln w="25560">
            <a:solidFill>
              <a:srgbClr val="C0C0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Metodología · 08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CRISP-DM adaptado a imágenes médicas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77" name="Oval 12"/>
          <p:cNvSpPr/>
          <p:nvPr/>
        </p:nvSpPr>
        <p:spPr>
          <a:xfrm rot="10800000">
            <a:off x="337932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698480" y="5580000"/>
            <a:ext cx="38293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Comprensión de datos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9" name="TextBox 22"/>
          <p:cNvSpPr/>
          <p:nvPr/>
        </p:nvSpPr>
        <p:spPr>
          <a:xfrm>
            <a:off x="2805120" y="4002120"/>
            <a:ext cx="147312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0" name="TextBox 23"/>
          <p:cNvSpPr/>
          <p:nvPr/>
        </p:nvSpPr>
        <p:spPr>
          <a:xfrm>
            <a:off x="2297160" y="6319800"/>
            <a:ext cx="262404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Ingesta y análisis estadístico del dataset: tensores de imágenes y metadatos clínicos.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pSp>
        <p:nvGrpSpPr>
          <p:cNvPr id="81" name="Agrupar 6"/>
          <p:cNvGrpSpPr/>
          <p:nvPr/>
        </p:nvGrpSpPr>
        <p:grpSpPr>
          <a:xfrm>
            <a:off x="16174800" y="4427280"/>
            <a:ext cx="1431720" cy="1431720"/>
            <a:chOff x="16174800" y="4427280"/>
            <a:chExt cx="1431720" cy="1431720"/>
          </a:xfrm>
        </p:grpSpPr>
        <p:sp>
          <p:nvSpPr>
            <p:cNvPr id="82" name="Oval 3"/>
            <p:cNvSpPr/>
            <p:nvPr/>
          </p:nvSpPr>
          <p:spPr>
            <a:xfrm rot="10800000">
              <a:off x="16174800" y="4427280"/>
              <a:ext cx="1431720" cy="1431720"/>
            </a:xfrm>
            <a:prstGeom prst="ellipse">
              <a:avLst/>
            </a:prstGeom>
            <a:solidFill>
              <a:srgbClr val="219B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83" name="Freeform 427"/>
            <p:cNvSpPr/>
            <p:nvPr/>
          </p:nvSpPr>
          <p:spPr>
            <a:xfrm>
              <a:off x="16633080" y="4734720"/>
              <a:ext cx="515520" cy="817560"/>
            </a:xfrm>
            <a:custGeom>
              <a:avLst/>
              <a:gdLst>
                <a:gd name="GluePoint1X" fmla="*/ 2147483646 w 112"/>
                <a:gd name="GluePoint1Y" fmla="*/ 0 h 176"/>
                <a:gd name="GluePoint2X" fmla="*/ 2147483646 w 112"/>
                <a:gd name="GluePoint2Y" fmla="*/ 0 h 176"/>
                <a:gd name="GluePoint3X" fmla="*/ 0 w 112"/>
                <a:gd name="GluePoint3Y" fmla="*/ 2147483646 h 176"/>
                <a:gd name="GluePoint4X" fmla="*/ 0 w 112"/>
                <a:gd name="GluePoint4Y" fmla="*/ 2147483646 h 176"/>
                <a:gd name="GluePoint5X" fmla="*/ 2147483646 w 112"/>
                <a:gd name="GluePoint5Y" fmla="*/ 2147483646 h 176"/>
                <a:gd name="GluePoint6X" fmla="*/ 2147483646 w 112"/>
                <a:gd name="GluePoint6Y" fmla="*/ 2147483646 h 176"/>
                <a:gd name="GluePoint7X" fmla="*/ 2147483646 w 112"/>
                <a:gd name="GluePoint7Y" fmla="*/ 2147483646 h 176"/>
                <a:gd name="GluePoint8X" fmla="*/ 2147483646 w 112"/>
                <a:gd name="GluePoint8Y" fmla="*/ 2147483646 h 176"/>
                <a:gd name="GluePoint9X" fmla="*/ 2147483646 w 112"/>
                <a:gd name="GluePoint9Y" fmla="*/ 2147483646 h 176"/>
                <a:gd name="GluePoint10X" fmla="*/ 2147483646 w 112"/>
                <a:gd name="GluePoint10Y" fmla="*/ 2147483646 h 176"/>
                <a:gd name="GluePoint11X" fmla="*/ 2147483646 w 112"/>
                <a:gd name="GluePoint11Y" fmla="*/ 2147483646 h 176"/>
                <a:gd name="GluePoint12X" fmla="*/ 2147483646 w 112"/>
                <a:gd name="GluePoint12Y" fmla="*/ 2147483646 h 176"/>
                <a:gd name="GluePoint13X" fmla="*/ 2147483646 w 112"/>
                <a:gd name="GluePoint13Y" fmla="*/ 2147483646 h 176"/>
                <a:gd name="GluePoint14X" fmla="*/ 2147483646 w 112"/>
                <a:gd name="GluePoint14Y" fmla="*/ 2147483646 h 176"/>
                <a:gd name="GluePoint15X" fmla="*/ 2147483646 w 112"/>
                <a:gd name="GluePoint15Y" fmla="*/ 2147483646 h 176"/>
                <a:gd name="GluePoint16X" fmla="*/ 2147483646 w 112"/>
                <a:gd name="GluePoint16Y" fmla="*/ 2147483646 h 176"/>
                <a:gd name="GluePoint17X" fmla="*/ 2147483646 w 112"/>
                <a:gd name="GluePoint17Y" fmla="*/ 0 h 176"/>
                <a:gd name="GluePoint18X" fmla="*/ 2147483646 w 112"/>
                <a:gd name="GluePoint18Y" fmla="*/ 2147483646 h 176"/>
                <a:gd name="GluePoint19X" fmla="*/ 2147483646 w 112"/>
                <a:gd name="GluePoint19Y" fmla="*/ 2147483646 h 176"/>
                <a:gd name="GluePoint20X" fmla="*/ 2147483646 w 112"/>
                <a:gd name="GluePoint20Y" fmla="*/ 2147483646 h 176"/>
                <a:gd name="GluePoint21X" fmla="*/ 2147483646 w 112"/>
                <a:gd name="GluePoint21Y" fmla="*/ 2147483646 h 176"/>
                <a:gd name="GluePoint22X" fmla="*/ 2147483646 w 112"/>
                <a:gd name="GluePoint22Y" fmla="*/ 2147483646 h 176"/>
                <a:gd name="GluePoint23X" fmla="*/ 2147483646 w 112"/>
                <a:gd name="GluePoint23Y" fmla="*/ 2147483646 h 176"/>
                <a:gd name="GluePoint24X" fmla="*/ 2147483646 w 112"/>
                <a:gd name="GluePoint24Y" fmla="*/ 2147483646 h 176"/>
                <a:gd name="GluePoint25X" fmla="*/ 2147483646 w 112"/>
                <a:gd name="GluePoint25Y" fmla="*/ 2147483646 h 176"/>
                <a:gd name="GluePoint26X" fmla="*/ 2147483646 w 112"/>
                <a:gd name="GluePoint26Y" fmla="*/ 2147483646 h 176"/>
                <a:gd name="GluePoint27X" fmla="*/ 2147483646 w 112"/>
                <a:gd name="GluePoint27Y" fmla="*/ 2147483646 h 176"/>
                <a:gd name="GluePoint28X" fmla="*/ 2147483646 w 112"/>
                <a:gd name="GluePoint28Y" fmla="*/ 2147483646 h 176"/>
                <a:gd name="GluePoint29X" fmla="*/ 2147483646 w 112"/>
                <a:gd name="GluePoint29Y" fmla="*/ 2147483646 h 176"/>
                <a:gd name="GluePoint30X" fmla="*/ 2147483646 w 112"/>
                <a:gd name="GluePoint30Y" fmla="*/ 2147483646 h 176"/>
                <a:gd name="GluePoint31X" fmla="*/ 2147483646 w 112"/>
                <a:gd name="GluePoint31Y" fmla="*/ 2147483646 h 176"/>
                <a:gd name="GluePoint32X" fmla="*/ 2147483646 w 112"/>
                <a:gd name="GluePoint32Y" fmla="*/ 2147483646 h 176"/>
                <a:gd name="GluePoint33X" fmla="*/ 2147483646 w 112"/>
                <a:gd name="GluePoint33Y" fmla="*/ 2147483646 h 1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l" t="t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1080" tIns="45360" rIns="91080" bIns="4536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grpSp>
        <p:nvGrpSpPr>
          <p:cNvPr id="84" name="Group 5"/>
          <p:cNvGrpSpPr/>
          <p:nvPr/>
        </p:nvGrpSpPr>
        <p:grpSpPr>
          <a:xfrm>
            <a:off x="609480" y="4427640"/>
            <a:ext cx="1433520" cy="1431720"/>
            <a:chOff x="609480" y="4427640"/>
            <a:chExt cx="1433520" cy="1431720"/>
          </a:xfrm>
        </p:grpSpPr>
        <p:sp>
          <p:nvSpPr>
            <p:cNvPr id="85" name="Oval 3"/>
            <p:cNvSpPr/>
            <p:nvPr/>
          </p:nvSpPr>
          <p:spPr>
            <a:xfrm>
              <a:off x="609480" y="4427640"/>
              <a:ext cx="1433520" cy="1431720"/>
            </a:xfrm>
            <a:prstGeom prst="ellipse">
              <a:avLst/>
            </a:prstGeom>
            <a:solidFill>
              <a:srgbClr val="219B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1370160" algn="l"/>
                  <a:tab pos="2739960" algn="l"/>
                  <a:tab pos="4110120" algn="l"/>
                  <a:tab pos="5479920" algn="l"/>
                  <a:tab pos="6850080" algn="l"/>
                  <a:tab pos="8220240" algn="l"/>
                  <a:tab pos="9590040" algn="l"/>
                  <a:tab pos="10960200" algn="l"/>
                </a:tabLst>
              </a:pPr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86" name="Freeform 450"/>
            <p:cNvSpPr/>
            <p:nvPr/>
          </p:nvSpPr>
          <p:spPr>
            <a:xfrm>
              <a:off x="1024200" y="4842000"/>
              <a:ext cx="604080" cy="603000"/>
            </a:xfrm>
            <a:custGeom>
              <a:avLst/>
              <a:gdLst>
                <a:gd name="GluePoint1X" fmla="*/ 2147483646 w 176"/>
                <a:gd name="GluePoint1Y" fmla="*/ 2147483646 h 176"/>
                <a:gd name="GluePoint2X" fmla="*/ 2147483646 w 176"/>
                <a:gd name="GluePoint2Y" fmla="*/ 2147483646 h 176"/>
                <a:gd name="GluePoint3X" fmla="*/ 2147483646 w 176"/>
                <a:gd name="GluePoint3Y" fmla="*/ 2147483646 h 176"/>
                <a:gd name="GluePoint4X" fmla="*/ 2147483646 w 176"/>
                <a:gd name="GluePoint4Y" fmla="*/ 2147483646 h 176"/>
                <a:gd name="GluePoint5X" fmla="*/ 2147483646 w 176"/>
                <a:gd name="GluePoint5Y" fmla="*/ 2147483646 h 176"/>
                <a:gd name="GluePoint6X" fmla="*/ 2147483646 w 176"/>
                <a:gd name="GluePoint6Y" fmla="*/ 2147483646 h 176"/>
                <a:gd name="GluePoint7X" fmla="*/ 2147483646 w 176"/>
                <a:gd name="GluePoint7Y" fmla="*/ 2147483646 h 176"/>
                <a:gd name="GluePoint8X" fmla="*/ 2147483646 w 176"/>
                <a:gd name="GluePoint8Y" fmla="*/ 2147483646 h 176"/>
                <a:gd name="GluePoint9X" fmla="*/ 2147483646 w 176"/>
                <a:gd name="GluePoint9Y" fmla="*/ 2147483646 h 176"/>
                <a:gd name="GluePoint10X" fmla="*/ 2147483646 w 176"/>
                <a:gd name="GluePoint10Y" fmla="*/ 2147483646 h 176"/>
                <a:gd name="GluePoint11X" fmla="*/ 2147483646 w 176"/>
                <a:gd name="GluePoint11Y" fmla="*/ 2147483646 h 176"/>
                <a:gd name="GluePoint12X" fmla="*/ 2147483646 w 176"/>
                <a:gd name="GluePoint12Y" fmla="*/ 2147483646 h 176"/>
                <a:gd name="GluePoint13X" fmla="*/ 2147483646 w 176"/>
                <a:gd name="GluePoint13Y" fmla="*/ 2147483646 h 176"/>
                <a:gd name="GluePoint14X" fmla="*/ 2147483646 w 176"/>
                <a:gd name="GluePoint14Y" fmla="*/ 2147483646 h 176"/>
                <a:gd name="GluePoint15X" fmla="*/ 2147483646 w 176"/>
                <a:gd name="GluePoint15Y" fmla="*/ 2147483646 h 176"/>
                <a:gd name="GluePoint16X" fmla="*/ 2147483646 w 176"/>
                <a:gd name="GluePoint16Y" fmla="*/ 2147483646 h 176"/>
                <a:gd name="GluePoint17X" fmla="*/ 2147483646 w 176"/>
                <a:gd name="GluePoint17Y" fmla="*/ 2147483646 h 176"/>
                <a:gd name="GluePoint18X" fmla="*/ 2147483646 w 176"/>
                <a:gd name="GluePoint18Y" fmla="*/ 2147483646 h 176"/>
                <a:gd name="GluePoint19X" fmla="*/ 2147483646 w 176"/>
                <a:gd name="GluePoint19Y" fmla="*/ 2147483646 h 176"/>
                <a:gd name="GluePoint20X" fmla="*/ 2147483646 w 176"/>
                <a:gd name="GluePoint20Y" fmla="*/ 2147483646 h 176"/>
                <a:gd name="GluePoint21X" fmla="*/ 2147483646 w 176"/>
                <a:gd name="GluePoint21Y" fmla="*/ 2147483646 h 176"/>
                <a:gd name="GluePoint22X" fmla="*/ 2147483646 w 176"/>
                <a:gd name="GluePoint22Y" fmla="*/ 2147483646 h 176"/>
                <a:gd name="GluePoint23X" fmla="*/ 2147483646 w 176"/>
                <a:gd name="GluePoint23Y" fmla="*/ 2147483646 h 176"/>
                <a:gd name="GluePoint24X" fmla="*/ 0 w 176"/>
                <a:gd name="GluePoint24Y" fmla="*/ 2147483646 h 176"/>
                <a:gd name="GluePoint25X" fmla="*/ 2147483646 w 176"/>
                <a:gd name="GluePoint25Y" fmla="*/ 2147483646 h 176"/>
                <a:gd name="GluePoint26X" fmla="*/ 2147483646 w 176"/>
                <a:gd name="GluePoint26Y" fmla="*/ 2147483646 h 176"/>
                <a:gd name="GluePoint27X" fmla="*/ 2147483646 w 176"/>
                <a:gd name="GluePoint27Y" fmla="*/ 2147483646 h 176"/>
                <a:gd name="GluePoint28X" fmla="*/ 2147483646 w 176"/>
                <a:gd name="GluePoint28Y" fmla="*/ 2147483646 h 176"/>
                <a:gd name="GluePoint29X" fmla="*/ 2147483646 w 176"/>
                <a:gd name="GluePoint29Y" fmla="*/ 2147483646 h 176"/>
                <a:gd name="GluePoint30X" fmla="*/ 2147483646 w 176"/>
                <a:gd name="GluePoint30Y" fmla="*/ 2147483646 h 176"/>
                <a:gd name="GluePoint31X" fmla="*/ 2147483646 w 176"/>
                <a:gd name="GluePoint31Y" fmla="*/ 2147483646 h 176"/>
                <a:gd name="GluePoint32X" fmla="*/ 2147483646 w 176"/>
                <a:gd name="GluePoint32Y" fmla="*/ 2147483646 h 176"/>
                <a:gd name="GluePoint33X" fmla="*/ 2147483646 w 176"/>
                <a:gd name="GluePoint33Y" fmla="*/ 2147483646 h 176"/>
                <a:gd name="GluePoint34X" fmla="*/ 2147483646 w 176"/>
                <a:gd name="GluePoint34Y" fmla="*/ 2147483646 h 176"/>
                <a:gd name="GluePoint35X" fmla="*/ 2147483646 w 176"/>
                <a:gd name="GluePoint35Y" fmla="*/ 2147483646 h 176"/>
                <a:gd name="GluePoint36X" fmla="*/ 2147483646 w 176"/>
                <a:gd name="GluePoint36Y" fmla="*/ 2147483646 h 176"/>
                <a:gd name="GluePoint37X" fmla="*/ 2147483646 w 176"/>
                <a:gd name="GluePoint37Y" fmla="*/ 2147483646 h 176"/>
                <a:gd name="GluePoint38X" fmla="*/ 2147483646 w 176"/>
                <a:gd name="GluePoint38Y" fmla="*/ 2147483646 h 176"/>
                <a:gd name="GluePoint39X" fmla="*/ 2147483646 w 176"/>
                <a:gd name="GluePoint39Y" fmla="*/ 2147483646 h 176"/>
                <a:gd name="GluePoint40X" fmla="*/ 2147483646 w 176"/>
                <a:gd name="GluePoint40Y" fmla="*/ 2147483646 h 1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l" t="t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rgbClr val="F2F2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sp>
        <p:nvSpPr>
          <p:cNvPr id="87" name="Oval 12"/>
          <p:cNvSpPr/>
          <p:nvPr/>
        </p:nvSpPr>
        <p:spPr>
          <a:xfrm rot="10800000">
            <a:off x="614808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4467240" y="5580000"/>
            <a:ext cx="38289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Preparación y limpieza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5575320" y="4002120"/>
            <a:ext cx="14716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5067360" y="6319800"/>
            <a:ext cx="262404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Redimensionado, normalización de píxeles y balanceo de clases (sobre y submuestreo).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1" name="Oval 12"/>
          <p:cNvSpPr/>
          <p:nvPr/>
        </p:nvSpPr>
        <p:spPr>
          <a:xfrm rot="10800000">
            <a:off x="895320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7272360" y="5580000"/>
            <a:ext cx="38289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Modelado comparativo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8380440" y="4002120"/>
            <a:ext cx="14716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7872480" y="6319800"/>
            <a:ext cx="262260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Línea base con Machine Learning clásico (SVM), seguida de Deep Learning (DenseNet201).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5" name="Oval 12"/>
          <p:cNvSpPr/>
          <p:nvPr/>
        </p:nvSpPr>
        <p:spPr>
          <a:xfrm rot="10800000">
            <a:off x="11882520" y="4963680"/>
            <a:ext cx="3585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10199520" y="5580000"/>
            <a:ext cx="38293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Evaluación y validación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11307600" y="4002120"/>
            <a:ext cx="14734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10799640" y="6319800"/>
            <a:ext cx="262440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Conjuntos de prueba independientes para medir generalización y evitar overfitting.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9" name="Oval 12"/>
          <p:cNvSpPr/>
          <p:nvPr/>
        </p:nvSpPr>
        <p:spPr>
          <a:xfrm rot="10800000">
            <a:off x="14561640" y="4963680"/>
            <a:ext cx="360360" cy="358920"/>
          </a:xfrm>
          <a:prstGeom prst="ellipse">
            <a:avLst/>
          </a:prstGeom>
          <a:solidFill>
            <a:srgbClr val="0056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0" name="TextBox 21"/>
          <p:cNvSpPr/>
          <p:nvPr/>
        </p:nvSpPr>
        <p:spPr>
          <a:xfrm>
            <a:off x="12880800" y="5580000"/>
            <a:ext cx="38293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300" b="1" u="none" strike="noStrike">
                <a:solidFill>
                  <a:srgbClr val="219BC3"/>
                </a:solidFill>
                <a:effectLst/>
                <a:uFillTx/>
                <a:latin typeface="Arial"/>
                <a:ea typeface="Arial"/>
              </a:rPr>
              <a:t>Visualización y conclusiones</a:t>
            </a:r>
            <a:endParaRPr lang="en-US" sz="3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1" name="TextBox 22"/>
          <p:cNvSpPr/>
          <p:nvPr/>
        </p:nvSpPr>
        <p:spPr>
          <a:xfrm>
            <a:off x="13988880" y="4002120"/>
            <a:ext cx="147348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4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32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2" name="TextBox 23"/>
          <p:cNvSpPr/>
          <p:nvPr/>
        </p:nvSpPr>
        <p:spPr>
          <a:xfrm>
            <a:off x="13480920" y="6319800"/>
            <a:ext cx="2624400" cy="161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100" b="0" u="none" strike="noStrike">
                <a:solidFill>
                  <a:srgbClr val="858591"/>
                </a:solidFill>
                <a:effectLst/>
                <a:uFillTx/>
                <a:latin typeface="Arial"/>
                <a:ea typeface="Arial"/>
              </a:rPr>
              <a:t>Resultados, gráficos comparativos y conclusiones de la investigación.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4164D5DF-8C97-4BC7-8BE1-73D2D0A92C65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10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125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125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Marco normativo · 09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Marco legal y ético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LOPDP (Ecuador, 2021)  </a:t>
            </a:r>
            <a:r>
              <a:rPr sz="1400" b="0">
                <a:solidFill>
                  <a:srgbClr val="858591"/>
                </a:solidFill>
                <a:latin typeface="Arial"/>
              </a:rPr>
              <a:t>Los datos de salud son categoría sensible (Art. 25); HAM10000 está anonimizado y se distribuye bajo licencia académica abierta.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ARCSA / MSP  </a:t>
            </a:r>
            <a:r>
              <a:rPr sz="1400" b="0">
                <a:solidFill>
                  <a:srgbClr val="858591"/>
                </a:solidFill>
                <a:latin typeface="Arial"/>
              </a:rPr>
              <a:t>Todo sistema de diagnóstico clínico recae bajo su supervisión; este TFM se plantea como Prueba de Concepto (PoC) académica, no como CDSS certificado.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Ética y sesgos demográficos  </a:t>
            </a:r>
            <a:r>
              <a:rPr sz="1400" b="0">
                <a:solidFill>
                  <a:srgbClr val="858591"/>
                </a:solidFill>
                <a:latin typeface="Arial"/>
              </a:rPr>
              <a:t>Punto de partida para evaluar la representatividad del dataset frente a la diversidad fenotípica ecuatoriana (ver Limitaciones).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Datos de salud, máxima protección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LOPDP, ARCSA y gobernanza de la IA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11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Datos · 10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El desbalance de clases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66,9% de las imágenes son nevus benignos (nv)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el resto de las 7 clases no supera individualmente el 12%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12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2286000" y="4302000"/>
          <a:ext cx="13716000" cy="405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Datos · 11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Variables demográficas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Edad  </a:t>
            </a:r>
            <a:r>
              <a:rPr sz="1400" b="0">
                <a:solidFill>
                  <a:srgbClr val="858591"/>
                </a:solidFill>
                <a:latin typeface="Arial"/>
              </a:rPr>
              <a:t>Media 51,85 años (DE 16,93; mediana 50); diferencia significativa entre diagnósticos (Kruskal-Wallis H=2295,31; p&lt;0,0001).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Sexo  </a:t>
            </a:r>
            <a:r>
              <a:rPr sz="1400" b="0">
                <a:solidFill>
                  <a:srgbClr val="858591"/>
                </a:solidFill>
                <a:latin typeface="Arial"/>
              </a:rPr>
              <a:t>54,0% masculino frente a 45,4% femenino; ligera sobrerrepresentación masculina en el dataset.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Localización anatómica  </a:t>
            </a:r>
            <a:r>
              <a:rPr sz="1400" b="0">
                <a:solidFill>
                  <a:srgbClr val="858591"/>
                </a:solidFill>
                <a:latin typeface="Arial"/>
              </a:rPr>
              <a:t>Espalda (21,9%), extremidad inferior (20,7%) y tronco (14,0%) concentran el 56,6% de las lesiones; localizaciones acrales infrarrepresentadas.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La edad y la localización correlacionan con la malignidad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hallazgos del análisis exploratorio de metadatos clínicos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13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Datos · 12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Dos escenarios de datos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Escenario 1 — Multiclase original  </a:t>
            </a:r>
            <a:r>
              <a:rPr sz="1400" b="0">
                <a:solidFill>
                  <a:srgbClr val="858591"/>
                </a:solidFill>
                <a:latin typeface="Arial"/>
              </a:rPr>
              <a:t>7 clases con el desbalance real (≈ 4,1:1 benigno:maligno); SMOTE aplicado solo dentro de la validación cruzada.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Escenario 2 — Binario balanceado  </a:t>
            </a:r>
            <a:r>
              <a:rPr sz="1400" b="0">
                <a:solidFill>
                  <a:srgbClr val="858591"/>
                </a:solidFill>
                <a:latin typeface="Arial"/>
              </a:rPr>
              <a:t>Benigno vs. Maligno; submuestreo estratificado por lesión (1.954 vs. 1.954 imágenes).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Por qué dos escenarios  </a:t>
            </a:r>
            <a:r>
              <a:rPr sz="1400" b="0">
                <a:solidFill>
                  <a:srgbClr val="858591"/>
                </a:solidFill>
                <a:latin typeface="Arial"/>
              </a:rPr>
              <a:t>Permite aislar el efecto del balanceo del dataset del efecto propio del algoritmo de clasificación.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Partición estratificada por lesion_id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evita fuga de información entre imágenes de una misma lesión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14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Modelado · 13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SVM: pipeline tradicional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Preprocesamiento  </a:t>
            </a:r>
            <a:r>
              <a:rPr sz="1400" b="0">
                <a:solidFill>
                  <a:srgbClr val="858591"/>
                </a:solidFill>
                <a:latin typeface="Arial"/>
              </a:rPr>
              <a:t>Imágenes 64×64 RGB aplanadas a vectores; estandarización y PCA (12.288 → 84 componentes, -99,3%).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Clasificador  </a:t>
            </a:r>
            <a:r>
              <a:rPr sz="1400" b="0">
                <a:solidFill>
                  <a:srgbClr val="858591"/>
                </a:solidFill>
                <a:latin typeface="Arial"/>
              </a:rPr>
              <a:t>SVC con kernel RBF (C=1.0, gamma=scale, class_weight=balanced) y probability=True para AUC calibrado.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Balanceo por escenario  </a:t>
            </a:r>
            <a:r>
              <a:rPr sz="1400" b="0">
                <a:solidFill>
                  <a:srgbClr val="858591"/>
                </a:solidFill>
                <a:latin typeface="Arial"/>
              </a:rPr>
              <a:t>Escenario 1: SMOTE sobre el entrenamiento. Escenario 2: sin SMOTE, dataset balanceado por submuestreo agrupado por lesión.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 12.288 píxeles a 84 componentes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extracción paramétrica + PCA (95% de varianza retenida)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15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14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Detalle SVM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Clase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Soporte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Precision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Recall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F1-Score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nv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1.341 (67,0%)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0,890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0,763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0,822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mel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223 (11,1%)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0,338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0,475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0,395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bkl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220 (11,0%)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0,449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0,545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0,493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103 (5,1%)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0,452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0,553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0,498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akiec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65 (3,3%)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0,417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0,662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0,512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vasc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28 (1,4%)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0,435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0,357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0,392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df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23 (1,1%)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0,286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0,261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0,273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16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15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SVM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Métrica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1 (multiclase)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2 (binario)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Δ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Lectura clínica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Accuracy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68,15%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79,85%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+11,7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Exactitud global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F1 Macro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48,34%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79,30%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+30,96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Mejora en clases minoritarias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AUC-ROC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87,76%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86,43%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-1,3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Discriminación estable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Sensibilidad Malignidad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64,5%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+28,4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Muchos menos falsos negativos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Balanced Accuracy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51,67%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79,39%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+27,7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Rendimiento más equilibrado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MCC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0,456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0,614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+0,158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Mayor fiabilidad global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Balancear el dataset dispara la sensibilidad a la malignidad (64,5% → 92,9%) sin sacrificar el AUC-ROC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17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Modelado · 16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DenseNet201: arquitectura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Backbone DenseNet201  </a:t>
            </a:r>
            <a:r>
              <a:rPr sz="1400" b="0">
                <a:solidFill>
                  <a:srgbClr val="858591"/>
                </a:solidFill>
                <a:latin typeface="Arial"/>
              </a:rPr>
              <a:t>Preentrenado en ImageNet; los Dense Blocks maximizan el flujo de gradientes y reutilizan características entre capas.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Cabeza A — Triaje binario  </a:t>
            </a:r>
            <a:r>
              <a:rPr sz="1400" b="0">
                <a:solidFill>
                  <a:srgbClr val="858591"/>
                </a:solidFill>
                <a:latin typeface="Arial"/>
              </a:rPr>
              <a:t>Clasificación benigno/maligno; prioriza la Sensibilidad clínica.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Cabeza B — Diagnóstico específico  </a:t>
            </a:r>
            <a:r>
              <a:rPr sz="1400" b="0">
                <a:solidFill>
                  <a:srgbClr val="858591"/>
                </a:solidFill>
                <a:latin typeface="Arial"/>
              </a:rPr>
              <a:t>Clasificación de las 7 clases diagnósticas; pérdida conjunta ponderada 50/50 con la Cabeza 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Un backbone, dos tareas simultáneas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18,1 millones de parámetros entrenables sobre ImageNet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18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Modelado · 17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Entrenamiento del modelo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Optimización  </a:t>
            </a:r>
            <a:r>
              <a:rPr sz="1400" b="0">
                <a:solidFill>
                  <a:srgbClr val="858591"/>
                </a:solidFill>
                <a:latin typeface="Arial"/>
              </a:rPr>
              <a:t>Adam (lr=0,0001), 30 épocas, Weighted Cross-Entropy en la Cabeza B para compensar el desbalance de clases.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Data Augmentation  </a:t>
            </a:r>
            <a:r>
              <a:rPr sz="1400" b="0">
                <a:solidFill>
                  <a:srgbClr val="858591"/>
                </a:solidFill>
                <a:latin typeface="Arial"/>
              </a:rPr>
              <a:t>Flips horizontales/verticales y rotaciones aleatorias de ±15° para mejorar la generalización.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Mejor punto de validación  </a:t>
            </a:r>
            <a:r>
              <a:rPr sz="1400" b="0">
                <a:solidFill>
                  <a:srgbClr val="858591"/>
                </a:solidFill>
                <a:latin typeface="Arial"/>
              </a:rPr>
              <a:t>Época 16 en el Escenario 1 (90,71% de accuracy en Cabeza B); meseta de pérdida estable entre 0,35 y 0,38 desde la época 14.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30 épocas con Adam y aumento de datos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misma configuración en ambos escenarios de balanceo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19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18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DenseNet201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Métrica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1 (original)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Escenario 2 (balanceado)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Δ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Lectura clínica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Accuracy (Cabeza B)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90,36%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86,96%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-3,4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El submuestreo penaliza clases raras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Recall Macro (Cabeza B)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87,78%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78,13%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-9,65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Peor en Dermatofibroma y Vascular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F1 Macro (Cabeza B)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86,79%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79,71%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-7,08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Coherente con el recall macro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Sensibilidad Malignidad (Cabeza A)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81,07%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90,03%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+8,96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Falsos negativos: 74 → 39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Especificidad (Cabeza A)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96,34%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92,84%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-3,5 pts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Más derivaciones innecesarias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AUC-ROC (Cabeza A)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96,46%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96,50%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≈ estable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El balanceo no altera la discriminación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El balanceo desplaza el punto de operación hacia mayor sensibilidad, no la capacidad de discriminación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20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Resultados · 19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Comparativa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Dimensión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SVM (Esc. 2)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DenseNet201 (Esc. 2, Cabeza A)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Ventaja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Lectura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Accuracy global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79,85%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91,43%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Mejor exactitud general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Sensibilidad (Recall Maligno)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90,03%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SVM (+2,87 pts)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Único criterio donde gana SVM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Especificidad (Recall Benigno)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65,9%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92,84%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SVM deriva a 1 de cada 3 sanos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Precisión (Maligno)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74,5%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92,63%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Menos falsas alarmas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AUC-ROC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86,43%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96,50%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Mayor capacidad de discriminación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Cohen's Kappa / MCC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0,593 / 0,614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0,829 / 0,829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Mayor fiabilidad global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Coste computacional — SVM: 1,33 s entrenamiento / 0,25 ms por imagen · DenseNet201: 62,3 min / 13,35 ms por imagen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21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Implementación · 20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Implementación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Repositorio  </a:t>
            </a:r>
            <a:r>
              <a:rPr sz="1400" b="0">
                <a:solidFill>
                  <a:srgbClr val="858591"/>
                </a:solidFill>
                <a:latin typeface="Arial"/>
              </a:rPr>
              <a:t>github.com/marzo27/UNIR_TFM_HAM10000 — notebooks de EDA, preprocesamiento, SVM y DenseNet201.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Trazabilidad de métricas  </a:t>
            </a:r>
            <a:r>
              <a:rPr sz="1400" b="0">
                <a:solidFill>
                  <a:srgbClr val="858591"/>
                </a:solidFill>
                <a:latin typeface="Arial"/>
              </a:rPr>
              <a:t>metricas.xlsx centraliza 7 hojas con los resultados de cada experimento y escenario.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Reproducibilidad  </a:t>
            </a:r>
            <a:r>
              <a:rPr sz="1400" b="0">
                <a:solidFill>
                  <a:srgbClr val="858591"/>
                </a:solidFill>
                <a:latin typeface="Arial"/>
              </a:rPr>
              <a:t>Semillas aleatorias fijadas y partición estratificada por lesion_id documentadas paso a paso.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Código y resultados abiertos y reproducibles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repositorio público con notebooks, modelos y métricas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22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6240" y="571320"/>
            <a:ext cx="544824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Cumplimiento · 21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Objetivos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graphicFrame>
        <p:nvGraphicFramePr>
          <p:cNvPr id="73" name="Tabla 72"/>
          <p:cNvGraphicFramePr/>
          <p:nvPr/>
        </p:nvGraphicFramePr>
        <p:xfrm>
          <a:off x="1828800" y="2247840"/>
          <a:ext cx="14630400" cy="6324840"/>
        </p:xfrm>
        <a:graphic>
          <a:graphicData uri="http://schemas.openxmlformats.org/drawingml/2006/table">
            <a:tbl>
              <a:tblPr/>
              <a:tblGrid>
                <a:gridCol w="292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Objetivo específico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Capítulo(s)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Evidencia clave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Resultado principal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Franklin Gothic Book"/>
                        </a:rPr>
                        <a:t>Estado</a:t>
                      </a: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Realizar EDA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5.2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Análisis de 10.015 imágenes, 7 clases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Desbalance 4,1:1 benigno:maligno confirmado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Cumplido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Preparar y balancear datos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5.3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SMOTE y submuestreo por lesion_id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2 escenarios de datos construidos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Cumplido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Implementar SVM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5.4.2-3, 5.5.2-3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PCA + SVC kernel RBF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Sensibilidad 92,9% (Esc. 2)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Cumplido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Implementar DenseNet201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5.4.4-5, 5.5.4-5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Transfer Learning, doble cabeza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AUC-ROC 96,50% (Esc. 2)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Cumplido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56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Comparar modelos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5.5.6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Contraste de 6 métricas clínicas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DenseNet201 domina salvo en Sensibilidad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000" b="0" u="none" strike="noStrike">
                          <a:solidFill>
                            <a:srgbClr val="0C0B0B"/>
                          </a:solidFill>
                          <a:effectLst/>
                          <a:uFillTx/>
                          <a:latin typeface="Franklin Gothic Book"/>
                        </a:rPr>
                        <a:t>Cumplido</a:t>
                      </a: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60">
                <a:tc rowSpan="2" gridSpan="5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r>
                        <a:rPr lang="en-US" sz="2400" b="1" u="none" strike="noStrike">
                          <a:solidFill>
                            <a:srgbClr val="00566C"/>
                          </a:solidFill>
                          <a:effectLst/>
                          <a:uFillTx/>
                          <a:latin typeface="Franklin Gothic Book"/>
                        </a:rPr>
                        <a:t>Los 5 objetivos específicos planteados en el capítulo 3 quedan acreditados con evidencia empírica en la memoria</a:t>
                      </a: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0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920">
                <a:tc gridSpan="5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4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1370160" algn="l"/>
                          <a:tab pos="2739960" algn="l"/>
                          <a:tab pos="4110120" algn="l"/>
                          <a:tab pos="5479920" algn="l"/>
                          <a:tab pos="6850080" algn="l"/>
                          <a:tab pos="8220240" algn="l"/>
                          <a:tab pos="9590040" algn="l"/>
                          <a:tab pos="10960200" algn="l"/>
                        </a:tabLst>
                      </a:pPr>
                      <a:endParaRPr lang="en-US" sz="2900" b="0" u="none" strike="noStrike">
                        <a:solidFill>
                          <a:srgbClr val="0C0B0B"/>
                        </a:solidFill>
                        <a:effectLst/>
                        <a:uFillTx/>
                        <a:latin typeface="Franklin Gothic Book"/>
                      </a:endParaRPr>
                    </a:p>
                  </a:txBody>
                  <a:tcPr marL="90000" marR="90000" marT="46800" marB="46800" anchor="ctr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858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51F3BA3F-7C43-41D9-9CEE-FD35E4FED71C}" type="slidenum">
              <a:rPr lang="es-ES_tradnl" sz="2700" b="1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23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Conclusiones · 22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Conclusiones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Objetivos cumplidos  </a:t>
            </a:r>
            <a:r>
              <a:rPr sz="1400" b="0">
                <a:solidFill>
                  <a:srgbClr val="858591"/>
                </a:solidFill>
                <a:latin typeface="Arial"/>
              </a:rPr>
              <a:t>Los 5 objetivos específicos —EDA, balanceo, SVM, DenseNet201 y comparación— quedan acreditados en la memoria.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SVM Escenario 2  </a:t>
            </a:r>
            <a:r>
              <a:rPr sz="1400" b="0">
                <a:solidFill>
                  <a:srgbClr val="858591"/>
                </a:solidFill>
                <a:latin typeface="Arial"/>
              </a:rPr>
              <a:t>Sensibilidad más alta (92,9%) a coste computacional casi nulo; ideal con escasa capacidad de cómputo, aunque deriva a muchos pacientes sanos.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DenseNet201 Escenario 2  </a:t>
            </a:r>
            <a:r>
              <a:rPr sz="1400" b="0">
                <a:solidFill>
                  <a:srgbClr val="858591"/>
                </a:solidFill>
                <a:latin typeface="Arial"/>
              </a:rPr>
              <a:t>Sensibilidad casi equivalente (90,03%) con especificidad, precisión, AUC-ROC, Kappa y MCC muy superiores; requiere más infraestructura.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No existe un algoritmo absolutamente superior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la elección depende del recurso más escaso en el despliegue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24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5880" y="571320"/>
            <a:ext cx="725508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4400" b="1" u="none" strike="noStrike">
                <a:solidFill>
                  <a:srgbClr val="219BC3"/>
                </a:solidFill>
                <a:effectLst/>
                <a:uFillTx/>
                <a:latin typeface="Arial"/>
                <a:ea typeface="Roboto Condensed"/>
              </a:rPr>
              <a:t>Limitaciones · 23</a:t>
            </a:r>
            <a:br>
              <a:rPr sz="4400"/>
            </a:br>
            <a:r>
              <a:rPr lang="es-ES_tradnl" sz="4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Roboto Condensed"/>
              </a:rPr>
              <a:t>Limitaciones y futuro</a:t>
            </a:r>
            <a:endParaRPr lang="en-US" sz="4400" b="0" u="none" strike="noStrike">
              <a:solidFill>
                <a:srgbClr val="0C0B0B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2286000" y="4302000"/>
            <a:ext cx="13716000" cy="40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Sesgo fenotípico  </a:t>
            </a:r>
            <a:r>
              <a:rPr sz="1400" b="0">
                <a:solidFill>
                  <a:srgbClr val="858591"/>
                </a:solidFill>
                <a:latin typeface="Arial"/>
              </a:rPr>
              <a:t>HAM10000 procede de poblaciones europeas y australianas (Fitzpatrick I-III); Ecuador presenta predominancia de fototipos III-V.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Sin variables clínicas ni validación local  </a:t>
            </a:r>
            <a:r>
              <a:rPr sz="1400" b="0">
                <a:solidFill>
                  <a:srgbClr val="858591"/>
                </a:solidFill>
                <a:latin typeface="Arial"/>
              </a:rPr>
              <a:t>DenseNet201 solo procesa imágenes; próximo paso: modelado multimodal (imagen + edad, sexo, localización) y validación multicéntrica en Ecuador.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1400" b="1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Próximos pasos técnicos  </a:t>
            </a:r>
            <a:r>
              <a:rPr sz="1400" b="0">
                <a:solidFill>
                  <a:srgbClr val="858591"/>
                </a:solidFill>
                <a:latin typeface="Arial"/>
              </a:rPr>
              <a:t>Muestreo asimétrico por cabeza y arquitecturas alternativas (EfficientNet, Vision Transformers) antes de integrar un CDSS real.</a:t>
            </a:r>
            <a:endParaRPr lang="en-US" sz="20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2286000" y="2370240"/>
            <a:ext cx="15087600" cy="155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3600" b="0" u="none" strike="noStrike">
                <a:solidFill>
                  <a:srgbClr val="00566C"/>
                </a:solidFill>
                <a:effectLst/>
                <a:uFillTx/>
                <a:latin typeface="Arial"/>
                <a:ea typeface="Arial"/>
              </a:rPr>
              <a:t>El dataset no refleja la diversidad fenotípica ecuatoriana </a:t>
            </a:r>
            <a:r>
              <a:rPr lang="es-ES_tradnl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– </a:t>
            </a:r>
            <a:r>
              <a:rPr lang="es-ES" sz="2400" b="0" u="none" strike="noStrike">
                <a:solidFill>
                  <a:srgbClr val="C0C0C8"/>
                </a:solidFill>
                <a:effectLst/>
                <a:uFillTx/>
                <a:latin typeface="Arial"/>
                <a:ea typeface="Arial"/>
              </a:rPr>
              <a:t>principal limitación y punto de partida del trabajo futuro</a:t>
            </a:r>
            <a:endParaRPr lang="en-US" sz="24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3" name="Slide Number Placeholder 2"/>
          <p:cNvSpPr/>
          <p:nvPr/>
        </p:nvSpPr>
        <p:spPr>
          <a:xfrm>
            <a:off x="16916400" y="9072720"/>
            <a:ext cx="1733400" cy="9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pág.</a:t>
            </a:r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  <a:p>
            <a:pPr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fld id="{3DD1E4B3-0B5D-4D7A-B41E-12C4A0FAF678}" type="slidenum">
              <a:rPr lang="es-ES" sz="2700" b="1" u="none" strike="noStrike">
                <a:solidFill>
                  <a:srgbClr val="C0C0C8"/>
                </a:solidFill>
                <a:effectLst/>
                <a:uFillTx/>
                <a:latin typeface="Franklin Gothic Medium"/>
              </a:rPr>
              <a:t>25</a:t>
            </a:fld>
            <a:endParaRPr lang="en-US" sz="27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2"/>
          <p:cNvSpPr/>
          <p:nvPr/>
        </p:nvSpPr>
        <p:spPr>
          <a:xfrm>
            <a:off x="5591160" y="4589640"/>
            <a:ext cx="7105680" cy="109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1370160" algn="l"/>
                <a:tab pos="2739960" algn="l"/>
                <a:tab pos="4110120" algn="l"/>
                <a:tab pos="5479920" algn="l"/>
                <a:tab pos="6850080" algn="l"/>
                <a:tab pos="8220240" algn="l"/>
                <a:tab pos="9590040" algn="l"/>
                <a:tab pos="10960200" algn="l"/>
              </a:tabLst>
            </a:pPr>
            <a:r>
              <a:rPr lang="es-ES_tradnl" sz="6600" b="1" u="none" strike="noStrike">
                <a:solidFill>
                  <a:srgbClr val="219BC3"/>
                </a:solidFill>
                <a:effectLst/>
                <a:uFillTx/>
                <a:latin typeface="Arial"/>
                <a:ea typeface="Lato Semibold"/>
              </a:rPr>
              <a:t>muchas </a:t>
            </a:r>
            <a:r>
              <a:rPr lang="es-ES_tradnl" sz="6600" b="1" u="none" strike="noStrike">
                <a:solidFill>
                  <a:srgbClr val="00566C"/>
                </a:solidFill>
                <a:effectLst/>
                <a:uFillTx/>
                <a:latin typeface="Arial"/>
                <a:ea typeface="Lato Semibold"/>
              </a:rPr>
              <a:t>gracias</a:t>
            </a:r>
            <a:endParaRPr lang="en-US" sz="6600" b="0" u="none" strike="noStrike">
              <a:solidFill>
                <a:srgbClr val="0C0B0B"/>
              </a:solidFill>
              <a:effectLst/>
              <a:uFillTx/>
              <a:latin typeface="Franklin Gothic Book"/>
            </a:endParaRPr>
          </a:p>
        </p:txBody>
      </p:sp>
      <p:grpSp>
        <p:nvGrpSpPr>
          <p:cNvPr id="105" name="Group 3"/>
          <p:cNvGrpSpPr/>
          <p:nvPr/>
        </p:nvGrpSpPr>
        <p:grpSpPr>
          <a:xfrm>
            <a:off x="5510160" y="4457520"/>
            <a:ext cx="685800" cy="685800"/>
            <a:chOff x="5510160" y="4457520"/>
            <a:chExt cx="685800" cy="685800"/>
          </a:xfrm>
        </p:grpSpPr>
        <p:sp>
          <p:nvSpPr>
            <p:cNvPr id="106" name="Straight Connector 5"/>
            <p:cNvSpPr/>
            <p:nvPr/>
          </p:nvSpPr>
          <p:spPr>
            <a:xfrm flipV="1">
              <a:off x="5510160" y="4457520"/>
              <a:ext cx="0" cy="68580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107" name="Straight Connector 6"/>
            <p:cNvSpPr/>
            <p:nvPr/>
          </p:nvSpPr>
          <p:spPr>
            <a:xfrm>
              <a:off x="5510160" y="4457880"/>
              <a:ext cx="685800" cy="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grpSp>
        <p:nvGrpSpPr>
          <p:cNvPr id="108" name="Group 7"/>
          <p:cNvGrpSpPr/>
          <p:nvPr/>
        </p:nvGrpSpPr>
        <p:grpSpPr>
          <a:xfrm>
            <a:off x="12010680" y="5143680"/>
            <a:ext cx="685800" cy="685800"/>
            <a:chOff x="12010680" y="5143680"/>
            <a:chExt cx="685800" cy="685800"/>
          </a:xfrm>
        </p:grpSpPr>
        <p:sp>
          <p:nvSpPr>
            <p:cNvPr id="109" name="Straight Connector 8"/>
            <p:cNvSpPr/>
            <p:nvPr/>
          </p:nvSpPr>
          <p:spPr>
            <a:xfrm>
              <a:off x="12696480" y="5143680"/>
              <a:ext cx="0" cy="68580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  <p:sp>
          <p:nvSpPr>
            <p:cNvPr id="110" name="Straight Connector 9"/>
            <p:cNvSpPr/>
            <p:nvPr/>
          </p:nvSpPr>
          <p:spPr>
            <a:xfrm flipH="1">
              <a:off x="12010680" y="5829120"/>
              <a:ext cx="685800" cy="0"/>
            </a:xfrm>
            <a:prstGeom prst="line">
              <a:avLst/>
            </a:prstGeom>
            <a:ln w="38160" cap="sq">
              <a:solidFill>
                <a:srgbClr val="219BC3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700" b="0" u="none" strike="noStrike">
                <a:solidFill>
                  <a:srgbClr val="0C0B0B"/>
                </a:solidFill>
                <a:effectLst/>
                <a:uFillTx/>
                <a:latin typeface="Franklin Gothic Book"/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2286000" y="6800000"/>
            <a:ext cx="1371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58591"/>
                </a:solidFill>
                <a:latin typeface="Arial"/>
              </a:rPr>
              <a:t>Christian Gutiérrez Gutiérrez  ·  Alvaro Gutiérrez Burbano</a:t>
            </a:r>
          </a:p>
          <a:p>
            <a:pPr algn="ctr"/>
            <a:r>
              <a:rPr sz="1300" b="0">
                <a:solidFill>
                  <a:srgbClr val="C0C0C8"/>
                </a:solidFill>
                <a:latin typeface="Arial"/>
              </a:rPr>
              <a:t>github.com/marzo27/UNIR_TFM_HAM10000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15073</TotalTime>
  <Words>3198</Words>
  <Application>Microsoft Office PowerPoint</Application>
  <PresentationFormat>Personalizado</PresentationFormat>
  <Paragraphs>481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Arial</vt:lpstr>
      <vt:lpstr>Calibri</vt:lpstr>
      <vt:lpstr>Courier New</vt:lpstr>
      <vt:lpstr>Franklin Gothic Book</vt:lpstr>
      <vt:lpstr>Franklin Gothic Medium</vt:lpstr>
      <vt:lpstr>Times New Roman</vt:lpstr>
      <vt:lpstr>Wingdings</vt:lpstr>
      <vt:lpstr>Office</vt:lpstr>
      <vt:lpstr>Presentación de PowerPoint</vt:lpstr>
      <vt:lpstr>Presentación de PowerPoint</vt:lpstr>
      <vt:lpstr>Introducción · 01 Motivación</vt:lpstr>
      <vt:lpstr>Introducción · 02 Planteamiento del trabajo</vt:lpstr>
      <vt:lpstr>Contexto · 03 HAM10000</vt:lpstr>
      <vt:lpstr>Contexto · 04 Trabajos</vt:lpstr>
      <vt:lpstr>Contexto · 05 Estado del arte</vt:lpstr>
      <vt:lpstr>Objetivos · 06 Objetivo general</vt:lpstr>
      <vt:lpstr>Objetivos · 07 Específicos</vt:lpstr>
      <vt:lpstr>Metodología · 08 CRISP-DM adaptado a imágenes médicas</vt:lpstr>
      <vt:lpstr>Marco normativo · 09 Marco legal y ético</vt:lpstr>
      <vt:lpstr>Datos · 10 El desbalance de clases</vt:lpstr>
      <vt:lpstr>Datos · 11 Variables demográficas</vt:lpstr>
      <vt:lpstr>Datos · 12 Dos escenarios de datos</vt:lpstr>
      <vt:lpstr>Modelado · 13 SVM: pipeline tradicional</vt:lpstr>
      <vt:lpstr>Resultados · 14 Detalle SVM</vt:lpstr>
      <vt:lpstr>Resultados · 15 SVM</vt:lpstr>
      <vt:lpstr>Modelado · 16 DenseNet201: arquitectura</vt:lpstr>
      <vt:lpstr>Modelado · 17 Entrenamiento del modelo</vt:lpstr>
      <vt:lpstr>Resultados · 18 DenseNet201</vt:lpstr>
      <vt:lpstr>Resultados · 19 Comparativa</vt:lpstr>
      <vt:lpstr>Implementación · 20 Implementación</vt:lpstr>
      <vt:lpstr>Cumplimiento · 21 Objetivos</vt:lpstr>
      <vt:lpstr>Conclusiones · 22 Conclusiones</vt:lpstr>
      <vt:lpstr>Limitaciones · 23 Limitaciones y futuro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Gutierrez Burbano, Alvaro Marcelo</cp:lastModifiedBy>
  <cp:revision>1292</cp:revision>
  <dcterms:created xsi:type="dcterms:W3CDTF">2015-01-20T06:47:48Z</dcterms:created>
  <dcterms:modified xsi:type="dcterms:W3CDTF">2026-07-17T13:02:53Z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0x010100A3E1C0FC74B3174194FF149F9456036A</vt:lpwstr>
  </property>
</Properties>
</file>