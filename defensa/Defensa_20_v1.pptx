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</p:sldIdLst>
  <p:sldSz cx="18288000" cy="10288588"/>
  <p:notesSz cx="6796088" cy="992505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de imágenes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1-2240-46C4-BD28-8B3026B1CA19}"/>
              </c:ext>
            </c:extLst>
          </c:dPt>
          <c:dPt>
            <c:idx val="1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3-2240-46C4-BD28-8B3026B1CA19}"/>
              </c:ext>
            </c:extLst>
          </c:dPt>
          <c:dPt>
            <c:idx val="2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5-2240-46C4-BD28-8B3026B1CA19}"/>
              </c:ext>
            </c:extLst>
          </c:dPt>
          <c:dPt>
            <c:idx val="3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7-2240-46C4-BD28-8B3026B1CA19}"/>
              </c:ext>
            </c:extLst>
          </c:dPt>
          <c:dPt>
            <c:idx val="4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9-2240-46C4-BD28-8B3026B1CA19}"/>
              </c:ext>
            </c:extLst>
          </c:dPt>
          <c:dPt>
            <c:idx val="5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B-2240-46C4-BD28-8B3026B1CA19}"/>
              </c:ext>
            </c:extLst>
          </c:dPt>
          <c:dPt>
            <c:idx val="6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D-2240-46C4-BD28-8B3026B1CA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566C"/>
                    </a:solidFill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nv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66.900000000000006</c:v>
                </c:pt>
                <c:pt idx="1">
                  <c:v>11.1</c:v>
                </c:pt>
                <c:pt idx="2">
                  <c:v>11</c:v>
                </c:pt>
                <c:pt idx="3">
                  <c:v>5.0999999999999996</c:v>
                </c:pt>
                <c:pt idx="4">
                  <c:v>3.3</c:v>
                </c:pt>
                <c:pt idx="5">
                  <c:v>1.4</c:v>
                </c:pt>
                <c:pt idx="6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240-46C4-BD28-8B3026B1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400" b="1">
                <a:solidFill>
                  <a:srgbClr val="00566C"/>
                </a:solidFill>
              </a:defRPr>
            </a:pPr>
            <a:endParaRPr lang="es-EC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0"/>
            <a:ext cx="6796800" cy="992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hdr"/>
          </p:nvPr>
        </p:nvSpPr>
        <p:spPr>
          <a:xfrm>
            <a:off x="0" y="-36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3849840" y="-36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  <a:def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422280" y="1240920"/>
            <a:ext cx="5952960" cy="33498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n-US" sz="6600" b="0" u="none" strike="noStrike">
                <a:solidFill>
                  <a:srgbClr val="0C0B0B"/>
                </a:solidFill>
                <a:effectLst/>
                <a:uFillTx/>
                <a:latin typeface="Franklin Gothic Medium"/>
              </a:rPr>
              <a:t>Click to move the slide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79320" y="4776480"/>
            <a:ext cx="5438880" cy="3908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2960" algn="l"/>
                <a:tab pos="1825560" algn="l"/>
                <a:tab pos="2738520" algn="l"/>
                <a:tab pos="3651120" algn="l"/>
                <a:tab pos="4564080" algn="l"/>
                <a:tab pos="5477040" algn="l"/>
                <a:tab pos="6389640" algn="l"/>
                <a:tab pos="7302600" algn="l"/>
                <a:tab pos="8215200" algn="l"/>
                <a:tab pos="9128160" algn="l"/>
                <a:tab pos="10040760" algn="l"/>
                <a:tab pos="1095372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42768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3849840" y="942768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  <a:def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EA4532C-A64F-4BCD-ABE1-3A73CF6A1081}" type="slidenum">
              <a: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0,5 min] Bienvenida. Presentarse ambos autores. Agradecer al tribunal y al director Victor D. Diaz Suarez.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 min] Recorrer las 4 grandes secciones de la defensa: introduccion/objetivos, normativa/datos, modelado y resultados/conclusiones. 20 diapositivas, 30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Abrir con la magnitud del problema y la urgencia clinica. El dato de 131 dias conecta con el 'embudo logistico' que motiva el uso de IA como apoyo, no sustituto, del especialista.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Explicar por que Recall/Sensibilidad es el eje de todo el TFM: coste clinico asimetrico del falso negativo. Esto se retomara en cada tabla de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Presentar las 7 clases diagnosticas y remarcar que 3 de ellas son malignas (mel, bcc, akiec) y suman menos del 20% de las imagenes: esto anticipa el problema de desbalance. Dataset: 10.015 imagenes, 7.470 lesiones unicas (ISIC Archive).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Situar el TFM dentro de la literatura: transicion ML clasico -&gt; Deep Learning. Enfatizar que el objetivo es un CDSS de apoyo, no un reemplazo del especialista.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-&gt; Alvaro | 1,5-2 min] Leer el objetivo general y agrupar los 5 objetivos especificos en 3 bloques: datos, modelado y evaluacion. Transicion natural a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[Alvaro/Christian | 1,5 min] Recorrer las 5 fases del CRISP-DM adaptado. Es el hilo conductor del capitulo 5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Marco legal ecuatoriano. Dejar sembrada la idea del sesgo fenotipico que se retomara en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El hallazgo mas determinante del EDA: proporcion benigno:maligno = 4,1:1 (barras en rojo = clases malignas: mel, bcc, akiec). Por eso el accuracy global es una metrica enganosa y se prioriza F1 por clase y recall en malignas.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Introducir el hilo conductor 'Escenario 1 vs Escenario 2' que se repetira en SVM y DenseNet201.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2 min] Explicar el pipeline de 9 pasos de forma resumida: PCA, kernel RBF y el rol de class_weight=balanced.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La fila clave es Sensibilidad Malignidad: +28,4 puntos es el resultado mas citado en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2 min] Destacar la arquitectura multitarea (2 cabezas) como aporte metodologico propio y la funcion de perdida conjunta.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1,5-2 min] Contraste: la Cabeza B (7 clases) empeora con el balanceo, la Cabeza A (binaria) mejora. Es el mismo backbone, dos lecturas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2-2,5 min] Diapositiva bisagra de la defensa. SVM gana solo en sensibilidad (+2,87 pts); DenseNet201 domina en todo lo demas a cambio de mucho mas computo. Cerrar con la pregunta: que recurso escasea mas, computo o especialistas?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2 min] Cerrar el argumento central del TFM: el ganador depende de si el cuello de botella es computo o capacidad de atencion especializada.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Ser autocritico: el sesgo fenotipico es la limitacion mas importante de cara a un despliegue en Ecuador.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Cerrar con vision de futuro y aterrizaje practico hacia Ecuador. Enlaza con el agradecimiento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0,5 min] Agradecer al tribunal y al director. Quedar disponibles para preguntas. Repositorio de codigo en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503280" y="9240840"/>
            <a:ext cx="3317760" cy="743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3"/>
          <p:cNvSpPr/>
          <p:nvPr/>
        </p:nvSpPr>
        <p:spPr>
          <a:xfrm>
            <a:off x="16745040" y="9186840"/>
            <a:ext cx="0" cy="743040"/>
          </a:xfrm>
          <a:prstGeom prst="line">
            <a:avLst/>
          </a:prstGeom>
          <a:ln w="63360">
            <a:solidFill>
              <a:srgbClr val="219BC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4" name="Imagen 2" descr="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515880" y="9255240"/>
            <a:ext cx="3317760" cy="74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Straight Connector 9"/>
          <p:cNvSpPr/>
          <p:nvPr/>
        </p:nvSpPr>
        <p:spPr>
          <a:xfrm>
            <a:off x="704880" y="685800"/>
            <a:ext cx="0" cy="1028880"/>
          </a:xfrm>
          <a:prstGeom prst="line">
            <a:avLst/>
          </a:prstGeom>
          <a:ln w="63360">
            <a:solidFill>
              <a:srgbClr val="219BC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/>
          <p:nvPr/>
        </p:nvSpPr>
        <p:spPr>
          <a:xfrm>
            <a:off x="0" y="0"/>
            <a:ext cx="18288000" cy="9002880"/>
          </a:xfrm>
          <a:prstGeom prst="rect">
            <a:avLst/>
          </a:prstGeom>
          <a:solidFill>
            <a:srgbClr val="219B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4" name="Rectángulo 15"/>
          <p:cNvSpPr/>
          <p:nvPr/>
        </p:nvSpPr>
        <p:spPr>
          <a:xfrm>
            <a:off x="0" y="9040680"/>
            <a:ext cx="18288000" cy="1246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5" name="TextBox 10"/>
          <p:cNvSpPr/>
          <p:nvPr/>
        </p:nvSpPr>
        <p:spPr>
          <a:xfrm>
            <a:off x="2673360" y="2749680"/>
            <a:ext cx="12941280" cy="3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Evaluación comparativa de SVM y DenseNet201</a:t>
            </a:r>
            <a:endParaRPr lang="en-US" sz="95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para la clasificación automática de</a:t>
            </a:r>
            <a:endParaRPr lang="en-US" sz="95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r>
              <a:rPr sz="3200" b="1">
                <a:solidFill>
                  <a:srgbClr val="FFFFFF"/>
                </a:solidFill>
                <a:latin typeface="Arial"/>
              </a:rPr>
              <a:t>enfermedades dermatológicas</a:t>
            </a:r>
          </a:p>
        </p:txBody>
      </p:sp>
      <p:sp>
        <p:nvSpPr>
          <p:cNvPr id="16" name="TextBox 10"/>
          <p:cNvSpPr/>
          <p:nvPr/>
        </p:nvSpPr>
        <p:spPr>
          <a:xfrm>
            <a:off x="307800" y="6650000"/>
            <a:ext cx="17795880" cy="1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Christian Gutiérrez Gutiérrez  ·  Alvaro Gutiérrez Burbano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r>
              <a:rPr sz="1500" b="0">
                <a:solidFill>
                  <a:srgbClr val="FFFFFF"/>
                </a:solidFill>
                <a:latin typeface="Arial"/>
              </a:rPr>
              <a:t>Director: Víctor D. Díaz Suárez</a:t>
            </a:r>
          </a:p>
          <a:p>
            <a:r>
              <a:rPr sz="1500" b="0">
                <a:solidFill>
                  <a:srgbClr val="FFFFFF"/>
                </a:solidFill>
                <a:latin typeface="Arial"/>
              </a:rPr>
              <a:t>Máster Universitario en Análisis y Visualización de Datos Masivos — UNIR</a:t>
            </a:r>
          </a:p>
        </p:txBody>
      </p:sp>
      <p:grpSp>
        <p:nvGrpSpPr>
          <p:cNvPr id="17" name="Agrupar 33"/>
          <p:cNvGrpSpPr/>
          <p:nvPr/>
        </p:nvGrpSpPr>
        <p:grpSpPr>
          <a:xfrm>
            <a:off x="4294080" y="2455920"/>
            <a:ext cx="795600" cy="708120"/>
            <a:chOff x="4294080" y="2455920"/>
            <a:chExt cx="795600" cy="708120"/>
          </a:xfrm>
        </p:grpSpPr>
        <p:sp>
          <p:nvSpPr>
            <p:cNvPr id="18" name="Conector recto 34"/>
            <p:cNvSpPr/>
            <p:nvPr/>
          </p:nvSpPr>
          <p:spPr>
            <a:xfrm>
              <a:off x="4294080" y="2468520"/>
              <a:ext cx="0" cy="69552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9" name="Conector recto 35"/>
            <p:cNvSpPr/>
            <p:nvPr/>
          </p:nvSpPr>
          <p:spPr>
            <a:xfrm flipH="1">
              <a:off x="4294080" y="2455920"/>
              <a:ext cx="795600" cy="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20" name="Agrupar 36"/>
          <p:cNvGrpSpPr/>
          <p:nvPr/>
        </p:nvGrpSpPr>
        <p:grpSpPr>
          <a:xfrm>
            <a:off x="13157280" y="5581800"/>
            <a:ext cx="794880" cy="707760"/>
            <a:chOff x="13157280" y="5581800"/>
            <a:chExt cx="794880" cy="707760"/>
          </a:xfrm>
        </p:grpSpPr>
        <p:sp>
          <p:nvSpPr>
            <p:cNvPr id="21" name="Conector recto 37"/>
            <p:cNvSpPr/>
            <p:nvPr/>
          </p:nvSpPr>
          <p:spPr>
            <a:xfrm flipV="1">
              <a:off x="13952160" y="5581800"/>
              <a:ext cx="0" cy="69516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22" name="Conector recto 38"/>
            <p:cNvSpPr/>
            <p:nvPr/>
          </p:nvSpPr>
          <p:spPr>
            <a:xfrm>
              <a:off x="13157280" y="6289560"/>
              <a:ext cx="792360" cy="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pic>
        <p:nvPicPr>
          <p:cNvPr id="23" name="Imagen 2" descr="Texto&#10;&#10;Descripción generada automáticamente"/>
          <p:cNvPicPr/>
          <p:nvPr/>
        </p:nvPicPr>
        <p:blipFill>
          <a:blip r:embed="rId3"/>
          <a:stretch/>
        </p:blipFill>
        <p:spPr>
          <a:xfrm>
            <a:off x="493560" y="9247320"/>
            <a:ext cx="3318120" cy="742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/>
          <p:nvPr/>
        </p:nvSpPr>
        <p:spPr>
          <a:xfrm rot="5400000" flipH="1" flipV="1">
            <a:off x="-571320" y="570600"/>
            <a:ext cx="10287000" cy="9144000"/>
          </a:xfrm>
          <a:prstGeom prst="rect">
            <a:avLst/>
          </a:prstGeom>
          <a:solidFill>
            <a:srgbClr val="219BC3"/>
          </a:solidFill>
          <a:ln w="12600">
            <a:solidFill>
              <a:srgbClr val="15718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5" name="TextBox 11"/>
          <p:cNvSpPr/>
          <p:nvPr/>
        </p:nvSpPr>
        <p:spPr>
          <a:xfrm>
            <a:off x="10341000" y="3443400"/>
            <a:ext cx="777564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01 –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Introducción y objetivos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6" name="TextBox 12"/>
          <p:cNvSpPr/>
          <p:nvPr/>
        </p:nvSpPr>
        <p:spPr>
          <a:xfrm>
            <a:off x="10341000" y="4226040"/>
            <a:ext cx="7442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02 -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Normativa y datos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7" name="TextBox 13"/>
          <p:cNvSpPr/>
          <p:nvPr/>
        </p:nvSpPr>
        <p:spPr>
          <a:xfrm>
            <a:off x="10341000" y="5006880"/>
            <a:ext cx="762300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03 -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SVM y DenseNet201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8" name="TextBox 15"/>
          <p:cNvSpPr/>
          <p:nvPr/>
        </p:nvSpPr>
        <p:spPr>
          <a:xfrm>
            <a:off x="10341000" y="5789520"/>
            <a:ext cx="769284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04 -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Resultados y conclusiones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9" name="TextBox 10"/>
          <p:cNvSpPr/>
          <p:nvPr/>
        </p:nvSpPr>
        <p:spPr>
          <a:xfrm>
            <a:off x="685800" y="4213080"/>
            <a:ext cx="7772400" cy="182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ÍNDICE</a:t>
            </a:r>
            <a:endParaRPr lang="en-US" sz="11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Introducción · 01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Motivación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Incidencia global creciente  </a:t>
            </a:r>
            <a:r>
              <a:rPr sz="1400" b="0">
                <a:solidFill>
                  <a:srgbClr val="858591"/>
                </a:solidFill>
                <a:latin typeface="Arial"/>
              </a:rPr>
              <a:t>Más de 330.000 nuevos casos de melanoma al año en el mundo (Langselius, Rumgay y de Vries, 2025).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tiempo es supervivencia  </a:t>
            </a:r>
            <a:r>
              <a:rPr sz="1400" b="0">
                <a:solidFill>
                  <a:srgbClr val="858591"/>
                </a:solidFill>
                <a:latin typeface="Arial"/>
              </a:rPr>
              <a:t>Detectado en fase localizada, el melanoma supera el 99% de supervivencia relativa a 5 años (American Cancer Society, 2026).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Cuello de botella clínico  </a:t>
            </a:r>
            <a:r>
              <a:rPr sz="1400" b="0">
                <a:solidFill>
                  <a:srgbClr val="858591"/>
                </a:solidFill>
                <a:latin typeface="Arial"/>
              </a:rPr>
              <a:t>131 días de espera media para una primera consulta de dermatología en España; la saturación es aún mayor en contextos como Ecuador.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Cáncer de piel: una emergencia de salud pública en expansión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3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Introducción · 02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Planteamiento del trabajo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Dos paradigmas frente a frente  </a:t>
            </a:r>
            <a:r>
              <a:rPr sz="1400" b="0">
                <a:solidFill>
                  <a:srgbClr val="858591"/>
                </a:solidFill>
                <a:latin typeface="Arial"/>
              </a:rPr>
              <a:t>Machine Learning tradicional (SVM) frente a Deep Learning con Transfer Learning (DenseNet201) sobre el mismo problema.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La métrica que manda: Sensibilidad  </a:t>
            </a:r>
            <a:r>
              <a:rPr sz="1400" b="0">
                <a:solidFill>
                  <a:srgbClr val="858591"/>
                </a:solidFill>
                <a:latin typeface="Arial"/>
              </a:rPr>
              <a:t>Un falso negativo —lesión maligna etiquetada como benigna— tiene un coste clínico muy superior al de un falso positivo.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Medición robusta  </a:t>
            </a:r>
            <a:r>
              <a:rPr sz="1400" b="0">
                <a:solidFill>
                  <a:srgbClr val="858591"/>
                </a:solidFill>
                <a:latin typeface="Arial"/>
              </a:rPr>
              <a:t>F1-Score y AUC-ROC como respaldo, dado el fuerte desbalance de clases del dataset HAM10000.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Una comparativa, no una carrera por el accuracy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el criterio de éxito es clínico, no estadístico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4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Contexto · 03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HAM10000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Código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Diagnóstico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N imágenes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%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Malignidad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nv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Nevus melanocítico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6.705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66,9%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mel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Melanoma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1.113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11,1%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bkl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Queratosis benigna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1.099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11,0%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Carcinoma basocelular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5,1%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akiec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Queratosis actínica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327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3,3%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vasc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Lesión vascular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142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1,4%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df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Dermatofibroma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115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1,1%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</a:t>
            </a: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Contexto · 04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Estado del arte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 SVM a las redes profundas  </a:t>
            </a:r>
            <a:r>
              <a:rPr sz="1400" b="0">
                <a:solidFill>
                  <a:srgbClr val="858591"/>
                </a:solidFill>
                <a:latin typeface="Arial"/>
              </a:rPr>
              <a:t>La literatura documenta el tránsito del Machine Learning clásico hacia arquitecturas de Deep Learning en clasificación dermatoscópica (Bechelli y Delhommelle, 2022).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 solo precisión  </a:t>
            </a:r>
            <a:r>
              <a:rPr sz="1400" b="0">
                <a:solidFill>
                  <a:srgbClr val="858591"/>
                </a:solidFill>
                <a:latin typeface="Arial"/>
              </a:rPr>
              <a:t>Los sistemas deben ser interpretables y computacionalmente viables para integrarse en la práctica clínica real.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CDSS: apoyo, no sustitución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Un Sistema de Soporte a la Decisión Clínica no reemplaza al dermatólogo: reduce tiempos y homogeneiza el cribado inicial.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ojo clínico más entrenado también se equivoca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variabilidad entre especialistas y fatiga diagnóstica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6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Objetivos · 05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Objetivos del TFM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Datos  </a:t>
            </a:r>
            <a:r>
              <a:rPr sz="1400" b="0">
                <a:solidFill>
                  <a:srgbClr val="858591"/>
                </a:solidFill>
                <a:latin typeface="Arial"/>
              </a:rPr>
              <a:t>EDA sobre HAM10000 para identificar sesgos y distribuciones de clase; pipeline de preprocesamiento y balanceo (sobre y submuestreo).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Modelado  </a:t>
            </a:r>
            <a:r>
              <a:rPr sz="1400" b="0">
                <a:solidFill>
                  <a:srgbClr val="858591"/>
                </a:solidFill>
                <a:latin typeface="Arial"/>
              </a:rPr>
              <a:t>Extracción paramétrica y SVM frente a Transfer Learning con DenseNet201.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Evaluación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Comparación con métricas clínicas —Sensibilidad, F1-Score, AUC-ROC— y contraste con trabajos relacionados.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Determinar el modelo óptimo y escalable para el cribado dermatológico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comparando Machine Learning tradicional y Deep Learning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7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traight Connector 26"/>
          <p:cNvSpPr/>
          <p:nvPr/>
        </p:nvSpPr>
        <p:spPr>
          <a:xfrm flipH="1">
            <a:off x="1422360" y="5143680"/>
            <a:ext cx="15194160" cy="0"/>
          </a:xfrm>
          <a:prstGeom prst="line">
            <a:avLst/>
          </a:prstGeom>
          <a:ln w="25560">
            <a:solidFill>
              <a:srgbClr val="C0C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Metodología · 06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CRISP-DM adaptado a imágenes médicas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77" name="Oval 12"/>
          <p:cNvSpPr/>
          <p:nvPr/>
        </p:nvSpPr>
        <p:spPr>
          <a:xfrm rot="10800000">
            <a:off x="337932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69848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Comprensión de datos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2805120" y="4002120"/>
            <a:ext cx="147312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0" name="TextBox 23"/>
          <p:cNvSpPr/>
          <p:nvPr/>
        </p:nvSpPr>
        <p:spPr>
          <a:xfrm>
            <a:off x="2297160" y="6319800"/>
            <a:ext cx="262404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Ingesta y análisis estadístico del dataset: tensores de imágenes y metadatos clínicos.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pSp>
        <p:nvGrpSpPr>
          <p:cNvPr id="81" name="Agrupar 6"/>
          <p:cNvGrpSpPr/>
          <p:nvPr/>
        </p:nvGrpSpPr>
        <p:grpSpPr>
          <a:xfrm>
            <a:off x="16174800" y="4427280"/>
            <a:ext cx="1431720" cy="1431720"/>
            <a:chOff x="16174800" y="4427280"/>
            <a:chExt cx="1431720" cy="1431720"/>
          </a:xfrm>
        </p:grpSpPr>
        <p:sp>
          <p:nvSpPr>
            <p:cNvPr id="82" name="Oval 3"/>
            <p:cNvSpPr/>
            <p:nvPr/>
          </p:nvSpPr>
          <p:spPr>
            <a:xfrm rot="10800000">
              <a:off x="16174800" y="4427280"/>
              <a:ext cx="1431720" cy="1431720"/>
            </a:xfrm>
            <a:prstGeom prst="ellipse">
              <a:avLst/>
            </a:pr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83" name="Freeform 427"/>
            <p:cNvSpPr/>
            <p:nvPr/>
          </p:nvSpPr>
          <p:spPr>
            <a:xfrm>
              <a:off x="16633080" y="4734720"/>
              <a:ext cx="515520" cy="817560"/>
            </a:xfrm>
            <a:custGeom>
              <a:avLst/>
              <a:gdLst>
                <a:gd name="GluePoint1X" fmla="*/ 2147483646 w 112"/>
                <a:gd name="GluePoint1Y" fmla="*/ 0 h 176"/>
                <a:gd name="GluePoint2X" fmla="*/ 2147483646 w 112"/>
                <a:gd name="GluePoint2Y" fmla="*/ 0 h 176"/>
                <a:gd name="GluePoint3X" fmla="*/ 0 w 112"/>
                <a:gd name="GluePoint3Y" fmla="*/ 2147483646 h 176"/>
                <a:gd name="GluePoint4X" fmla="*/ 0 w 112"/>
                <a:gd name="GluePoint4Y" fmla="*/ 2147483646 h 176"/>
                <a:gd name="GluePoint5X" fmla="*/ 2147483646 w 112"/>
                <a:gd name="GluePoint5Y" fmla="*/ 2147483646 h 176"/>
                <a:gd name="GluePoint6X" fmla="*/ 2147483646 w 112"/>
                <a:gd name="GluePoint6Y" fmla="*/ 2147483646 h 176"/>
                <a:gd name="GluePoint7X" fmla="*/ 2147483646 w 112"/>
                <a:gd name="GluePoint7Y" fmla="*/ 2147483646 h 176"/>
                <a:gd name="GluePoint8X" fmla="*/ 2147483646 w 112"/>
                <a:gd name="GluePoint8Y" fmla="*/ 2147483646 h 176"/>
                <a:gd name="GluePoint9X" fmla="*/ 2147483646 w 112"/>
                <a:gd name="GluePoint9Y" fmla="*/ 2147483646 h 176"/>
                <a:gd name="GluePoint10X" fmla="*/ 2147483646 w 112"/>
                <a:gd name="GluePoint10Y" fmla="*/ 2147483646 h 176"/>
                <a:gd name="GluePoint11X" fmla="*/ 2147483646 w 112"/>
                <a:gd name="GluePoint11Y" fmla="*/ 2147483646 h 176"/>
                <a:gd name="GluePoint12X" fmla="*/ 2147483646 w 112"/>
                <a:gd name="GluePoint12Y" fmla="*/ 2147483646 h 176"/>
                <a:gd name="GluePoint13X" fmla="*/ 2147483646 w 112"/>
                <a:gd name="GluePoint13Y" fmla="*/ 2147483646 h 176"/>
                <a:gd name="GluePoint14X" fmla="*/ 2147483646 w 112"/>
                <a:gd name="GluePoint14Y" fmla="*/ 2147483646 h 176"/>
                <a:gd name="GluePoint15X" fmla="*/ 2147483646 w 112"/>
                <a:gd name="GluePoint15Y" fmla="*/ 2147483646 h 176"/>
                <a:gd name="GluePoint16X" fmla="*/ 2147483646 w 112"/>
                <a:gd name="GluePoint16Y" fmla="*/ 2147483646 h 176"/>
                <a:gd name="GluePoint17X" fmla="*/ 2147483646 w 112"/>
                <a:gd name="GluePoint17Y" fmla="*/ 0 h 176"/>
                <a:gd name="GluePoint18X" fmla="*/ 2147483646 w 112"/>
                <a:gd name="GluePoint18Y" fmla="*/ 2147483646 h 176"/>
                <a:gd name="GluePoint19X" fmla="*/ 2147483646 w 112"/>
                <a:gd name="GluePoint19Y" fmla="*/ 2147483646 h 176"/>
                <a:gd name="GluePoint20X" fmla="*/ 2147483646 w 112"/>
                <a:gd name="GluePoint20Y" fmla="*/ 2147483646 h 176"/>
                <a:gd name="GluePoint21X" fmla="*/ 2147483646 w 112"/>
                <a:gd name="GluePoint21Y" fmla="*/ 2147483646 h 176"/>
                <a:gd name="GluePoint22X" fmla="*/ 2147483646 w 112"/>
                <a:gd name="GluePoint22Y" fmla="*/ 2147483646 h 176"/>
                <a:gd name="GluePoint23X" fmla="*/ 2147483646 w 112"/>
                <a:gd name="GluePoint23Y" fmla="*/ 2147483646 h 176"/>
                <a:gd name="GluePoint24X" fmla="*/ 2147483646 w 112"/>
                <a:gd name="GluePoint24Y" fmla="*/ 2147483646 h 176"/>
                <a:gd name="GluePoint25X" fmla="*/ 2147483646 w 112"/>
                <a:gd name="GluePoint25Y" fmla="*/ 2147483646 h 176"/>
                <a:gd name="GluePoint26X" fmla="*/ 2147483646 w 112"/>
                <a:gd name="GluePoint26Y" fmla="*/ 2147483646 h 176"/>
                <a:gd name="GluePoint27X" fmla="*/ 2147483646 w 112"/>
                <a:gd name="GluePoint27Y" fmla="*/ 2147483646 h 176"/>
                <a:gd name="GluePoint28X" fmla="*/ 2147483646 w 112"/>
                <a:gd name="GluePoint28Y" fmla="*/ 2147483646 h 176"/>
                <a:gd name="GluePoint29X" fmla="*/ 2147483646 w 112"/>
                <a:gd name="GluePoint29Y" fmla="*/ 2147483646 h 176"/>
                <a:gd name="GluePoint30X" fmla="*/ 2147483646 w 112"/>
                <a:gd name="GluePoint30Y" fmla="*/ 2147483646 h 176"/>
                <a:gd name="GluePoint31X" fmla="*/ 2147483646 w 112"/>
                <a:gd name="GluePoint31Y" fmla="*/ 2147483646 h 176"/>
                <a:gd name="GluePoint32X" fmla="*/ 2147483646 w 112"/>
                <a:gd name="GluePoint32Y" fmla="*/ 2147483646 h 176"/>
                <a:gd name="GluePoint33X" fmla="*/ 2147483646 w 112"/>
                <a:gd name="GluePoint33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l" t="t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1080" tIns="45360" rIns="91080" bIns="4536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84" name="Group 5"/>
          <p:cNvGrpSpPr/>
          <p:nvPr/>
        </p:nvGrpSpPr>
        <p:grpSpPr>
          <a:xfrm>
            <a:off x="609480" y="4427640"/>
            <a:ext cx="1433520" cy="1431720"/>
            <a:chOff x="609480" y="4427640"/>
            <a:chExt cx="1433520" cy="1431720"/>
          </a:xfrm>
        </p:grpSpPr>
        <p:sp>
          <p:nvSpPr>
            <p:cNvPr id="85" name="Oval 3"/>
            <p:cNvSpPr/>
            <p:nvPr/>
          </p:nvSpPr>
          <p:spPr>
            <a:xfrm>
              <a:off x="609480" y="4427640"/>
              <a:ext cx="1433520" cy="1431720"/>
            </a:xfrm>
            <a:prstGeom prst="ellipse">
              <a:avLst/>
            </a:pr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86" name="Freeform 450"/>
            <p:cNvSpPr/>
            <p:nvPr/>
          </p:nvSpPr>
          <p:spPr>
            <a:xfrm>
              <a:off x="1024200" y="4842000"/>
              <a:ext cx="604080" cy="603000"/>
            </a:xfrm>
            <a:custGeom>
              <a:avLst/>
              <a:gdLst>
                <a:gd name="GluePoint1X" fmla="*/ 2147483646 w 176"/>
                <a:gd name="GluePoint1Y" fmla="*/ 2147483646 h 176"/>
                <a:gd name="GluePoint2X" fmla="*/ 2147483646 w 176"/>
                <a:gd name="GluePoint2Y" fmla="*/ 2147483646 h 176"/>
                <a:gd name="GluePoint3X" fmla="*/ 2147483646 w 176"/>
                <a:gd name="GluePoint3Y" fmla="*/ 2147483646 h 176"/>
                <a:gd name="GluePoint4X" fmla="*/ 2147483646 w 176"/>
                <a:gd name="GluePoint4Y" fmla="*/ 2147483646 h 176"/>
                <a:gd name="GluePoint5X" fmla="*/ 2147483646 w 176"/>
                <a:gd name="GluePoint5Y" fmla="*/ 2147483646 h 176"/>
                <a:gd name="GluePoint6X" fmla="*/ 2147483646 w 176"/>
                <a:gd name="GluePoint6Y" fmla="*/ 2147483646 h 176"/>
                <a:gd name="GluePoint7X" fmla="*/ 2147483646 w 176"/>
                <a:gd name="GluePoint7Y" fmla="*/ 2147483646 h 176"/>
                <a:gd name="GluePoint8X" fmla="*/ 2147483646 w 176"/>
                <a:gd name="GluePoint8Y" fmla="*/ 2147483646 h 176"/>
                <a:gd name="GluePoint9X" fmla="*/ 2147483646 w 176"/>
                <a:gd name="GluePoint9Y" fmla="*/ 2147483646 h 176"/>
                <a:gd name="GluePoint10X" fmla="*/ 2147483646 w 176"/>
                <a:gd name="GluePoint10Y" fmla="*/ 2147483646 h 176"/>
                <a:gd name="GluePoint11X" fmla="*/ 2147483646 w 176"/>
                <a:gd name="GluePoint11Y" fmla="*/ 2147483646 h 176"/>
                <a:gd name="GluePoint12X" fmla="*/ 2147483646 w 176"/>
                <a:gd name="GluePoint12Y" fmla="*/ 2147483646 h 176"/>
                <a:gd name="GluePoint13X" fmla="*/ 2147483646 w 176"/>
                <a:gd name="GluePoint13Y" fmla="*/ 2147483646 h 176"/>
                <a:gd name="GluePoint14X" fmla="*/ 2147483646 w 176"/>
                <a:gd name="GluePoint14Y" fmla="*/ 2147483646 h 176"/>
                <a:gd name="GluePoint15X" fmla="*/ 2147483646 w 176"/>
                <a:gd name="GluePoint15Y" fmla="*/ 2147483646 h 176"/>
                <a:gd name="GluePoint16X" fmla="*/ 2147483646 w 176"/>
                <a:gd name="GluePoint16Y" fmla="*/ 2147483646 h 176"/>
                <a:gd name="GluePoint17X" fmla="*/ 2147483646 w 176"/>
                <a:gd name="GluePoint17Y" fmla="*/ 2147483646 h 176"/>
                <a:gd name="GluePoint18X" fmla="*/ 2147483646 w 176"/>
                <a:gd name="GluePoint18Y" fmla="*/ 2147483646 h 176"/>
                <a:gd name="GluePoint19X" fmla="*/ 2147483646 w 176"/>
                <a:gd name="GluePoint19Y" fmla="*/ 2147483646 h 176"/>
                <a:gd name="GluePoint20X" fmla="*/ 2147483646 w 176"/>
                <a:gd name="GluePoint20Y" fmla="*/ 2147483646 h 176"/>
                <a:gd name="GluePoint21X" fmla="*/ 2147483646 w 176"/>
                <a:gd name="GluePoint21Y" fmla="*/ 2147483646 h 176"/>
                <a:gd name="GluePoint22X" fmla="*/ 2147483646 w 176"/>
                <a:gd name="GluePoint22Y" fmla="*/ 2147483646 h 176"/>
                <a:gd name="GluePoint23X" fmla="*/ 2147483646 w 176"/>
                <a:gd name="GluePoint23Y" fmla="*/ 2147483646 h 176"/>
                <a:gd name="GluePoint24X" fmla="*/ 0 w 176"/>
                <a:gd name="GluePoint24Y" fmla="*/ 2147483646 h 176"/>
                <a:gd name="GluePoint25X" fmla="*/ 2147483646 w 176"/>
                <a:gd name="GluePoint25Y" fmla="*/ 2147483646 h 176"/>
                <a:gd name="GluePoint26X" fmla="*/ 2147483646 w 176"/>
                <a:gd name="GluePoint26Y" fmla="*/ 2147483646 h 176"/>
                <a:gd name="GluePoint27X" fmla="*/ 2147483646 w 176"/>
                <a:gd name="GluePoint27Y" fmla="*/ 2147483646 h 176"/>
                <a:gd name="GluePoint28X" fmla="*/ 2147483646 w 176"/>
                <a:gd name="GluePoint28Y" fmla="*/ 2147483646 h 176"/>
                <a:gd name="GluePoint29X" fmla="*/ 2147483646 w 176"/>
                <a:gd name="GluePoint29Y" fmla="*/ 2147483646 h 176"/>
                <a:gd name="GluePoint30X" fmla="*/ 2147483646 w 176"/>
                <a:gd name="GluePoint30Y" fmla="*/ 2147483646 h 176"/>
                <a:gd name="GluePoint31X" fmla="*/ 2147483646 w 176"/>
                <a:gd name="GluePoint31Y" fmla="*/ 2147483646 h 176"/>
                <a:gd name="GluePoint32X" fmla="*/ 2147483646 w 176"/>
                <a:gd name="GluePoint32Y" fmla="*/ 2147483646 h 176"/>
                <a:gd name="GluePoint33X" fmla="*/ 2147483646 w 176"/>
                <a:gd name="GluePoint33Y" fmla="*/ 2147483646 h 176"/>
                <a:gd name="GluePoint34X" fmla="*/ 2147483646 w 176"/>
                <a:gd name="GluePoint34Y" fmla="*/ 2147483646 h 176"/>
                <a:gd name="GluePoint35X" fmla="*/ 2147483646 w 176"/>
                <a:gd name="GluePoint35Y" fmla="*/ 2147483646 h 176"/>
                <a:gd name="GluePoint36X" fmla="*/ 2147483646 w 176"/>
                <a:gd name="GluePoint36Y" fmla="*/ 2147483646 h 176"/>
                <a:gd name="GluePoint37X" fmla="*/ 2147483646 w 176"/>
                <a:gd name="GluePoint37Y" fmla="*/ 2147483646 h 176"/>
                <a:gd name="GluePoint38X" fmla="*/ 2147483646 w 176"/>
                <a:gd name="GluePoint38Y" fmla="*/ 2147483646 h 176"/>
                <a:gd name="GluePoint39X" fmla="*/ 2147483646 w 176"/>
                <a:gd name="GluePoint39Y" fmla="*/ 2147483646 h 176"/>
                <a:gd name="GluePoint40X" fmla="*/ 2147483646 w 176"/>
                <a:gd name="GluePoint40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rgbClr val="F2F2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87" name="Oval 12"/>
          <p:cNvSpPr/>
          <p:nvPr/>
        </p:nvSpPr>
        <p:spPr>
          <a:xfrm rot="10800000">
            <a:off x="614808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4467240" y="5580000"/>
            <a:ext cx="3828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Preparación y limpieza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5575320" y="4002120"/>
            <a:ext cx="14716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5067360" y="6319800"/>
            <a:ext cx="262404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Redimensionado, normalización de píxeles y balanceo de clases (sobre y submuestreo).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1" name="Oval 12"/>
          <p:cNvSpPr/>
          <p:nvPr/>
        </p:nvSpPr>
        <p:spPr>
          <a:xfrm rot="10800000">
            <a:off x="895320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7272360" y="5580000"/>
            <a:ext cx="3828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Modelado comparativo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8380440" y="4002120"/>
            <a:ext cx="14716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7872480" y="6319800"/>
            <a:ext cx="26226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Línea base con Machine Learning clásico (SVM), seguida de Deep Learning (DenseNet201).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5" name="Oval 12"/>
          <p:cNvSpPr/>
          <p:nvPr/>
        </p:nvSpPr>
        <p:spPr>
          <a:xfrm rot="10800000">
            <a:off x="11882520" y="4963680"/>
            <a:ext cx="3585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1019952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Evaluación y validación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11307600" y="4002120"/>
            <a:ext cx="14734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10799640" y="6319800"/>
            <a:ext cx="26244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Conjuntos de prueba independientes para medir generalización y evitar overfitting.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9" name="Oval 12"/>
          <p:cNvSpPr/>
          <p:nvPr/>
        </p:nvSpPr>
        <p:spPr>
          <a:xfrm rot="10800000">
            <a:off x="1456164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0" name="TextBox 21"/>
          <p:cNvSpPr/>
          <p:nvPr/>
        </p:nvSpPr>
        <p:spPr>
          <a:xfrm>
            <a:off x="1288080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Visualización y conclusiones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1" name="TextBox 22"/>
          <p:cNvSpPr/>
          <p:nvPr/>
        </p:nvSpPr>
        <p:spPr>
          <a:xfrm>
            <a:off x="13988880" y="4002120"/>
            <a:ext cx="14734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2" name="TextBox 23"/>
          <p:cNvSpPr/>
          <p:nvPr/>
        </p:nvSpPr>
        <p:spPr>
          <a:xfrm>
            <a:off x="13480920" y="6319800"/>
            <a:ext cx="26244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Resultados, gráficos comparativos y conclusiones de la investigación.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4164D5DF-8C97-4BC7-8BE1-73D2D0A92C65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8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125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125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Marco normativo · 07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Marco legal y ético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LOPDP (Ecuador, 2021)  </a:t>
            </a:r>
            <a:r>
              <a:rPr sz="1400" b="0">
                <a:solidFill>
                  <a:srgbClr val="858591"/>
                </a:solidFill>
                <a:latin typeface="Arial"/>
              </a:rPr>
              <a:t>Los datos de salud son categoría sensible (Art. 25); HAM10000 está anonimizado y se distribuye bajo licencia académica abierta.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ARCSA / MSP  </a:t>
            </a:r>
            <a:r>
              <a:rPr sz="1400" b="0">
                <a:solidFill>
                  <a:srgbClr val="858591"/>
                </a:solidFill>
                <a:latin typeface="Arial"/>
              </a:rPr>
              <a:t>Todo sistema de diagnóstico clínico recae bajo su supervisión; este TFM se plantea como Prueba de Concepto (PoC) académica, no como CDSS certificado.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Ética y sesgos demográficos  </a:t>
            </a:r>
            <a:r>
              <a:rPr sz="1400" b="0">
                <a:solidFill>
                  <a:srgbClr val="858591"/>
                </a:solidFill>
                <a:latin typeface="Arial"/>
              </a:rPr>
              <a:t>Punto de partida para evaluar la representatividad del dataset frente a la diversidad fenotípica ecuatoriana (ver Limitaciones).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Datos de salud, máxima protección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LOPDP, ARCSA y gobernanza de la IA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9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Datos · 08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El desbalance de clases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66,9% de las imágenes son nevus benignos (nv)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el resto de las 7 clases no supera individualmente el 12%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10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2286000" y="4302000"/>
          <a:ext cx="13716000" cy="405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Datos · 09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Dos escenarios de datos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Escenario 1 — Multiclase original  </a:t>
            </a:r>
            <a:r>
              <a:rPr sz="1400" b="0">
                <a:solidFill>
                  <a:srgbClr val="858591"/>
                </a:solidFill>
                <a:latin typeface="Arial"/>
              </a:rPr>
              <a:t>7 clases con el desbalance real (≈ 4,1:1 benigno:maligno); SMOTE aplicado solo dentro de la validación cruzada.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Escenario 2 — Binario balanceado  </a:t>
            </a:r>
            <a:r>
              <a:rPr sz="1400" b="0">
                <a:solidFill>
                  <a:srgbClr val="858591"/>
                </a:solidFill>
                <a:latin typeface="Arial"/>
              </a:rPr>
              <a:t>Benigno vs. Maligno; submuestreo estratificado por lesión (1.954 vs. 1.954 imágenes).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Por qué dos escenarios  </a:t>
            </a:r>
            <a:r>
              <a:rPr sz="1400" b="0">
                <a:solidFill>
                  <a:srgbClr val="858591"/>
                </a:solidFill>
                <a:latin typeface="Arial"/>
              </a:rPr>
              <a:t>Permite aislar el efecto del balanceo del dataset del efecto propio del algoritmo de clasificación.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Partición estratificada por lesion_id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evita fuga de información entre imágenes de una misma lesión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11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Modelado · 10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SVM: pipeline tradicional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Preprocesamiento  </a:t>
            </a:r>
            <a:r>
              <a:rPr sz="1400" b="0">
                <a:solidFill>
                  <a:srgbClr val="858591"/>
                </a:solidFill>
                <a:latin typeface="Arial"/>
              </a:rPr>
              <a:t>Imágenes 64×64 RGB aplanadas a vectores; estandarización y PCA (12.288 → 84 componentes, -99,3%).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Clasificador  </a:t>
            </a:r>
            <a:r>
              <a:rPr sz="1400" b="0">
                <a:solidFill>
                  <a:srgbClr val="858591"/>
                </a:solidFill>
                <a:latin typeface="Arial"/>
              </a:rPr>
              <a:t>SVC con kernel RBF (C=1.0, gamma=scale, class_weight=balanced) y probability=True para AUC calibrado.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Balanceo por escenario  </a:t>
            </a:r>
            <a:r>
              <a:rPr sz="1400" b="0">
                <a:solidFill>
                  <a:srgbClr val="858591"/>
                </a:solidFill>
                <a:latin typeface="Arial"/>
              </a:rPr>
              <a:t>Escenario 1: SMOTE sobre el entrenamiento. Escenario 2: sin SMOTE, dataset balanceado por submuestreo agrupado por lesión.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 12.288 píxeles a 84 componentes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extracción paramétrica + PCA (95% de varianza retenida)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12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11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SVM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Métrica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1 (multiclase)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2 (binario)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Δ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 clínica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68,15%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79,85%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+11,7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Exactitud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F1 Macro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48,34%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79,30%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+30,96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Mejora en clases minoritarias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87,76%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-1,3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Discriminación estable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Malignidad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64,5%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+28,4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Muchos menos falsos negativos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Balanced Accuracy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51,67%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79,39%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+27,7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Rendimiento más equilibrado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MCC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0,456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0,614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+0,158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fiabilidad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Balancear el dataset dispara la sensibilidad a la malignidad (64,5% → 92,9%) sin sacrificar el 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13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Modelado · 12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DenseNet201: doble cabeza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Backbone DenseNet201  </a:t>
            </a:r>
            <a:r>
              <a:rPr sz="1400" b="0">
                <a:solidFill>
                  <a:srgbClr val="858591"/>
                </a:solidFill>
                <a:latin typeface="Arial"/>
              </a:rPr>
              <a:t>Preentrenado en ImageNet; los Dense Blocks maximizan el flujo de gradientes y reutilizan características.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Arquitectura de dos cabezas  </a:t>
            </a:r>
            <a:r>
              <a:rPr sz="1400" b="0">
                <a:solidFill>
                  <a:srgbClr val="858591"/>
                </a:solidFill>
                <a:latin typeface="Arial"/>
              </a:rPr>
              <a:t>Cabeza A —triaje binario benigno/maligno— y Cabeza B —diagnóstico específico de 7 clases—; pérdida conjunta ponderada 50/50.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Entrenamiento  </a:t>
            </a:r>
            <a:r>
              <a:rPr sz="1400" b="0">
                <a:solidFill>
                  <a:srgbClr val="858591"/>
                </a:solidFill>
                <a:latin typeface="Arial"/>
              </a:rPr>
              <a:t>30 épocas, Adam (lr=0.0001), Weighted Cross-Entropy en la Cabeza B, Data Augmentation (flips y rotaciones ±15°).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Un backbone, dos tareas simultáneas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18,1 millones de parámetros entrenables sobre ImageNet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14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13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DenseNet201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Métrica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1 (original)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2 (balanceado)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Δ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 clínica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90,36%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86,96%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-3,4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El submuestreo penaliza clases raras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Recall Macro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87,78%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78,13%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-9,65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Peor en Dermatofibroma y Vascular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F1 Macro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86,79%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79,71%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-7,08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Coherente con el recall macro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Malignidad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81,07%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90,03%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+8,96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Falsos negativos: 74 → 39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Especificidad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96,34%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92,84%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-3,5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Más derivaciones innecesarias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96,46%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96,50%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≈ estable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El balanceo no altera la discriminación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El balanceo desplaza el punto de operación hacia mayor sensibilidad, no la capacidad de discriminación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15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14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Comparativa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Dimensión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SVM (Esc. 2)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DenseNet201 (Esc. 2, Cabeza A)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Ventaja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 global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79,85%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91,43%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Mejor exactitud general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(Recall Maligno)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90,03%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SVM (+2,87 pts)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Único criterio donde gana SVM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Especificidad (Recall Benigno)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65,9%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92,84%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SVM deriva a 1 de cada 3 sanos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Precisión (Maligno)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74,5%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92,63%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Menos falsas alarmas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96,50%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capacidad de discriminación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Cohen's Kappa / MCC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0,593 / 0,614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0,829 / 0,829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fiabilidad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Coste computacional — SVM: 1,33 s entrenamiento / 0,25 ms por imagen · DenseNet201: 62,3 min / 13,35 ms por imagen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16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Conclusiones · 15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Conclusiones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Objetivos cumplidos  </a:t>
            </a:r>
            <a:r>
              <a:rPr sz="1400" b="0">
                <a:solidFill>
                  <a:srgbClr val="858591"/>
                </a:solidFill>
                <a:latin typeface="Arial"/>
              </a:rPr>
              <a:t>Los 5 objetivos específicos —EDA, balanceo, SVM, DenseNet201 y comparación— quedan acreditados en la memoria.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SVM Escenario 2  </a:t>
            </a:r>
            <a:r>
              <a:rPr sz="1400" b="0">
                <a:solidFill>
                  <a:srgbClr val="858591"/>
                </a:solidFill>
                <a:latin typeface="Arial"/>
              </a:rPr>
              <a:t>Sensibilidad más alta (92,9%) a coste computacional casi nulo; ideal con escasa capacidad de cómputo, aunque deriva a muchos pacientes sanos.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DenseNet201 Escenario 2  </a:t>
            </a:r>
            <a:r>
              <a:rPr sz="1400" b="0">
                <a:solidFill>
                  <a:srgbClr val="858591"/>
                </a:solidFill>
                <a:latin typeface="Arial"/>
              </a:rPr>
              <a:t>Sensibilidad casi equivalente (90,03%) con especificidad, precisión, AUC-ROC, Kappa y MCC muy superiores; requiere más infraestructura.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 existe un algoritmo absolutamente superior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la elección depende del recurso más escaso en el despliegue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17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Limitaciones · 16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Limitaciones del estudio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Sesgo fenotípico  </a:t>
            </a:r>
            <a:r>
              <a:rPr sz="1400" b="0">
                <a:solidFill>
                  <a:srgbClr val="858591"/>
                </a:solidFill>
                <a:latin typeface="Arial"/>
              </a:rPr>
              <a:t>HAM10000 procede mayoritariamente de poblaciones europeas y australianas (Fitzpatrick I-III); Ecuador presenta predominancia de fototipos III-V.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Sin variables clínicas tabulares  </a:t>
            </a:r>
            <a:r>
              <a:rPr sz="1400" b="0">
                <a:solidFill>
                  <a:srgbClr val="858591"/>
                </a:solidFill>
                <a:latin typeface="Arial"/>
              </a:rPr>
              <a:t>DenseNet201 procesa solo imágenes; no integra edad, sexo o localización pese a su correlación con la malignidad.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Infrarrepresentación y partición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Subtipos como el melanoma acral lentiginoso están infrarrepresentados; el Escenario 1 de DenseNet201 no agrupó la partición por lesion_id.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dataset no refleja la diversidad fenotípica ecuatoriana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principal riesgo de sesgo del sistema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18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Trabajo futuro · 17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Líneas de trabajo futuro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Muestreo asimétrico por cabeza  </a:t>
            </a:r>
            <a:r>
              <a:rPr sz="1400" b="0">
                <a:solidFill>
                  <a:srgbClr val="858591"/>
                </a:solidFill>
                <a:latin typeface="Arial"/>
              </a:rPr>
              <a:t>Cada cabeza de DenseNet201 se entrenaría con un dataset distinto, resolviendo el trade-off entre escenarios.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Modelado multimodal  </a:t>
            </a:r>
            <a:r>
              <a:rPr sz="1400" b="0">
                <a:solidFill>
                  <a:srgbClr val="858591"/>
                </a:solidFill>
                <a:latin typeface="Arial"/>
              </a:rPr>
              <a:t>Fusionar el vector de características visuales con una red densa que procese edad, sexo y localización anatómica.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Validación ecuatoriana y CDSS  </a:t>
            </a:r>
            <a:r>
              <a:rPr sz="1400" b="0">
                <a:solidFill>
                  <a:srgbClr val="858591"/>
                </a:solidFill>
                <a:latin typeface="Arial"/>
              </a:rPr>
              <a:t>Arquitecturas alternativas (EfficientNet, Vision Transformers), validación multicéntrica local e integración en un CDSS real.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 la prueba de concepto al sistema desplegable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19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2"/>
          <p:cNvSpPr/>
          <p:nvPr/>
        </p:nvSpPr>
        <p:spPr>
          <a:xfrm>
            <a:off x="5591160" y="4589640"/>
            <a:ext cx="7105680" cy="109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6600" b="1" u="none" strike="noStrike">
                <a:solidFill>
                  <a:srgbClr val="219BC3"/>
                </a:solidFill>
                <a:effectLst/>
                <a:uFillTx/>
                <a:latin typeface="Arial"/>
                <a:ea typeface="Lato Semibold"/>
              </a:rPr>
              <a:t>muchas </a:t>
            </a:r>
            <a:r>
              <a:rPr lang="es-ES_tradnl" sz="6600" b="1" u="none" strike="noStrike">
                <a:solidFill>
                  <a:srgbClr val="00566C"/>
                </a:solidFill>
                <a:effectLst/>
                <a:uFillTx/>
                <a:latin typeface="Arial"/>
                <a:ea typeface="Lato Semibold"/>
              </a:rPr>
              <a:t>gracias</a:t>
            </a:r>
            <a:endParaRPr lang="en-US" sz="6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pSp>
        <p:nvGrpSpPr>
          <p:cNvPr id="105" name="Group 3"/>
          <p:cNvGrpSpPr/>
          <p:nvPr/>
        </p:nvGrpSpPr>
        <p:grpSpPr>
          <a:xfrm>
            <a:off x="5510160" y="4457520"/>
            <a:ext cx="685800" cy="685800"/>
            <a:chOff x="5510160" y="4457520"/>
            <a:chExt cx="685800" cy="685800"/>
          </a:xfrm>
        </p:grpSpPr>
        <p:sp>
          <p:nvSpPr>
            <p:cNvPr id="106" name="Straight Connector 5"/>
            <p:cNvSpPr/>
            <p:nvPr/>
          </p:nvSpPr>
          <p:spPr>
            <a:xfrm flipV="1">
              <a:off x="5510160" y="4457520"/>
              <a:ext cx="0" cy="68580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07" name="Straight Connector 6"/>
            <p:cNvSpPr/>
            <p:nvPr/>
          </p:nvSpPr>
          <p:spPr>
            <a:xfrm>
              <a:off x="5510160" y="4457880"/>
              <a:ext cx="685800" cy="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108" name="Group 7"/>
          <p:cNvGrpSpPr/>
          <p:nvPr/>
        </p:nvGrpSpPr>
        <p:grpSpPr>
          <a:xfrm>
            <a:off x="12010680" y="5143680"/>
            <a:ext cx="685800" cy="685800"/>
            <a:chOff x="12010680" y="5143680"/>
            <a:chExt cx="685800" cy="685800"/>
          </a:xfrm>
        </p:grpSpPr>
        <p:sp>
          <p:nvSpPr>
            <p:cNvPr id="109" name="Straight Connector 8"/>
            <p:cNvSpPr/>
            <p:nvPr/>
          </p:nvSpPr>
          <p:spPr>
            <a:xfrm>
              <a:off x="12696480" y="5143680"/>
              <a:ext cx="0" cy="68580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10" name="Straight Connector 9"/>
            <p:cNvSpPr/>
            <p:nvPr/>
          </p:nvSpPr>
          <p:spPr>
            <a:xfrm flipH="1">
              <a:off x="12010680" y="5829120"/>
              <a:ext cx="685800" cy="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2286000" y="6800000"/>
            <a:ext cx="1371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58591"/>
                </a:solidFill>
                <a:latin typeface="Arial"/>
              </a:rPr>
              <a:t>Christian Gutiérrez Gutiérrez  ·  Alvaro Gutiérrez Burbano</a:t>
            </a:r>
          </a:p>
          <a:p>
            <a:pPr algn="ctr"/>
            <a:r>
              <a:rPr sz="1300" b="0">
                <a:solidFill>
                  <a:srgbClr val="C0C0C8"/>
                </a:solidFill>
                <a:latin typeface="Arial"/>
              </a:rPr>
              <a:t>github.com/marzo27/UNIR_TFM_HAM10000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15073</TotalTime>
  <Words>2379</Words>
  <Application>Microsoft Office PowerPoint</Application>
  <PresentationFormat>Personalizado</PresentationFormat>
  <Paragraphs>315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Franklin Gothic Book</vt:lpstr>
      <vt:lpstr>Franklin Gothic Medium</vt:lpstr>
      <vt:lpstr>Times New Roman</vt:lpstr>
      <vt:lpstr>Office</vt:lpstr>
      <vt:lpstr>Presentación de PowerPoint</vt:lpstr>
      <vt:lpstr>Presentación de PowerPoint</vt:lpstr>
      <vt:lpstr>Introducción · 01 Motivación</vt:lpstr>
      <vt:lpstr>Introducción · 02 Planteamiento del trabajo</vt:lpstr>
      <vt:lpstr>Contexto · 03 HAM10000</vt:lpstr>
      <vt:lpstr>Contexto · 04 Estado del arte</vt:lpstr>
      <vt:lpstr>Objetivos · 05 Objetivos del TFM</vt:lpstr>
      <vt:lpstr>Metodología · 06 CRISP-DM adaptado a imágenes médicas</vt:lpstr>
      <vt:lpstr>Marco normativo · 07 Marco legal y ético</vt:lpstr>
      <vt:lpstr>Datos · 08 El desbalance de clases</vt:lpstr>
      <vt:lpstr>Datos · 09 Dos escenarios de datos</vt:lpstr>
      <vt:lpstr>Modelado · 10 SVM: pipeline tradicional</vt:lpstr>
      <vt:lpstr>Resultados · 11 SVM</vt:lpstr>
      <vt:lpstr>Modelado · 12 DenseNet201: doble cabeza</vt:lpstr>
      <vt:lpstr>Resultados · 13 DenseNet201</vt:lpstr>
      <vt:lpstr>Resultados · 14 Comparativa</vt:lpstr>
      <vt:lpstr>Conclusiones · 15 Conclusiones</vt:lpstr>
      <vt:lpstr>Limitaciones · 16 Limitaciones del estudio</vt:lpstr>
      <vt:lpstr>Trabajo futuro · 17 Líneas de trabajo futuro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Gutierrez Burbano, Alvaro Marcelo</cp:lastModifiedBy>
  <cp:revision>1292</cp:revision>
  <dcterms:created xsi:type="dcterms:W3CDTF">2015-01-20T06:47:48Z</dcterms:created>
  <dcterms:modified xsi:type="dcterms:W3CDTF">2026-07-16T18:56:24Z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0x010100A3E1C0FC74B3174194FF149F9456036A</vt:lpwstr>
  </property>
</Properties>
</file>